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4.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 id="2147483661" r:id="rId3"/>
    <p:sldMasterId id="2147483662" r:id="rId4"/>
    <p:sldMasterId id="2147483663" r:id="rId5"/>
  </p:sldMasterIdLst>
  <p:notesMasterIdLst>
    <p:notesMasterId r:id="rId39"/>
  </p:notesMasterIdLst>
  <p:sldIdLst>
    <p:sldId id="256" r:id="rId6"/>
    <p:sldId id="257" r:id="rId7"/>
    <p:sldId id="258" r:id="rId8"/>
    <p:sldId id="259" r:id="rId9"/>
    <p:sldId id="261" r:id="rId10"/>
    <p:sldId id="260" r:id="rId11"/>
    <p:sldId id="262" r:id="rId12"/>
    <p:sldId id="263" r:id="rId13"/>
    <p:sldId id="264" r:id="rId14"/>
    <p:sldId id="265" r:id="rId15"/>
    <p:sldId id="266" r:id="rId16"/>
    <p:sldId id="267" r:id="rId17"/>
    <p:sldId id="268" r:id="rId18"/>
    <p:sldId id="270" r:id="rId19"/>
    <p:sldId id="294" r:id="rId20"/>
    <p:sldId id="273" r:id="rId21"/>
    <p:sldId id="274" r:id="rId22"/>
    <p:sldId id="275" r:id="rId23"/>
    <p:sldId id="288" r:id="rId24"/>
    <p:sldId id="285" r:id="rId25"/>
    <p:sldId id="279" r:id="rId26"/>
    <p:sldId id="280" r:id="rId27"/>
    <p:sldId id="276" r:id="rId28"/>
    <p:sldId id="282" r:id="rId29"/>
    <p:sldId id="287" r:id="rId30"/>
    <p:sldId id="293" r:id="rId31"/>
    <p:sldId id="289" r:id="rId32"/>
    <p:sldId id="278" r:id="rId33"/>
    <p:sldId id="290" r:id="rId34"/>
    <p:sldId id="291" r:id="rId35"/>
    <p:sldId id="292" r:id="rId36"/>
    <p:sldId id="283" r:id="rId37"/>
    <p:sldId id="284" r:id="rId38"/>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既定のセクション" id="{82889D68-492C-45E9-B5D8-21F282B127AD}">
          <p14:sldIdLst>
            <p14:sldId id="256"/>
            <p14:sldId id="257"/>
            <p14:sldId id="258"/>
            <p14:sldId id="259"/>
            <p14:sldId id="261"/>
            <p14:sldId id="260"/>
            <p14:sldId id="262"/>
            <p14:sldId id="263"/>
            <p14:sldId id="264"/>
            <p14:sldId id="265"/>
            <p14:sldId id="266"/>
            <p14:sldId id="267"/>
            <p14:sldId id="268"/>
            <p14:sldId id="270"/>
            <p14:sldId id="294"/>
          </p14:sldIdLst>
        </p14:section>
        <p14:section name="タイトルなしのセクション" id="{B47305E1-D848-4038-B933-D9E01713979B}">
          <p14:sldIdLst>
            <p14:sldId id="273"/>
            <p14:sldId id="274"/>
            <p14:sldId id="275"/>
            <p14:sldId id="288"/>
            <p14:sldId id="285"/>
            <p14:sldId id="279"/>
            <p14:sldId id="280"/>
            <p14:sldId id="276"/>
            <p14:sldId id="282"/>
            <p14:sldId id="287"/>
            <p14:sldId id="293"/>
            <p14:sldId id="289"/>
            <p14:sldId id="278"/>
            <p14:sldId id="290"/>
            <p14:sldId id="291"/>
            <p14:sldId id="292"/>
            <p14:sldId id="283"/>
            <p14:sldId id="284"/>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3760"/>
    <a:srgbClr val="D6DCE5"/>
    <a:srgbClr val="CCCE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FD0F851-EC5A-4D38-B0AD-8093EC10F338}" styleName="淡色スタイル 1 - アクセント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3357" autoAdjust="0"/>
  </p:normalViewPr>
  <p:slideViewPr>
    <p:cSldViewPr snapToGrid="0">
      <p:cViewPr varScale="1">
        <p:scale>
          <a:sx n="72" d="100"/>
          <a:sy n="72" d="100"/>
        </p:scale>
        <p:origin x="2034" y="54"/>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29.09.2026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r>
              <a:rPr lang="zh-CN" altLang="ja-JP" sz="1200" b="0" i="0" u="none" strike="noStrike" kern="1200" dirty="0">
                <a:solidFill>
                  <a:srgbClr val="000000">
                    <a:alpha val="100000"/>
                  </a:srgbClr>
                </a:solidFill>
                <a:effectLst/>
                <a:latin typeface="等线"/>
                <a:ea typeface="+mn-ea"/>
                <a:cs typeface="+mn-cs"/>
              </a:rPr>
              <a:t>各位老师好，我是董秀丽，我的题目是《基于多模型弱监督学习的低成本火烟检测研究》。</a:t>
            </a:r>
            <a:endParaRPr lang="ja-JP" altLang="ja-JP" sz="1200" b="0" i="0" u="none" strike="noStrike" kern="1200" dirty="0">
              <a:solidFill>
                <a:srgbClr val="000000">
                  <a:alpha val="100000"/>
                </a:srgbClr>
              </a:solidFill>
              <a:effectLst/>
              <a:latin typeface="等线"/>
              <a:ea typeface="+mn-ea"/>
              <a:cs typeface="+mn-cs"/>
            </a:endParaRPr>
          </a:p>
          <a:p>
            <a:r>
              <a:rPr lang="en-US" altLang="ja-JP" sz="1200" b="0" i="0" u="none" strike="noStrike" kern="1200" dirty="0">
                <a:solidFill>
                  <a:srgbClr val="000000">
                    <a:alpha val="100000"/>
                  </a:srgbClr>
                </a:solidFill>
                <a:effectLst/>
                <a:latin typeface="等线"/>
                <a:ea typeface="+mn-ea"/>
                <a:cs typeface="+mn-cs"/>
              </a:rPr>
              <a:t> </a:t>
            </a:r>
            <a:r>
              <a:rPr lang="zh-CN" altLang="ja-JP" sz="1200" b="0" i="0" u="none" strike="noStrike" kern="1200" dirty="0">
                <a:solidFill>
                  <a:srgbClr val="000000">
                    <a:alpha val="100000"/>
                  </a:srgbClr>
                </a:solidFill>
                <a:effectLst/>
                <a:latin typeface="等线"/>
                <a:ea typeface="+mn-ea"/>
                <a:cs typeface="+mn-cs"/>
              </a:rPr>
              <a:t>我的研究重点不是去设计一个新的检测网络，而是关注火烟检测训练中一个更前置、也更工程化的问题：怎样以更低的人工成本，稳定地得到真正可用于训练的高质量伪标签。</a:t>
            </a:r>
            <a:endParaRPr lang="en-US" sz="12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0" i="0" u="none" strike="noStrike" kern="1200" dirty="0">
                <a:solidFill>
                  <a:srgbClr val="000000">
                    <a:alpha val="100000"/>
                  </a:srgbClr>
                </a:solidFill>
                <a:effectLst/>
                <a:latin typeface="等线"/>
                <a:ea typeface="+mn-ea"/>
                <a:cs typeface="+mn-cs"/>
              </a:rPr>
              <a:t>整个汇报分为</a:t>
            </a:r>
            <a:r>
              <a:rPr lang="zh-CN" altLang="en-US" sz="1200" b="0" i="0" u="none" strike="noStrike" kern="1200" dirty="0">
                <a:solidFill>
                  <a:srgbClr val="000000">
                    <a:alpha val="100000"/>
                  </a:srgbClr>
                </a:solidFill>
                <a:effectLst/>
                <a:latin typeface="等线"/>
                <a:ea typeface="+mn-ea"/>
                <a:cs typeface="+mn-cs"/>
              </a:rPr>
              <a:t>以下几个部分</a:t>
            </a:r>
            <a:endParaRPr lang="en-US" altLang="zh-CN" sz="1200" b="0" i="0" u="none" strike="noStrike" kern="1200" dirty="0">
              <a:solidFill>
                <a:srgbClr val="000000">
                  <a:alpha val="100000"/>
                </a:srgbClr>
              </a:solidFill>
              <a:effectLst/>
              <a:latin typeface="等线"/>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defTabSz="914400">
              <a:lnSpc>
                <a:spcPct val="100000"/>
              </a:lnSpc>
              <a:defRPr sz="1400" b="0" i="0" u="none" strike="noStrike">
                <a:solidFill>
                  <a:srgbClr val="000000">
                    <a:alpha val="100000"/>
                  </a:srgbClr>
                </a:solidFill>
                <a:latin typeface="Songti SC"/>
              </a:defRPr>
            </a:lvl1pPr>
          </a:lstStyle>
          <a:p>
            <a:r>
              <a:rPr lang="zh-CN" altLang="ja-JP" sz="1400" b="0" i="0" u="none" strike="noStrike" kern="1200" dirty="0">
                <a:solidFill>
                  <a:srgbClr val="000000">
                    <a:alpha val="100000"/>
                  </a:srgbClr>
                </a:solidFill>
                <a:effectLst/>
                <a:latin typeface="Songti SC"/>
                <a:ea typeface="+mn-ea"/>
                <a:cs typeface="+mn-cs"/>
              </a:rPr>
              <a:t>研究的出发点来自实际项目中的一个直接痛点。之前和高老师完成无人机森林火灾巡检项目的视觉算法时发现，现在目标检测模型本身已经比较成熟，火情发现越早，预警价值越高，因此对视觉检测的实时性和准确性要求都很高。但它们普遍依赖大量高质量的逐框人工标注。</a:t>
            </a:r>
            <a:endParaRPr lang="ja-JP" altLang="ja-JP" sz="1400" b="0" i="0" u="none" strike="noStrike" kern="1200" dirty="0">
              <a:solidFill>
                <a:srgbClr val="000000">
                  <a:alpha val="100000"/>
                </a:srgbClr>
              </a:solidFill>
              <a:effectLst/>
              <a:latin typeface="Songti SC"/>
              <a:ea typeface="+mn-ea"/>
              <a:cs typeface="+mn-cs"/>
            </a:endParaRPr>
          </a:p>
          <a:p>
            <a:r>
              <a:rPr lang="en-US" altLang="ja-JP" sz="1400" b="0" i="0" u="none" strike="noStrike" kern="1200" dirty="0">
                <a:solidFill>
                  <a:srgbClr val="000000">
                    <a:alpha val="100000"/>
                  </a:srgbClr>
                </a:solidFill>
                <a:effectLst/>
                <a:latin typeface="Songti SC"/>
                <a:ea typeface="+mn-ea"/>
                <a:cs typeface="+mn-cs"/>
              </a:rPr>
              <a:t> </a:t>
            </a:r>
            <a:endParaRPr lang="ja-JP" altLang="ja-JP" sz="1400" b="0" i="0" u="none" strike="noStrike" kern="1200" dirty="0">
              <a:solidFill>
                <a:srgbClr val="000000">
                  <a:alpha val="100000"/>
                </a:srgbClr>
              </a:solidFill>
              <a:effectLst/>
              <a:latin typeface="Songti SC"/>
              <a:ea typeface="+mn-ea"/>
              <a:cs typeface="+mn-cs"/>
            </a:endParaRPr>
          </a:p>
          <a:p>
            <a:r>
              <a:rPr lang="zh-CN" altLang="ja-JP" sz="1400" b="0" i="0" u="none" strike="noStrike" kern="1200" dirty="0">
                <a:solidFill>
                  <a:srgbClr val="000000">
                    <a:alpha val="100000"/>
                  </a:srgbClr>
                </a:solidFill>
                <a:effectLst/>
                <a:latin typeface="Songti SC"/>
                <a:ea typeface="+mn-ea"/>
                <a:cs typeface="+mn-cs"/>
              </a:rPr>
              <a:t>火焰和烟雾又区别于规则、刚性的目标。它们形态变化快、边界弥散，不同时期尺度变化也很大，不同标注人员对“框到哪里，是否该舍弃”很容易产生主观差异。所以人工标注不仅成本高、周期长，而且一致性也未必稳定。</a:t>
            </a:r>
            <a:endParaRPr lang="ja-JP" altLang="ja-JP" sz="1400" b="0" i="0" u="none" strike="noStrike" kern="1200" dirty="0">
              <a:solidFill>
                <a:srgbClr val="000000">
                  <a:alpha val="100000"/>
                </a:srgbClr>
              </a:solidFill>
              <a:effectLst/>
              <a:latin typeface="Songti SC"/>
              <a:ea typeface="+mn-ea"/>
              <a:cs typeface="+mn-cs"/>
            </a:endParaRPr>
          </a:p>
          <a:p>
            <a:r>
              <a:rPr lang="en-US" altLang="ja-JP" sz="1400" b="0" i="0" u="none" strike="noStrike" kern="1200" dirty="0">
                <a:solidFill>
                  <a:srgbClr val="000000">
                    <a:alpha val="100000"/>
                  </a:srgbClr>
                </a:solidFill>
                <a:effectLst/>
                <a:latin typeface="Songti SC"/>
                <a:ea typeface="+mn-ea"/>
                <a:cs typeface="+mn-cs"/>
              </a:rPr>
              <a:t> </a:t>
            </a:r>
            <a:endParaRPr lang="ja-JP" altLang="ja-JP" sz="1400" b="0" i="0" u="none" strike="noStrike" kern="1200" dirty="0">
              <a:solidFill>
                <a:srgbClr val="000000">
                  <a:alpha val="100000"/>
                </a:srgbClr>
              </a:solidFill>
              <a:effectLst/>
              <a:latin typeface="Songti SC"/>
              <a:ea typeface="+mn-ea"/>
              <a:cs typeface="+mn-cs"/>
            </a:endParaRPr>
          </a:p>
          <a:p>
            <a:r>
              <a:rPr lang="en-US" altLang="ja-JP" sz="1400" b="0" i="0" u="none" strike="noStrike" kern="1200" dirty="0">
                <a:solidFill>
                  <a:srgbClr val="000000">
                    <a:alpha val="100000"/>
                  </a:srgbClr>
                </a:solidFill>
                <a:effectLst/>
                <a:latin typeface="Songti SC"/>
                <a:ea typeface="+mn-ea"/>
                <a:cs typeface="+mn-cs"/>
              </a:rPr>
              <a:t>Grounding DINO</a:t>
            </a:r>
            <a:r>
              <a:rPr lang="zh-CN" altLang="ja-JP" sz="1400" b="0" i="0" u="none" strike="noStrike" kern="1200" dirty="0">
                <a:solidFill>
                  <a:srgbClr val="000000">
                    <a:alpha val="100000"/>
                  </a:srgbClr>
                </a:solidFill>
                <a:effectLst/>
                <a:latin typeface="Songti SC"/>
                <a:ea typeface="+mn-ea"/>
                <a:cs typeface="+mn-cs"/>
              </a:rPr>
              <a:t>、</a:t>
            </a:r>
            <a:r>
              <a:rPr lang="en-US" altLang="ja-JP" sz="1400" b="0" i="0" u="none" strike="noStrike" kern="1200" dirty="0">
                <a:solidFill>
                  <a:srgbClr val="000000">
                    <a:alpha val="100000"/>
                  </a:srgbClr>
                </a:solidFill>
                <a:effectLst/>
                <a:latin typeface="Songti SC"/>
                <a:ea typeface="+mn-ea"/>
                <a:cs typeface="+mn-cs"/>
              </a:rPr>
              <a:t>SAM</a:t>
            </a:r>
            <a:r>
              <a:rPr lang="zh-CN" altLang="ja-JP" sz="1400" b="0" i="0" u="none" strike="noStrike" kern="1200" dirty="0">
                <a:solidFill>
                  <a:srgbClr val="000000">
                    <a:alpha val="100000"/>
                  </a:srgbClr>
                </a:solidFill>
                <a:effectLst/>
                <a:latin typeface="Songti SC"/>
                <a:ea typeface="+mn-ea"/>
                <a:cs typeface="+mn-cs"/>
              </a:rPr>
              <a:t>这类视觉大模型提供了新的机会：它们具备零样本定位和通用分割能力，理论上可以承担一部分自动标注工作。但我的问题不是简单地“用大模型替代人工”，而是研究怎样把大模型输出变成稳定、可复现、真正对下游</a:t>
            </a:r>
            <a:r>
              <a:rPr lang="en-US" altLang="ja-JP" sz="1400" b="0" i="0" u="none" strike="noStrike" kern="1200" dirty="0">
                <a:solidFill>
                  <a:srgbClr val="000000">
                    <a:alpha val="100000"/>
                  </a:srgbClr>
                </a:solidFill>
                <a:effectLst/>
                <a:latin typeface="Songti SC"/>
                <a:ea typeface="+mn-ea"/>
                <a:cs typeface="+mn-cs"/>
              </a:rPr>
              <a:t>YOLO</a:t>
            </a:r>
            <a:r>
              <a:rPr lang="zh-CN" altLang="ja-JP" sz="1400" b="0" i="0" u="none" strike="noStrike" kern="1200" dirty="0">
                <a:solidFill>
                  <a:srgbClr val="000000">
                    <a:alpha val="100000"/>
                  </a:srgbClr>
                </a:solidFill>
                <a:effectLst/>
                <a:latin typeface="Songti SC"/>
                <a:ea typeface="+mn-ea"/>
                <a:cs typeface="+mn-cs"/>
              </a:rPr>
              <a:t>训练有用的伪标签生成流程。</a:t>
            </a:r>
            <a:endParaRPr lang="en-US" sz="1400" b="0" i="0" u="none" strike="noStrike" dirty="0">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defTabSz="914400">
              <a:lnSpc>
                <a:spcPct val="100000"/>
              </a:lnSpc>
              <a:defRPr sz="1400" b="0" i="0" u="none" strike="noStrike">
                <a:solidFill>
                  <a:srgbClr val="000000">
                    <a:alpha val="100000"/>
                  </a:srgbClr>
                </a:solidFill>
                <a:latin typeface="Songti SC"/>
              </a:defRPr>
            </a:lvl1pPr>
          </a:lstStyle>
          <a:p>
            <a:r>
              <a:rPr lang="zh-CN" altLang="en-US" sz="1400" b="0" i="0" u="none" strike="noStrike" kern="1200" dirty="0">
                <a:solidFill>
                  <a:srgbClr val="000000">
                    <a:alpha val="100000"/>
                  </a:srgbClr>
                </a:solidFill>
                <a:effectLst/>
                <a:latin typeface="Songti SC"/>
                <a:ea typeface="+mn-ea"/>
                <a:cs typeface="+mn-cs"/>
              </a:rPr>
              <a:t>基于</a:t>
            </a:r>
            <a:r>
              <a:rPr lang="zh-CN" altLang="ja-JP" sz="1400" b="0" i="0" u="none" strike="noStrike" kern="1200" dirty="0">
                <a:solidFill>
                  <a:srgbClr val="000000">
                    <a:alpha val="100000"/>
                  </a:srgbClr>
                </a:solidFill>
                <a:effectLst/>
                <a:latin typeface="Songti SC"/>
                <a:ea typeface="+mn-ea"/>
                <a:cs typeface="+mn-cs"/>
              </a:rPr>
              <a:t>前面所提到这些问题，本研究的总体目标，是在尽量减少全量人工逐框标注依赖的同时，构建一套兼顾标签质量、下游检测效果和生成成本的火烟伪标签生成与选型流程。</a:t>
            </a:r>
            <a:endParaRPr lang="ja-JP" altLang="ja-JP" sz="1400" b="0" i="0" u="none" strike="noStrike" kern="1200" dirty="0">
              <a:solidFill>
                <a:srgbClr val="000000">
                  <a:alpha val="100000"/>
                </a:srgbClr>
              </a:solidFill>
              <a:effectLst/>
              <a:latin typeface="Songti SC"/>
              <a:ea typeface="+mn-ea"/>
              <a:cs typeface="+mn-cs"/>
            </a:endParaRPr>
          </a:p>
          <a:p>
            <a:r>
              <a:rPr lang="en-US" altLang="ja-JP" sz="1400" b="0" i="0" u="none" strike="noStrike" kern="1200" dirty="0">
                <a:solidFill>
                  <a:srgbClr val="000000">
                    <a:alpha val="100000"/>
                  </a:srgbClr>
                </a:solidFill>
                <a:effectLst/>
                <a:latin typeface="Songti SC"/>
                <a:ea typeface="+mn-ea"/>
                <a:cs typeface="+mn-cs"/>
              </a:rPr>
              <a:t> </a:t>
            </a:r>
            <a:endParaRPr lang="ja-JP" altLang="ja-JP" sz="1400" b="0" i="0" u="none" strike="noStrike" kern="1200" dirty="0">
              <a:solidFill>
                <a:srgbClr val="000000">
                  <a:alpha val="100000"/>
                </a:srgbClr>
              </a:solidFill>
              <a:effectLst/>
              <a:latin typeface="Songti SC"/>
              <a:ea typeface="+mn-ea"/>
              <a:cs typeface="+mn-cs"/>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defTabSz="914400">
              <a:lnSpc>
                <a:spcPct val="100000"/>
              </a:lnSpc>
              <a:defRPr sz="1400" b="0" i="0" u="none" strike="noStrike">
                <a:solidFill>
                  <a:srgbClr val="000000">
                    <a:alpha val="100000"/>
                  </a:srgbClr>
                </a:solidFill>
                <a:latin typeface="Songti SC"/>
              </a:defRPr>
            </a:lvl1pPr>
          </a:lstStyle>
          <a:p>
            <a:r>
              <a:rPr lang="zh-CN" altLang="ja-JP" sz="1400" b="0" i="0" u="none" strike="noStrike" kern="1200" dirty="0">
                <a:solidFill>
                  <a:srgbClr val="000000">
                    <a:alpha val="100000"/>
                  </a:srgbClr>
                </a:solidFill>
                <a:effectLst/>
                <a:latin typeface="Songti SC"/>
                <a:ea typeface="+mn-ea"/>
                <a:cs typeface="+mn-cs"/>
              </a:rPr>
              <a:t>针对这个目标，我把研究问题归纳为三个：</a:t>
            </a:r>
            <a:endParaRPr lang="ja-JP" altLang="ja-JP" sz="1400" b="0" i="0" u="none" strike="noStrike" kern="1200" dirty="0">
              <a:solidFill>
                <a:srgbClr val="000000">
                  <a:alpha val="100000"/>
                </a:srgbClr>
              </a:solidFill>
              <a:effectLst/>
              <a:latin typeface="Songti SC"/>
              <a:ea typeface="+mn-ea"/>
              <a:cs typeface="+mn-cs"/>
            </a:endParaRPr>
          </a:p>
          <a:p>
            <a:r>
              <a:rPr lang="zh-CN" altLang="en-US" sz="1400" b="1" i="0" u="none" strike="noStrike" kern="1200" dirty="0">
                <a:solidFill>
                  <a:srgbClr val="000000">
                    <a:alpha val="100000"/>
                  </a:srgbClr>
                </a:solidFill>
                <a:effectLst/>
                <a:latin typeface="Songti SC"/>
                <a:ea typeface="+mn-ea"/>
                <a:cs typeface="+mn-cs"/>
              </a:rPr>
              <a:t>第一，</a:t>
            </a:r>
            <a:r>
              <a:rPr lang="en-US" altLang="zh-CN" sz="1400" b="1" i="0" u="none" strike="noStrike" kern="1200" dirty="0">
                <a:solidFill>
                  <a:srgbClr val="000000">
                    <a:alpha val="100000"/>
                  </a:srgbClr>
                </a:solidFill>
                <a:effectLst/>
                <a:latin typeface="Songti SC"/>
                <a:ea typeface="+mn-ea"/>
                <a:cs typeface="+mn-cs"/>
              </a:rPr>
              <a:t>Grounding DINO</a:t>
            </a:r>
            <a:r>
              <a:rPr lang="zh-CN" altLang="en-US" sz="1400" b="1" i="0" u="none" strike="noStrike" kern="1200" dirty="0">
                <a:solidFill>
                  <a:srgbClr val="000000">
                    <a:alpha val="100000"/>
                  </a:srgbClr>
                </a:solidFill>
                <a:effectLst/>
                <a:latin typeface="Songti SC"/>
                <a:ea typeface="+mn-ea"/>
                <a:cs typeface="+mn-cs"/>
              </a:rPr>
              <a:t>怎样稳定生成可用的</a:t>
            </a:r>
            <a:r>
              <a:rPr lang="en-US" altLang="zh-CN" sz="1400" b="1" i="0" u="none" strike="noStrike" kern="1200" dirty="0">
                <a:solidFill>
                  <a:srgbClr val="000000">
                    <a:alpha val="100000"/>
                  </a:srgbClr>
                </a:solidFill>
                <a:effectLst/>
                <a:latin typeface="Songti SC"/>
                <a:ea typeface="+mn-ea"/>
                <a:cs typeface="+mn-cs"/>
              </a:rPr>
              <a:t>V1</a:t>
            </a:r>
            <a:r>
              <a:rPr lang="zh-CN" altLang="en-US" sz="1400" b="1" i="0" u="none" strike="noStrike" kern="1200" dirty="0">
                <a:solidFill>
                  <a:srgbClr val="000000">
                    <a:alpha val="100000"/>
                  </a:srgbClr>
                </a:solidFill>
                <a:effectLst/>
                <a:latin typeface="Songti SC"/>
                <a:ea typeface="+mn-ea"/>
                <a:cs typeface="+mn-cs"/>
              </a:rPr>
              <a:t>伪标签？</a:t>
            </a:r>
            <a:r>
              <a:rPr lang="zh-CN" altLang="en-US" sz="1400" b="0" i="0" u="none" strike="noStrike" kern="1200" dirty="0">
                <a:solidFill>
                  <a:srgbClr val="000000">
                    <a:alpha val="100000"/>
                  </a:srgbClr>
                </a:solidFill>
                <a:effectLst/>
                <a:latin typeface="Songti SC"/>
                <a:ea typeface="+mn-ea"/>
                <a:cs typeface="+mn-cs"/>
              </a:rPr>
              <a:t> 其输出高度受提示词和阈值影响，需要找到最优提示词以形成可冻结、可复验的参数选择方法。</a:t>
            </a:r>
            <a:endParaRPr lang="en-US" altLang="zh-CN" sz="1400" b="0" i="0" u="none" strike="noStrike" kern="1200" dirty="0">
              <a:solidFill>
                <a:srgbClr val="000000">
                  <a:alpha val="100000"/>
                </a:srgbClr>
              </a:solidFill>
              <a:effectLst/>
              <a:latin typeface="Songti SC"/>
              <a:ea typeface="+mn-ea"/>
              <a:cs typeface="+mn-cs"/>
            </a:endParaRPr>
          </a:p>
          <a:p>
            <a:r>
              <a:rPr lang="zh-CN" altLang="en-US" sz="1400" b="1" i="0" u="none" strike="noStrike" kern="1200" dirty="0">
                <a:solidFill>
                  <a:srgbClr val="000000">
                    <a:alpha val="100000"/>
                  </a:srgbClr>
                </a:solidFill>
                <a:effectLst/>
                <a:latin typeface="Songti SC"/>
                <a:ea typeface="+mn-ea"/>
                <a:cs typeface="+mn-cs"/>
              </a:rPr>
              <a:t>第二，后置大模型</a:t>
            </a:r>
            <a:r>
              <a:rPr lang="en-US" altLang="zh-CN" sz="1400" b="1" i="0" u="none" strike="noStrike" kern="1200" dirty="0">
                <a:solidFill>
                  <a:srgbClr val="000000">
                    <a:alpha val="100000"/>
                  </a:srgbClr>
                </a:solidFill>
                <a:effectLst/>
                <a:latin typeface="Songti SC"/>
                <a:ea typeface="+mn-ea"/>
                <a:cs typeface="+mn-cs"/>
              </a:rPr>
              <a:t>SAM3</a:t>
            </a:r>
            <a:r>
              <a:rPr lang="zh-CN" altLang="en-US" sz="1400" b="1" i="0" u="none" strike="noStrike" kern="1200" dirty="0">
                <a:solidFill>
                  <a:srgbClr val="000000">
                    <a:alpha val="100000"/>
                  </a:srgbClr>
                </a:solidFill>
                <a:effectLst/>
                <a:latin typeface="Songti SC"/>
                <a:ea typeface="+mn-ea"/>
                <a:cs typeface="+mn-cs"/>
              </a:rPr>
              <a:t>的权限边界在哪里？</a:t>
            </a:r>
            <a:r>
              <a:rPr lang="zh-CN" altLang="en-US" sz="1400" b="0" i="0" u="none" strike="noStrike" kern="1200" dirty="0">
                <a:solidFill>
                  <a:srgbClr val="000000">
                    <a:alpha val="100000"/>
                  </a:srgbClr>
                </a:solidFill>
                <a:effectLst/>
                <a:latin typeface="Songti SC"/>
                <a:ea typeface="+mn-ea"/>
                <a:cs typeface="+mn-cs"/>
              </a:rPr>
              <a:t> 更精细的分割边界并不等于更好的检测框。如果让后置模型随意改框，反而可能造成负向修改。因此我把</a:t>
            </a:r>
            <a:r>
              <a:rPr lang="en-US" altLang="zh-CN" sz="1400" b="0" i="0" u="none" strike="noStrike" kern="1200" dirty="0">
                <a:solidFill>
                  <a:srgbClr val="000000">
                    <a:alpha val="100000"/>
                  </a:srgbClr>
                </a:solidFill>
                <a:effectLst/>
                <a:latin typeface="Songti SC"/>
                <a:ea typeface="+mn-ea"/>
                <a:cs typeface="+mn-cs"/>
              </a:rPr>
              <a:t>SAM3</a:t>
            </a:r>
            <a:r>
              <a:rPr lang="zh-CN" altLang="en-US" sz="1400" b="0" i="0" u="none" strike="noStrike" kern="1200" dirty="0">
                <a:solidFill>
                  <a:srgbClr val="000000">
                    <a:alpha val="100000"/>
                  </a:srgbClr>
                </a:solidFill>
                <a:effectLst/>
                <a:latin typeface="Songti SC"/>
                <a:ea typeface="+mn-ea"/>
                <a:cs typeface="+mn-cs"/>
              </a:rPr>
              <a:t>拆成</a:t>
            </a:r>
            <a:r>
              <a:rPr lang="en-US" altLang="zh-CN" sz="1400" b="0" i="0" u="none" strike="noStrike" kern="1200" dirty="0">
                <a:solidFill>
                  <a:srgbClr val="000000">
                    <a:alpha val="100000"/>
                  </a:srgbClr>
                </a:solidFill>
                <a:effectLst/>
                <a:latin typeface="Songti SC"/>
                <a:ea typeface="+mn-ea"/>
                <a:cs typeface="+mn-cs"/>
              </a:rPr>
              <a:t>Verifier</a:t>
            </a:r>
            <a:r>
              <a:rPr lang="zh-CN" altLang="en-US" sz="1400" b="0" i="0" u="none" strike="noStrike" kern="1200" dirty="0">
                <a:solidFill>
                  <a:srgbClr val="000000">
                    <a:alpha val="100000"/>
                  </a:srgbClr>
                </a:solidFill>
                <a:effectLst/>
                <a:latin typeface="Songti SC"/>
                <a:ea typeface="+mn-ea"/>
                <a:cs typeface="+mn-cs"/>
              </a:rPr>
              <a:t>审核、</a:t>
            </a:r>
            <a:r>
              <a:rPr lang="en-US" altLang="zh-CN" sz="1400" b="0" i="0" u="none" strike="noStrike" kern="1200" dirty="0">
                <a:solidFill>
                  <a:srgbClr val="000000">
                    <a:alpha val="100000"/>
                  </a:srgbClr>
                </a:solidFill>
                <a:effectLst/>
                <a:latin typeface="Songti SC"/>
                <a:ea typeface="+mn-ea"/>
                <a:cs typeface="+mn-cs"/>
              </a:rPr>
              <a:t>Append</a:t>
            </a:r>
            <a:r>
              <a:rPr lang="zh-CN" altLang="en-US" sz="1400" b="0" i="0" u="none" strike="noStrike" kern="1200" dirty="0">
                <a:solidFill>
                  <a:srgbClr val="000000">
                    <a:alpha val="100000"/>
                  </a:srgbClr>
                </a:solidFill>
                <a:effectLst/>
                <a:latin typeface="Songti SC"/>
                <a:ea typeface="+mn-ea"/>
                <a:cs typeface="+mn-cs"/>
              </a:rPr>
              <a:t>补漏和</a:t>
            </a:r>
            <a:r>
              <a:rPr lang="en-US" altLang="zh-CN" sz="1400" b="0" i="0" u="none" strike="noStrike" kern="1200" dirty="0">
                <a:solidFill>
                  <a:srgbClr val="000000">
                    <a:alpha val="100000"/>
                  </a:srgbClr>
                </a:solidFill>
                <a:effectLst/>
                <a:latin typeface="Songti SC"/>
                <a:ea typeface="+mn-ea"/>
                <a:cs typeface="+mn-cs"/>
              </a:rPr>
              <a:t>Refiner</a:t>
            </a:r>
            <a:r>
              <a:rPr lang="zh-CN" altLang="en-US" sz="1400" b="0" i="0" u="none" strike="noStrike" kern="1200" dirty="0">
                <a:solidFill>
                  <a:srgbClr val="000000">
                    <a:alpha val="100000"/>
                  </a:srgbClr>
                </a:solidFill>
                <a:effectLst/>
                <a:latin typeface="Songti SC"/>
                <a:ea typeface="+mn-ea"/>
                <a:cs typeface="+mn-cs"/>
              </a:rPr>
              <a:t>调框三个角色，并设定权限边界。</a:t>
            </a:r>
            <a:endParaRPr lang="en-US" altLang="zh-CN" sz="1400" b="0" i="0" u="none" strike="noStrike" kern="1200" dirty="0">
              <a:solidFill>
                <a:srgbClr val="000000">
                  <a:alpha val="100000"/>
                </a:srgbClr>
              </a:solidFill>
              <a:effectLst/>
              <a:latin typeface="Songti SC"/>
              <a:ea typeface="+mn-ea"/>
              <a:cs typeface="+mn-cs"/>
            </a:endParaRPr>
          </a:p>
          <a:p>
            <a:r>
              <a:rPr lang="zh-CN" altLang="en-US" sz="1400" b="1" i="0" u="none" strike="noStrike" kern="1200" dirty="0">
                <a:solidFill>
                  <a:srgbClr val="000000">
                    <a:alpha val="100000"/>
                  </a:srgbClr>
                </a:solidFill>
                <a:effectLst/>
                <a:latin typeface="Songti SC"/>
                <a:ea typeface="+mn-ea"/>
                <a:cs typeface="+mn-cs"/>
              </a:rPr>
              <a:t>第三，如何进行多维度的成本收益选型？</a:t>
            </a:r>
            <a:r>
              <a:rPr lang="zh-CN" altLang="en-US" sz="1400" b="0" i="0" u="none" strike="noStrike" kern="1200" dirty="0">
                <a:solidFill>
                  <a:srgbClr val="000000">
                    <a:alpha val="100000"/>
                  </a:srgbClr>
                </a:solidFill>
                <a:effectLst/>
                <a:latin typeface="Songti SC"/>
                <a:ea typeface="+mn-ea"/>
                <a:cs typeface="+mn-cs"/>
              </a:rPr>
              <a:t> 当数据从</a:t>
            </a:r>
            <a:r>
              <a:rPr lang="en-US" altLang="zh-CN" sz="1400" b="0" i="0" u="none" strike="noStrike" kern="1200" dirty="0">
                <a:solidFill>
                  <a:srgbClr val="000000">
                    <a:alpha val="100000"/>
                  </a:srgbClr>
                </a:solidFill>
                <a:effectLst/>
                <a:latin typeface="Songti SC"/>
                <a:ea typeface="+mn-ea"/>
                <a:cs typeface="+mn-cs"/>
              </a:rPr>
              <a:t>1</a:t>
            </a:r>
            <a:r>
              <a:rPr lang="zh-CN" altLang="en-US" sz="1400" b="0" i="0" u="none" strike="noStrike" kern="1200" dirty="0">
                <a:solidFill>
                  <a:srgbClr val="000000">
                    <a:alpha val="100000"/>
                  </a:srgbClr>
                </a:solidFill>
                <a:effectLst/>
                <a:latin typeface="Songti SC"/>
                <a:ea typeface="+mn-ea"/>
                <a:cs typeface="+mn-cs"/>
              </a:rPr>
              <a:t>千张扩大到</a:t>
            </a:r>
            <a:r>
              <a:rPr lang="en-US" altLang="zh-CN" sz="1400" b="0" i="0" u="none" strike="noStrike" kern="1200" dirty="0">
                <a:solidFill>
                  <a:srgbClr val="000000">
                    <a:alpha val="100000"/>
                  </a:srgbClr>
                </a:solidFill>
                <a:effectLst/>
                <a:latin typeface="Songti SC"/>
                <a:ea typeface="+mn-ea"/>
                <a:cs typeface="+mn-cs"/>
              </a:rPr>
              <a:t>10</a:t>
            </a:r>
            <a:r>
              <a:rPr lang="zh-CN" altLang="en-US" sz="1400" b="0" i="0" u="none" strike="noStrike" kern="1200" dirty="0">
                <a:solidFill>
                  <a:srgbClr val="000000">
                    <a:alpha val="100000"/>
                  </a:srgbClr>
                </a:solidFill>
                <a:effectLst/>
                <a:latin typeface="Songti SC"/>
                <a:ea typeface="+mn-ea"/>
                <a:cs typeface="+mn-cs"/>
              </a:rPr>
              <a:t>万张时，人工、单模型和级联方案的成本收益关系会非线性变化。不能只比较</a:t>
            </a:r>
            <a:r>
              <a:rPr lang="en-US" altLang="zh-CN" sz="1400" b="0" i="0" u="none" strike="noStrike" kern="1200" dirty="0" err="1">
                <a:solidFill>
                  <a:srgbClr val="000000">
                    <a:alpha val="100000"/>
                  </a:srgbClr>
                </a:solidFill>
                <a:effectLst/>
                <a:latin typeface="Songti SC"/>
                <a:ea typeface="+mn-ea"/>
                <a:cs typeface="+mn-cs"/>
              </a:rPr>
              <a:t>mAP</a:t>
            </a:r>
            <a:r>
              <a:rPr lang="zh-CN" altLang="en-US" sz="1400" b="0" i="0" u="none" strike="noStrike" kern="1200" dirty="0">
                <a:solidFill>
                  <a:srgbClr val="000000">
                    <a:alpha val="100000"/>
                  </a:srgbClr>
                </a:solidFill>
                <a:effectLst/>
                <a:latin typeface="Songti SC"/>
                <a:ea typeface="+mn-ea"/>
                <a:cs typeface="+mn-cs"/>
              </a:rPr>
              <a:t>，而要把检测效用、</a:t>
            </a:r>
            <a:r>
              <a:rPr lang="en-US" altLang="zh-CN" sz="1400" b="0" i="0" u="none" strike="noStrike" kern="1200" dirty="0">
                <a:solidFill>
                  <a:srgbClr val="000000">
                    <a:alpha val="100000"/>
                  </a:srgbClr>
                </a:solidFill>
                <a:effectLst/>
                <a:latin typeface="Songti SC"/>
                <a:ea typeface="+mn-ea"/>
                <a:cs typeface="+mn-cs"/>
              </a:rPr>
              <a:t>GPU</a:t>
            </a:r>
            <a:r>
              <a:rPr lang="zh-CN" altLang="en-US" sz="1400" b="0" i="0" u="none" strike="noStrike" kern="1200" dirty="0">
                <a:solidFill>
                  <a:srgbClr val="000000">
                    <a:alpha val="100000"/>
                  </a:srgbClr>
                </a:solidFill>
                <a:effectLst/>
                <a:latin typeface="Songti SC"/>
                <a:ea typeface="+mn-ea"/>
                <a:cs typeface="+mn-cs"/>
              </a:rPr>
              <a:t>时间和人工工时统一纳入，回答在何种资源约束下应该选哪条流程。</a:t>
            </a:r>
            <a:endParaRPr lang="ja-JP" altLang="ja-JP" sz="1400" b="0" i="0" u="none" strike="noStrike" kern="1200" dirty="0">
              <a:solidFill>
                <a:srgbClr val="000000">
                  <a:alpha val="100000"/>
                </a:srgbClr>
              </a:solidFill>
              <a:effectLst/>
              <a:latin typeface="Songti SC"/>
              <a:ea typeface="+mn-ea"/>
              <a:cs typeface="+mn-cs"/>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endParaRPr lang="en-US" altLang="zh-CN" sz="1200" b="0" i="0" u="none" strike="noStrike" kern="1200" dirty="0">
              <a:solidFill>
                <a:srgbClr val="000000">
                  <a:alpha val="100000"/>
                </a:srgbClr>
              </a:solidFill>
              <a:effectLst/>
              <a:latin typeface="等线"/>
              <a:ea typeface="+mn-ea"/>
              <a:cs typeface="+mn-cs"/>
            </a:endParaRPr>
          </a:p>
          <a:p>
            <a:r>
              <a:rPr lang="zh-CN" altLang="en-US" dirty="0"/>
              <a:t>从现有研究看，针对火烟检测，多数工作集中在改进下游网络，或一味追求分割精度 或简单利用大模型做自动标注。其</a:t>
            </a:r>
            <a:r>
              <a:rPr lang="zh-CN" altLang="en-US" sz="1200" b="1" i="0" u="none" strike="noStrike" kern="1200" dirty="0">
                <a:solidFill>
                  <a:srgbClr val="000000">
                    <a:alpha val="100000"/>
                  </a:srgbClr>
                </a:solidFill>
                <a:effectLst/>
                <a:latin typeface="等线"/>
                <a:ea typeface="+mn-ea"/>
                <a:cs typeface="+mn-cs"/>
              </a:rPr>
              <a:t>共同不足</a:t>
            </a:r>
            <a:r>
              <a:rPr lang="zh-CN" altLang="en-US" dirty="0"/>
              <a:t>在于：缺少大模型标签转化的系统规范；后置模型级联时缺少权限约束；且极少有研究回答不同数据规模下的成本与周期动态选型问题。</a:t>
            </a:r>
            <a:endParaRPr lang="zh-CN" altLang="zh-CN" sz="1200" b="0" i="0" u="none" strike="noStrike" kern="1200" dirty="0">
              <a:solidFill>
                <a:srgbClr val="000000">
                  <a:alpha val="100000"/>
                </a:srgbClr>
              </a:solidFill>
              <a:effectLst/>
              <a:latin typeface="等线"/>
              <a:ea typeface="+mn-ea"/>
              <a:cs typeface="+mn-cs"/>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dirty="0">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defTabSz="914400">
              <a:lnSpc>
                <a:spcPct val="100000"/>
              </a:lnSpc>
              <a:defRPr sz="1400" b="0" i="0" u="none" strike="noStrike">
                <a:solidFill>
                  <a:srgbClr val="000000">
                    <a:alpha val="100000"/>
                  </a:srgbClr>
                </a:solidFill>
                <a:latin typeface="Songti SC"/>
              </a:defRPr>
            </a:lvl1pPr>
          </a:lstStyle>
          <a:p>
            <a:pPr marL="0" indent="0" algn="l" defTabSz="914400">
              <a:lnSpc>
                <a:spcPct val="100000"/>
              </a:lnSpc>
            </a:pPr>
            <a:r>
              <a:rPr lang="en-US" sz="1400" b="0" i="0" u="none" strike="noStrike" dirty="0" err="1">
                <a:solidFill>
                  <a:srgbClr val="000000"/>
                </a:solidFill>
                <a:latin typeface="Songti SC"/>
                <a:ea typeface="Songti SC"/>
                <a:cs typeface="Songti SC"/>
                <a:sym typeface="Songti SC"/>
              </a:rPr>
              <a:t>回顾国内外研究现状，我们发现几个明显的研究缺口。传统目标检测研究长期受困于数据标注瓶颈。虽然Grounding</a:t>
            </a:r>
            <a:r>
              <a:rPr lang="en-US" sz="1400" b="0" i="0" u="none" strike="noStrike" dirty="0">
                <a:solidFill>
                  <a:srgbClr val="000000"/>
                </a:solidFill>
                <a:latin typeface="Songti SC"/>
                <a:ea typeface="Songti SC"/>
                <a:cs typeface="Songti SC"/>
                <a:sym typeface="Songti SC"/>
              </a:rPr>
              <a:t> DINO等开放词汇检测模型和SAM系列分割模型为自动化标注带来了希望，但现有研究大多停留在验证模型本身能力的阶段，对于如何将其输出稳定、可靠地转化为下游检测器可用的训练标签，研究尚不充分。此外，在伪标签评价和不同数据规模下的流程选择方面，也缺乏系统性的探讨。这些缺口正是本研究旨在填补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defTabSz="914400">
              <a:lnSpc>
                <a:spcPct val="100000"/>
              </a:lnSpc>
              <a:defRPr sz="1400" b="0" i="0" u="none" strike="noStrike">
                <a:solidFill>
                  <a:srgbClr val="000000">
                    <a:alpha val="100000"/>
                  </a:srgbClr>
                </a:solidFill>
                <a:latin typeface="等线"/>
              </a:defRPr>
            </a:lvl1pPr>
          </a:lstStyle>
          <a:p>
            <a:r>
              <a:rPr lang="zh-CN" altLang="ja-JP" sz="1400" b="0" i="0" u="none" strike="noStrike" kern="1200" dirty="0">
                <a:solidFill>
                  <a:srgbClr val="000000">
                    <a:alpha val="100000"/>
                  </a:srgbClr>
                </a:solidFill>
                <a:effectLst/>
                <a:latin typeface="等线"/>
                <a:ea typeface="+mn-ea"/>
                <a:cs typeface="+mn-cs"/>
              </a:rPr>
              <a:t>针对前面这些问题，我的总体路线可以概括为“生成、校验、裁判、选型”。整个研究不改</a:t>
            </a:r>
            <a:r>
              <a:rPr lang="zh-CN" altLang="en-US" sz="1400" b="0" i="0" u="none" strike="noStrike" kern="1200" dirty="0">
                <a:solidFill>
                  <a:srgbClr val="000000">
                    <a:alpha val="100000"/>
                  </a:srgbClr>
                </a:solidFill>
                <a:effectLst/>
                <a:latin typeface="等线"/>
                <a:ea typeface="+mn-ea"/>
                <a:cs typeface="+mn-cs"/>
              </a:rPr>
              <a:t>所有模型</a:t>
            </a:r>
            <a:r>
              <a:rPr lang="zh-CN" altLang="ja-JP" sz="1400" b="0" i="0" u="none" strike="noStrike" kern="1200" dirty="0">
                <a:solidFill>
                  <a:srgbClr val="000000">
                    <a:alpha val="100000"/>
                  </a:srgbClr>
                </a:solidFill>
                <a:effectLst/>
                <a:latin typeface="等线"/>
                <a:ea typeface="+mn-ea"/>
                <a:cs typeface="+mn-cs"/>
              </a:rPr>
              <a:t>的网络结构，创新重点放在伪标签生成流程和验证规范上。</a:t>
            </a:r>
            <a:endParaRPr lang="en-US" altLang="zh-CN" sz="1400" b="0" i="0" u="none" strike="noStrike" kern="1200" dirty="0">
              <a:solidFill>
                <a:srgbClr val="000000">
                  <a:alpha val="100000"/>
                </a:srgbClr>
              </a:solidFill>
              <a:effectLst/>
              <a:latin typeface="等线"/>
              <a:ea typeface="+mn-ea"/>
              <a:cs typeface="+mn-cs"/>
            </a:endParaRPr>
          </a:p>
          <a:p>
            <a:r>
              <a:rPr lang="zh-CN" altLang="en-US" sz="1400" b="0" i="0" u="none" strike="noStrike" kern="1200" dirty="0">
                <a:solidFill>
                  <a:srgbClr val="000000">
                    <a:alpha val="100000"/>
                  </a:srgbClr>
                </a:solidFill>
                <a:effectLst/>
                <a:latin typeface="等线"/>
                <a:ea typeface="+mn-ea"/>
                <a:cs typeface="+mn-cs"/>
              </a:rPr>
              <a:t>在所有环节之前为了防止信息泄露而进行了严格的数据划分</a:t>
            </a:r>
            <a:endParaRPr lang="ja-JP" altLang="ja-JP" sz="1400" b="0" i="0" u="none" strike="noStrike" kern="1200" dirty="0">
              <a:solidFill>
                <a:srgbClr val="000000">
                  <a:alpha val="100000"/>
                </a:srgbClr>
              </a:solidFill>
              <a:effectLst/>
              <a:latin typeface="等线"/>
              <a:ea typeface="+mn-ea"/>
              <a:cs typeface="+mn-cs"/>
            </a:endParaRPr>
          </a:p>
          <a:p>
            <a:r>
              <a:rPr lang="en-US" altLang="ja-JP" sz="1400" b="0" i="0" u="none" strike="noStrike" kern="1200" dirty="0">
                <a:solidFill>
                  <a:srgbClr val="000000">
                    <a:alpha val="100000"/>
                  </a:srgbClr>
                </a:solidFill>
                <a:effectLst/>
                <a:latin typeface="等线"/>
                <a:ea typeface="+mn-ea"/>
                <a:cs typeface="+mn-cs"/>
              </a:rPr>
              <a:t> </a:t>
            </a:r>
            <a:endParaRPr lang="ja-JP" altLang="ja-JP" sz="1400" b="0" i="0" u="none" strike="noStrike" kern="1200" dirty="0">
              <a:solidFill>
                <a:srgbClr val="000000">
                  <a:alpha val="100000"/>
                </a:srgbClr>
              </a:solidFill>
              <a:effectLst/>
              <a:latin typeface="等线"/>
              <a:ea typeface="+mn-ea"/>
              <a:cs typeface="+mn-cs"/>
            </a:endParaRPr>
          </a:p>
          <a:p>
            <a:r>
              <a:rPr lang="zh-CN" altLang="ja-JP" sz="1400" b="0" i="0" u="none" strike="noStrike" kern="1200" dirty="0">
                <a:solidFill>
                  <a:srgbClr val="000000">
                    <a:alpha val="100000"/>
                  </a:srgbClr>
                </a:solidFill>
                <a:effectLst/>
                <a:latin typeface="等线"/>
                <a:ea typeface="+mn-ea"/>
                <a:cs typeface="+mn-cs"/>
              </a:rPr>
              <a:t>首先是生成环节。</a:t>
            </a:r>
            <a:r>
              <a:rPr lang="zh-CN" altLang="en-US" dirty="0"/>
              <a:t>利用 </a:t>
            </a:r>
            <a:r>
              <a:rPr lang="en-US" altLang="zh-CN" dirty="0"/>
              <a:t>Grounding DINO </a:t>
            </a:r>
            <a:r>
              <a:rPr lang="zh-CN" altLang="en-US" dirty="0"/>
              <a:t>完成伪标签的冷启动。通过在开发集上对候选提示词进行独立评测与阈值扫描，锁定稳定区间，并以配置文件形式</a:t>
            </a:r>
            <a:r>
              <a:rPr lang="zh-CN" altLang="en-US" sz="1400" b="1" i="0" u="none" strike="noStrike" kern="1200" dirty="0">
                <a:solidFill>
                  <a:srgbClr val="000000">
                    <a:alpha val="100000"/>
                  </a:srgbClr>
                </a:solidFill>
                <a:effectLst/>
                <a:latin typeface="等线"/>
                <a:ea typeface="+mn-ea"/>
                <a:cs typeface="+mn-cs"/>
              </a:rPr>
              <a:t>硬冻结</a:t>
            </a:r>
            <a:r>
              <a:rPr lang="zh-CN" altLang="en-US" dirty="0"/>
              <a:t>，确保后续方案拥有统一、可追溯的基线。</a:t>
            </a:r>
            <a:r>
              <a:rPr lang="zh-CN" altLang="ja-JP" sz="1400" b="0" i="0" u="none" strike="noStrike" kern="1200" dirty="0">
                <a:solidFill>
                  <a:srgbClr val="000000">
                    <a:alpha val="100000"/>
                  </a:srgbClr>
                </a:solidFill>
                <a:effectLst/>
                <a:latin typeface="等线"/>
                <a:ea typeface="+mn-ea"/>
                <a:cs typeface="+mn-cs"/>
              </a:rPr>
              <a:t>。</a:t>
            </a:r>
            <a:endParaRPr lang="ja-JP" altLang="ja-JP" sz="1400" b="0" i="0" u="none" strike="noStrike" kern="1200" dirty="0">
              <a:solidFill>
                <a:srgbClr val="000000">
                  <a:alpha val="100000"/>
                </a:srgbClr>
              </a:solidFill>
              <a:effectLst/>
              <a:latin typeface="等线"/>
              <a:ea typeface="+mn-ea"/>
              <a:cs typeface="+mn-cs"/>
            </a:endParaRPr>
          </a:p>
          <a:p>
            <a:r>
              <a:rPr lang="en-US" altLang="ja-JP" sz="1400" b="0" i="0" u="none" strike="noStrike" kern="1200" dirty="0">
                <a:solidFill>
                  <a:srgbClr val="000000">
                    <a:alpha val="100000"/>
                  </a:srgbClr>
                </a:solidFill>
                <a:effectLst/>
                <a:latin typeface="等线"/>
                <a:ea typeface="+mn-ea"/>
                <a:cs typeface="+mn-cs"/>
              </a:rPr>
              <a:t> </a:t>
            </a:r>
            <a:endParaRPr lang="ja-JP" altLang="ja-JP" sz="1400" b="0" i="0" u="none" strike="noStrike" kern="1200" dirty="0">
              <a:solidFill>
                <a:srgbClr val="000000">
                  <a:alpha val="100000"/>
                </a:srgbClr>
              </a:solidFill>
              <a:effectLst/>
              <a:latin typeface="等线"/>
              <a:ea typeface="+mn-ea"/>
              <a:cs typeface="+mn-cs"/>
            </a:endParaRPr>
          </a:p>
          <a:p>
            <a:r>
              <a:rPr lang="zh-CN" altLang="ja-JP" sz="1400" b="0" i="0" u="none" strike="noStrike" kern="1200" dirty="0">
                <a:solidFill>
                  <a:srgbClr val="000000">
                    <a:alpha val="100000"/>
                  </a:srgbClr>
                </a:solidFill>
                <a:effectLst/>
                <a:latin typeface="等线"/>
                <a:ea typeface="+mn-ea"/>
                <a:cs typeface="+mn-cs"/>
              </a:rPr>
              <a:t>其次是校验环节。</a:t>
            </a:r>
            <a:r>
              <a:rPr lang="ja-JP" altLang="en-US" dirty="0"/>
              <a:t>引入 </a:t>
            </a:r>
            <a:r>
              <a:rPr lang="en-US" altLang="ja-JP" dirty="0"/>
              <a:t>SAM3 </a:t>
            </a:r>
            <a:r>
              <a:rPr lang="ja-JP" altLang="en-US" dirty="0"/>
              <a:t>作为后置节点，将其拆分为 </a:t>
            </a:r>
            <a:r>
              <a:rPr lang="en-US" altLang="ja-JP" dirty="0"/>
              <a:t>Verifier</a:t>
            </a:r>
            <a:r>
              <a:rPr lang="ja-JP" altLang="en-US" dirty="0" err="1"/>
              <a:t>、</a:t>
            </a:r>
            <a:r>
              <a:rPr lang="en-US" altLang="ja-JP" dirty="0"/>
              <a:t>Append</a:t>
            </a:r>
            <a:r>
              <a:rPr lang="ja-JP" altLang="en-US" dirty="0" err="1"/>
              <a:t>、</a:t>
            </a:r>
            <a:r>
              <a:rPr lang="en-US" altLang="ja-JP" dirty="0"/>
              <a:t>Refiner </a:t>
            </a:r>
            <a:r>
              <a:rPr lang="ja-JP" altLang="en-US" dirty="0"/>
              <a:t>三个受控角色。每个分支均经过 </a:t>
            </a:r>
            <a:r>
              <a:rPr lang="en-US" altLang="ja-JP" sz="1400" b="1" i="0" u="none" strike="noStrike" kern="1200" dirty="0">
                <a:solidFill>
                  <a:srgbClr val="000000">
                    <a:alpha val="100000"/>
                  </a:srgbClr>
                </a:solidFill>
                <a:effectLst/>
                <a:latin typeface="等线"/>
                <a:ea typeface="+mn-ea"/>
                <a:cs typeface="+mn-cs"/>
              </a:rPr>
              <a:t>Stage-Gate </a:t>
            </a:r>
            <a:r>
              <a:rPr lang="ja-JP" altLang="en-US" sz="1400" b="1" i="0" u="none" strike="noStrike" kern="1200" dirty="0">
                <a:solidFill>
                  <a:srgbClr val="000000">
                    <a:alpha val="100000"/>
                  </a:srgbClr>
                </a:solidFill>
                <a:effectLst/>
                <a:latin typeface="等线"/>
                <a:ea typeface="+mn-ea"/>
                <a:cs typeface="+mn-cs"/>
              </a:rPr>
              <a:t>阶段门控</a:t>
            </a:r>
            <a:r>
              <a:rPr lang="ja-JP" altLang="en-US" dirty="0"/>
              <a:t>（做出 </a:t>
            </a:r>
            <a:r>
              <a:rPr lang="en-US" altLang="ja-JP" dirty="0"/>
              <a:t>Go</a:t>
            </a:r>
            <a:r>
              <a:rPr lang="ja-JP" altLang="en-US" dirty="0" err="1"/>
              <a:t>、</a:t>
            </a:r>
            <a:r>
              <a:rPr lang="en-US" altLang="ja-JP" dirty="0"/>
              <a:t>Hold</a:t>
            </a:r>
            <a:r>
              <a:rPr lang="ja-JP" altLang="en-US" dirty="0" err="1"/>
              <a:t>、</a:t>
            </a:r>
            <a:r>
              <a:rPr lang="en-US" altLang="ja-JP" dirty="0"/>
              <a:t>Stop </a:t>
            </a:r>
            <a:r>
              <a:rPr lang="ja-JP" altLang="en-US" dirty="0"/>
              <a:t>三种决策），避免后置模型把原本可用的标签改坏</a:t>
            </a:r>
            <a:r>
              <a:rPr lang="zh-CN" altLang="ja-JP" sz="1400" b="0" i="0" u="none" strike="noStrike" kern="1200" dirty="0">
                <a:solidFill>
                  <a:srgbClr val="000000">
                    <a:alpha val="100000"/>
                  </a:srgbClr>
                </a:solidFill>
                <a:effectLst/>
                <a:latin typeface="等线"/>
                <a:ea typeface="+mn-ea"/>
                <a:cs typeface="+mn-cs"/>
              </a:rPr>
              <a:t>。</a:t>
            </a:r>
            <a:endParaRPr lang="ja-JP" altLang="ja-JP" sz="1400" b="0" i="0" u="none" strike="noStrike" kern="1200" dirty="0">
              <a:solidFill>
                <a:srgbClr val="000000">
                  <a:alpha val="100000"/>
                </a:srgbClr>
              </a:solidFill>
              <a:effectLst/>
              <a:latin typeface="等线"/>
              <a:ea typeface="+mn-ea"/>
              <a:cs typeface="+mn-cs"/>
            </a:endParaRPr>
          </a:p>
          <a:p>
            <a:r>
              <a:rPr lang="en-US" altLang="ja-JP" sz="1400" b="0" i="0" u="none" strike="noStrike" kern="1200" dirty="0">
                <a:solidFill>
                  <a:srgbClr val="000000">
                    <a:alpha val="100000"/>
                  </a:srgbClr>
                </a:solidFill>
                <a:effectLst/>
                <a:latin typeface="等线"/>
                <a:ea typeface="+mn-ea"/>
                <a:cs typeface="+mn-cs"/>
              </a:rPr>
              <a:t> </a:t>
            </a:r>
            <a:endParaRPr lang="ja-JP" altLang="ja-JP" sz="1400" b="0" i="0" u="none" strike="noStrike" kern="1200" dirty="0">
              <a:solidFill>
                <a:srgbClr val="000000">
                  <a:alpha val="100000"/>
                </a:srgbClr>
              </a:solidFill>
              <a:effectLst/>
              <a:latin typeface="等线"/>
              <a:ea typeface="+mn-ea"/>
              <a:cs typeface="+mn-cs"/>
            </a:endParaRPr>
          </a:p>
          <a:p>
            <a:r>
              <a:rPr lang="zh-CN" altLang="ja-JP" sz="1400" b="0" i="0" u="none" strike="noStrike" kern="1200" dirty="0">
                <a:solidFill>
                  <a:srgbClr val="000000">
                    <a:alpha val="100000"/>
                  </a:srgbClr>
                </a:solidFill>
                <a:effectLst/>
                <a:latin typeface="等线"/>
                <a:ea typeface="+mn-ea"/>
                <a:cs typeface="+mn-cs"/>
              </a:rPr>
              <a:t>然后是裁判环节。因为火烟边界本身有标注风格差异，如果只看</a:t>
            </a:r>
            <a:r>
              <a:rPr lang="en-US" altLang="ja-JP" sz="1400" b="0" i="0" u="none" strike="noStrike" kern="1200" dirty="0">
                <a:solidFill>
                  <a:srgbClr val="000000">
                    <a:alpha val="100000"/>
                  </a:srgbClr>
                </a:solidFill>
                <a:effectLst/>
                <a:latin typeface="等线"/>
                <a:ea typeface="+mn-ea"/>
                <a:cs typeface="+mn-cs"/>
              </a:rPr>
              <a:t> </a:t>
            </a:r>
            <a:r>
              <a:rPr lang="en-US" altLang="ja-JP" sz="1400" b="0" i="0" u="none" strike="noStrike" kern="1200" dirty="0" err="1">
                <a:solidFill>
                  <a:srgbClr val="000000">
                    <a:alpha val="100000"/>
                  </a:srgbClr>
                </a:solidFill>
                <a:effectLst/>
                <a:latin typeface="等线"/>
                <a:ea typeface="+mn-ea"/>
                <a:cs typeface="+mn-cs"/>
              </a:rPr>
              <a:t>IoU</a:t>
            </a:r>
            <a:r>
              <a:rPr lang="en-US" altLang="ja-JP" sz="1400" b="0" i="0" u="none" strike="noStrike" kern="1200" dirty="0">
                <a:solidFill>
                  <a:srgbClr val="000000">
                    <a:alpha val="100000"/>
                  </a:srgbClr>
                </a:solidFill>
                <a:effectLst/>
                <a:latin typeface="等线"/>
                <a:ea typeface="+mn-ea"/>
                <a:cs typeface="+mn-cs"/>
              </a:rPr>
              <a:t> </a:t>
            </a:r>
            <a:r>
              <a:rPr lang="zh-CN" altLang="ja-JP" sz="1400" b="0" i="0" u="none" strike="noStrike" kern="1200" dirty="0">
                <a:solidFill>
                  <a:srgbClr val="000000">
                    <a:alpha val="100000"/>
                  </a:srgbClr>
                </a:solidFill>
                <a:effectLst/>
                <a:latin typeface="等线"/>
                <a:ea typeface="+mn-ea"/>
                <a:cs typeface="+mn-cs"/>
              </a:rPr>
              <a:t>可能误判，如果只看</a:t>
            </a:r>
            <a:r>
              <a:rPr lang="en-US" altLang="ja-JP" sz="1400" b="0" i="0" u="none" strike="noStrike" kern="1200" dirty="0">
                <a:solidFill>
                  <a:srgbClr val="000000">
                    <a:alpha val="100000"/>
                  </a:srgbClr>
                </a:solidFill>
                <a:effectLst/>
                <a:latin typeface="等线"/>
                <a:ea typeface="+mn-ea"/>
                <a:cs typeface="+mn-cs"/>
              </a:rPr>
              <a:t> </a:t>
            </a:r>
            <a:r>
              <a:rPr lang="en-US" altLang="ja-JP" sz="1400" b="0" i="0" u="none" strike="noStrike" kern="1200" dirty="0" err="1">
                <a:solidFill>
                  <a:srgbClr val="000000">
                    <a:alpha val="100000"/>
                  </a:srgbClr>
                </a:solidFill>
                <a:effectLst/>
                <a:latin typeface="等线"/>
                <a:ea typeface="+mn-ea"/>
                <a:cs typeface="+mn-cs"/>
              </a:rPr>
              <a:t>mAP</a:t>
            </a:r>
            <a:r>
              <a:rPr lang="en-US" altLang="ja-JP" sz="1400" b="0" i="0" u="none" strike="noStrike" kern="1200" dirty="0">
                <a:solidFill>
                  <a:srgbClr val="000000">
                    <a:alpha val="100000"/>
                  </a:srgbClr>
                </a:solidFill>
                <a:effectLst/>
                <a:latin typeface="等线"/>
                <a:ea typeface="+mn-ea"/>
                <a:cs typeface="+mn-cs"/>
              </a:rPr>
              <a:t> </a:t>
            </a:r>
            <a:r>
              <a:rPr lang="zh-CN" altLang="ja-JP" sz="1400" b="0" i="0" u="none" strike="noStrike" kern="1200" dirty="0">
                <a:solidFill>
                  <a:srgbClr val="000000">
                    <a:alpha val="100000"/>
                  </a:srgbClr>
                </a:solidFill>
                <a:effectLst/>
                <a:latin typeface="等线"/>
                <a:ea typeface="+mn-ea"/>
                <a:cs typeface="+mn-cs"/>
              </a:rPr>
              <a:t>又解释不清，所以我希望用“标签质量诊断</a:t>
            </a:r>
            <a:r>
              <a:rPr lang="en-US" altLang="ja-JP" sz="1400" b="0" i="0" u="none" strike="noStrike" kern="1200" dirty="0">
                <a:solidFill>
                  <a:srgbClr val="000000">
                    <a:alpha val="100000"/>
                  </a:srgbClr>
                </a:solidFill>
                <a:effectLst/>
                <a:latin typeface="等线"/>
                <a:ea typeface="+mn-ea"/>
                <a:cs typeface="+mn-cs"/>
              </a:rPr>
              <a:t> + </a:t>
            </a:r>
            <a:r>
              <a:rPr lang="zh-CN" altLang="ja-JP" sz="1400" b="0" i="0" u="none" strike="noStrike" kern="1200" dirty="0">
                <a:solidFill>
                  <a:srgbClr val="000000">
                    <a:alpha val="100000"/>
                  </a:srgbClr>
                </a:solidFill>
                <a:effectLst/>
                <a:latin typeface="等线"/>
                <a:ea typeface="+mn-ea"/>
                <a:cs typeface="+mn-cs"/>
              </a:rPr>
              <a:t>下游训练效用”共同判断</a:t>
            </a:r>
            <a:r>
              <a:rPr lang="zh-CN" altLang="en-US" dirty="0"/>
              <a:t>。不仅从标签层诊断风格差异与真实噪声，更在统一的 </a:t>
            </a:r>
            <a:r>
              <a:rPr lang="en-US" altLang="zh-CN" dirty="0"/>
              <a:t>YOLO </a:t>
            </a:r>
            <a:r>
              <a:rPr lang="zh-CN" altLang="en-US" dirty="0"/>
              <a:t>训练协议下，比较伪标签最终支撑下游检测任务的实际性能保留率</a:t>
            </a:r>
            <a:r>
              <a:rPr lang="zh-CN" altLang="ja-JP" sz="1400" b="0" i="0" u="none" strike="noStrike" kern="1200" dirty="0">
                <a:solidFill>
                  <a:srgbClr val="000000">
                    <a:alpha val="100000"/>
                  </a:srgbClr>
                </a:solidFill>
                <a:effectLst/>
                <a:latin typeface="等线"/>
                <a:ea typeface="+mn-ea"/>
                <a:cs typeface="+mn-cs"/>
              </a:rPr>
              <a:t>。</a:t>
            </a:r>
            <a:endParaRPr lang="ja-JP" altLang="ja-JP" sz="1400" b="0" i="0" u="none" strike="noStrike" kern="1200" dirty="0">
              <a:solidFill>
                <a:srgbClr val="000000">
                  <a:alpha val="100000"/>
                </a:srgbClr>
              </a:solidFill>
              <a:effectLst/>
              <a:latin typeface="等线"/>
              <a:ea typeface="+mn-ea"/>
              <a:cs typeface="+mn-cs"/>
            </a:endParaRPr>
          </a:p>
          <a:p>
            <a:r>
              <a:rPr lang="en-US" altLang="ja-JP" sz="1400" b="0" i="0" u="none" strike="noStrike" kern="1200" dirty="0">
                <a:solidFill>
                  <a:srgbClr val="000000">
                    <a:alpha val="100000"/>
                  </a:srgbClr>
                </a:solidFill>
                <a:effectLst/>
                <a:latin typeface="等线"/>
                <a:ea typeface="+mn-ea"/>
                <a:cs typeface="+mn-cs"/>
              </a:rPr>
              <a:t> </a:t>
            </a:r>
            <a:endParaRPr lang="ja-JP" altLang="ja-JP" sz="1400" b="0" i="0" u="none" strike="noStrike" kern="1200" dirty="0">
              <a:solidFill>
                <a:srgbClr val="000000">
                  <a:alpha val="100000"/>
                </a:srgbClr>
              </a:solidFill>
              <a:effectLst/>
              <a:latin typeface="等线"/>
              <a:ea typeface="+mn-ea"/>
              <a:cs typeface="+mn-cs"/>
            </a:endParaRPr>
          </a:p>
          <a:p>
            <a:r>
              <a:rPr lang="zh-CN" altLang="ja-JP" sz="1400" b="0" i="0" u="none" strike="noStrike" kern="1200" dirty="0">
                <a:solidFill>
                  <a:srgbClr val="000000">
                    <a:alpha val="100000"/>
                  </a:srgbClr>
                </a:solidFill>
                <a:effectLst/>
                <a:latin typeface="等线"/>
                <a:ea typeface="+mn-ea"/>
                <a:cs typeface="+mn-cs"/>
              </a:rPr>
              <a:t>最后是选型环节。</a:t>
            </a:r>
            <a:r>
              <a:rPr lang="zh-CN" altLang="en-US" dirty="0"/>
              <a:t>通过对不同流程在精度、时间、人工投入和算力成本之间进行 </a:t>
            </a:r>
            <a:r>
              <a:rPr lang="en-US" altLang="zh-CN" sz="1400" b="1" i="0" u="none" strike="noStrike" kern="1200" dirty="0">
                <a:solidFill>
                  <a:srgbClr val="000000">
                    <a:alpha val="100000"/>
                  </a:srgbClr>
                </a:solidFill>
                <a:effectLst/>
                <a:latin typeface="等线"/>
                <a:ea typeface="+mn-ea"/>
                <a:cs typeface="+mn-cs"/>
              </a:rPr>
              <a:t>Pareto </a:t>
            </a:r>
            <a:r>
              <a:rPr lang="zh-CN" altLang="en-US" sz="1400" b="1" i="0" u="none" strike="noStrike" kern="1200" dirty="0">
                <a:solidFill>
                  <a:srgbClr val="000000">
                    <a:alpha val="100000"/>
                  </a:srgbClr>
                </a:solidFill>
                <a:effectLst/>
                <a:latin typeface="等线"/>
                <a:ea typeface="+mn-ea"/>
                <a:cs typeface="+mn-cs"/>
              </a:rPr>
              <a:t>非支配排序与分析</a:t>
            </a:r>
            <a:r>
              <a:rPr lang="zh-CN" altLang="en-US" dirty="0"/>
              <a:t>，完成最终的流程选型</a:t>
            </a:r>
            <a:r>
              <a:rPr lang="zh-CN" altLang="ja-JP" sz="1400" b="0" i="0" u="none" strike="noStrike" kern="1200" dirty="0">
                <a:solidFill>
                  <a:srgbClr val="000000">
                    <a:alpha val="100000"/>
                  </a:srgbClr>
                </a:solidFill>
                <a:effectLst/>
                <a:latin typeface="等线"/>
                <a:ea typeface="+mn-ea"/>
                <a:cs typeface="+mn-cs"/>
              </a:rPr>
              <a:t>。</a:t>
            </a:r>
            <a:endParaRPr lang="ja-JP" altLang="ja-JP" sz="1400" b="0" i="0" u="none" strike="noStrike" kern="1200" dirty="0">
              <a:solidFill>
                <a:srgbClr val="000000">
                  <a:alpha val="100000"/>
                </a:srgbClr>
              </a:solidFill>
              <a:effectLst/>
              <a:latin typeface="等线"/>
              <a:ea typeface="+mn-ea"/>
              <a:cs typeface="+mn-cs"/>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166311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r>
              <a:rPr lang="zh-CN" altLang="zh-CN" sz="1200" b="0" i="0" u="none" strike="noStrike" kern="1200" dirty="0">
                <a:solidFill>
                  <a:srgbClr val="000000">
                    <a:alpha val="100000"/>
                  </a:srgbClr>
                </a:solidFill>
                <a:effectLst/>
                <a:latin typeface="等线"/>
                <a:ea typeface="+mn-ea"/>
                <a:cs typeface="+mn-cs"/>
              </a:rPr>
              <a:t>基于前面的设计，</a:t>
            </a:r>
            <a:r>
              <a:rPr lang="zh-CN" altLang="en-US" sz="1200" b="0" i="0" u="none" strike="noStrike" kern="1200" dirty="0">
                <a:solidFill>
                  <a:srgbClr val="000000">
                    <a:alpha val="100000"/>
                  </a:srgbClr>
                </a:solidFill>
                <a:effectLst/>
                <a:latin typeface="等线"/>
                <a:ea typeface="+mn-ea"/>
                <a:cs typeface="+mn-cs"/>
              </a:rPr>
              <a:t>创新点如下</a:t>
            </a:r>
            <a:r>
              <a:rPr lang="zh-CN" altLang="zh-CN" sz="1200" b="0" i="0" u="none" strike="noStrike" kern="1200" dirty="0">
                <a:solidFill>
                  <a:srgbClr val="000000">
                    <a:alpha val="100000"/>
                  </a:srgbClr>
                </a:solidFill>
                <a:effectLst/>
                <a:latin typeface="等线"/>
                <a:ea typeface="+mn-ea"/>
                <a:cs typeface="+mn-cs"/>
              </a:rPr>
              <a:t>。</a:t>
            </a:r>
            <a:endParaRPr lang="en-US" altLang="zh-CN" sz="1200" b="0" i="0" u="none" strike="noStrike" kern="1200" dirty="0">
              <a:solidFill>
                <a:srgbClr val="000000">
                  <a:alpha val="100000"/>
                </a:srgbClr>
              </a:solidFill>
              <a:effectLst/>
              <a:latin typeface="等线"/>
              <a:ea typeface="+mn-ea"/>
              <a:cs typeface="+mn-cs"/>
            </a:endParaRPr>
          </a:p>
          <a:p>
            <a:r>
              <a:rPr lang="zh-CN" altLang="zh-CN" sz="1200" b="0" i="0" u="none" strike="noStrike" kern="1200" dirty="0">
                <a:solidFill>
                  <a:srgbClr val="000000">
                    <a:alpha val="100000"/>
                  </a:srgbClr>
                </a:solidFill>
                <a:effectLst/>
                <a:latin typeface="等线"/>
                <a:ea typeface="+mn-ea"/>
                <a:cs typeface="+mn-cs"/>
              </a:rPr>
              <a:t>第一，</a:t>
            </a:r>
            <a:r>
              <a:rPr lang="zh-CN" altLang="en-US" dirty="0"/>
              <a:t>提出了面向非刚性火烟目标的弱监督异构大模型级联伪标签管线，明确限制了多模型级联中的职责与权限，目标达到人工逐框标注的 </a:t>
            </a:r>
            <a:r>
              <a:rPr lang="en-US" altLang="zh-CN" dirty="0"/>
              <a:t>85% </a:t>
            </a:r>
            <a:r>
              <a:rPr lang="zh-CN" altLang="en-US" dirty="0"/>
              <a:t>以上水平。</a:t>
            </a:r>
            <a:endParaRPr lang="en-US" altLang="zh-CN" dirty="0"/>
          </a:p>
          <a:p>
            <a:r>
              <a:rPr lang="zh-CN" altLang="en-US" dirty="0"/>
              <a:t>第二，提出了低预算提示冻结与噪声审计方法，通过四步法固化提示词参数，并结合冲突仲裁与火焰保守策略，有效剥离标注风格差异并阻断定位噪声。</a:t>
            </a:r>
            <a:endParaRPr lang="en-US" altLang="zh-CN" dirty="0"/>
          </a:p>
          <a:p>
            <a:r>
              <a:rPr lang="zh-CN" altLang="zh-CN" sz="1200" b="0" i="0" u="none" strike="noStrike" kern="1200" dirty="0">
                <a:solidFill>
                  <a:srgbClr val="000000">
                    <a:alpha val="100000"/>
                  </a:srgbClr>
                </a:solidFill>
                <a:effectLst/>
                <a:latin typeface="等线"/>
                <a:ea typeface="+mn-ea"/>
                <a:cs typeface="+mn-cs"/>
              </a:rPr>
              <a:t>第三，</a:t>
            </a:r>
            <a:r>
              <a:rPr lang="zh-CN" altLang="en-US" dirty="0"/>
              <a:t>将人工工时与</a:t>
            </a:r>
            <a:r>
              <a:rPr lang="en-US" altLang="zh-CN" dirty="0"/>
              <a:t>GPU</a:t>
            </a:r>
            <a:r>
              <a:rPr lang="zh-CN" altLang="en-US" dirty="0"/>
              <a:t>机时独立核算，在万级、十万级规模下进行多目标</a:t>
            </a:r>
            <a:r>
              <a:rPr lang="en-US" altLang="zh-CN" dirty="0"/>
              <a:t>Pareto</a:t>
            </a:r>
            <a:r>
              <a:rPr lang="zh-CN" altLang="en-US" dirty="0"/>
              <a:t>帕累托路径选型，为实际工程落地提供决策依据。</a:t>
            </a:r>
            <a:endParaRPr lang="en-US" sz="12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endParaRPr lang="en-US" sz="12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endParaRPr lang="en-US" sz="12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8874231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endParaRPr lang="en-US" sz="12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5558577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r>
              <a:rPr lang="zh-CN" altLang="en-US" sz="1200" b="0" i="0" u="none" strike="noStrike" kern="1200" dirty="0">
                <a:solidFill>
                  <a:srgbClr val="000000">
                    <a:alpha val="100000"/>
                  </a:srgbClr>
                </a:solidFill>
                <a:effectLst/>
                <a:latin typeface="等线"/>
                <a:ea typeface="+mn-ea"/>
                <a:cs typeface="+mn-cs"/>
              </a:rPr>
              <a:t>目前，本研究已经完成了前期基础数据的整理与人工标注，并针对</a:t>
            </a:r>
            <a:r>
              <a:rPr lang="en-US" altLang="zh-CN" sz="1200" b="0" i="0" u="none" strike="noStrike" kern="1200" dirty="0">
                <a:solidFill>
                  <a:srgbClr val="000000">
                    <a:alpha val="100000"/>
                  </a:srgbClr>
                </a:solidFill>
                <a:effectLst/>
                <a:latin typeface="等线"/>
                <a:ea typeface="+mn-ea"/>
                <a:cs typeface="+mn-cs"/>
              </a:rPr>
              <a:t>Grounding DINO</a:t>
            </a:r>
            <a:r>
              <a:rPr lang="zh-CN" altLang="en-US" sz="1200" b="0" i="0" u="none" strike="noStrike" kern="1200" dirty="0">
                <a:solidFill>
                  <a:srgbClr val="000000">
                    <a:alpha val="100000"/>
                  </a:srgbClr>
                </a:solidFill>
                <a:effectLst/>
                <a:latin typeface="等线"/>
                <a:ea typeface="+mn-ea"/>
                <a:cs typeface="+mn-cs"/>
              </a:rPr>
              <a:t>和</a:t>
            </a:r>
            <a:r>
              <a:rPr lang="en-US" altLang="zh-CN" sz="1200" b="0" i="0" u="none" strike="noStrike" kern="1200" dirty="0">
                <a:solidFill>
                  <a:srgbClr val="000000">
                    <a:alpha val="100000"/>
                  </a:srgbClr>
                </a:solidFill>
                <a:effectLst/>
                <a:latin typeface="等线"/>
                <a:ea typeface="+mn-ea"/>
                <a:cs typeface="+mn-cs"/>
              </a:rPr>
              <a:t>SAM3</a:t>
            </a:r>
            <a:r>
              <a:rPr lang="zh-CN" altLang="en-US" sz="1200" b="0" i="0" u="none" strike="noStrike" kern="1200" dirty="0">
                <a:solidFill>
                  <a:srgbClr val="000000">
                    <a:alpha val="100000"/>
                  </a:srgbClr>
                </a:solidFill>
                <a:effectLst/>
                <a:latin typeface="等线"/>
                <a:ea typeface="+mn-ea"/>
                <a:cs typeface="+mn-cs"/>
              </a:rPr>
              <a:t>各分支进行了初步的探索实验。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endParaRPr lang="zh-CN" altLang="en-US" sz="1200" b="0" u="none" strike="noStrike" kern="1200" dirty="0">
              <a:solidFill>
                <a:schemeClr val="tx1"/>
              </a:solidFill>
              <a:effectLst/>
              <a:latin typeface="+mn-lt"/>
              <a:ea typeface="+mn-ea"/>
              <a:cs typeface="+mn-cs"/>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271587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7BE63-5BB0-15D0-71B4-7A470508E49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B0AB081-FD98-FCF7-B4F6-814FA4C6188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F6DE4E4-AEAA-79AC-AFF7-DC2741C4788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800B928-F9C1-7A48-7959-247838256E3C}"/>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CBF159D-3165-222C-2B36-2985CF33DB22}"/>
              </a:ext>
            </a:extLst>
          </p:cNvPr>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b="0" i="0" u="none" strike="noStrike" kern="1200" dirty="0">
              <a:solidFill>
                <a:srgbClr val="000000">
                  <a:alpha val="100000"/>
                </a:srgbClr>
              </a:solidFill>
              <a:effectLst/>
              <a:latin typeface="等线"/>
              <a:ea typeface="+mn-ea"/>
              <a:cs typeface="+mn-cs"/>
            </a:endParaRPr>
          </a:p>
        </p:txBody>
      </p:sp>
      <p:sp>
        <p:nvSpPr>
          <p:cNvPr id="6" name="Footer Placeholder 5">
            <a:extLst>
              <a:ext uri="{FF2B5EF4-FFF2-40B4-BE49-F238E27FC236}">
                <a16:creationId xmlns:a16="http://schemas.microsoft.com/office/drawing/2014/main" id="{260D4A68-6DF4-C512-99A1-26C2CE05D4C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CCB8AF3-5F2C-C1CC-B6CA-0E427FDB644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843903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0982F-9581-644D-3B7C-E77F0C8E7967}"/>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CFCB272-FFE5-BD9E-5963-1B2067AB2CC3}"/>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AB02F5A-838D-45B5-9F50-E4490417D97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21367EE-E37D-B34A-E512-83EEE10F40E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3BCBEE6-F0DA-6B4D-B3A5-49D6EFD36193}"/>
              </a:ext>
            </a:extLst>
          </p:cNvPr>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lnSpcReduction="10000"/>
          </a:bodyPr>
          <a:lstStyle>
            <a:lvl1pPr algn="l" defTabSz="914400">
              <a:lnSpc>
                <a:spcPct val="100000"/>
              </a:lnSpc>
              <a:defRPr sz="1200" b="0" i="0" u="none" strike="noStrike">
                <a:solidFill>
                  <a:srgbClr val="000000">
                    <a:alpha val="100000"/>
                  </a:srgbClr>
                </a:solidFill>
                <a:latin typeface="等线"/>
              </a:defRPr>
            </a:lvl1pPr>
          </a:lstStyle>
          <a:p>
            <a:r>
              <a:rPr lang="zh-CN" altLang="en-US" sz="1200" b="0" i="0" u="none" strike="noStrike" kern="1200" dirty="0">
                <a:solidFill>
                  <a:srgbClr val="000000">
                    <a:alpha val="100000"/>
                  </a:srgbClr>
                </a:solidFill>
                <a:effectLst/>
                <a:latin typeface="等线"/>
                <a:ea typeface="+mn-ea"/>
                <a:cs typeface="+mn-cs"/>
              </a:rPr>
              <a:t>根据目前的实验数据，我们可以得出以下关键结论：</a:t>
            </a:r>
            <a:endParaRPr lang="en-US" altLang="zh-CN" sz="1200" b="0" i="0" u="none" strike="noStrike" kern="1200" dirty="0">
              <a:solidFill>
                <a:srgbClr val="000000">
                  <a:alpha val="100000"/>
                </a:srgbClr>
              </a:solidFill>
              <a:effectLst/>
              <a:latin typeface="等线"/>
              <a:ea typeface="+mn-ea"/>
              <a:cs typeface="+mn-cs"/>
            </a:endParaRPr>
          </a:p>
          <a:p>
            <a:endParaRPr lang="en-US" altLang="zh-CN" sz="1200" b="0" i="0" u="none" strike="noStrike" kern="1200" dirty="0">
              <a:solidFill>
                <a:srgbClr val="000000">
                  <a:alpha val="100000"/>
                </a:srgbClr>
              </a:solidFill>
              <a:effectLst/>
              <a:latin typeface="等线"/>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1" i="0" u="none" strike="noStrike" kern="1200" dirty="0">
                <a:solidFill>
                  <a:srgbClr val="000000">
                    <a:alpha val="100000"/>
                  </a:srgbClr>
                </a:solidFill>
                <a:effectLst/>
                <a:latin typeface="等线"/>
                <a:ea typeface="+mn-ea"/>
                <a:cs typeface="+mn-cs"/>
              </a:rPr>
              <a:t>V1</a:t>
            </a:r>
            <a:r>
              <a:rPr lang="zh-CN" altLang="ja-JP" sz="1200" b="1" i="0" u="none" strike="noStrike" kern="1200" dirty="0">
                <a:solidFill>
                  <a:srgbClr val="000000">
                    <a:alpha val="100000"/>
                  </a:srgbClr>
                </a:solidFill>
                <a:effectLst/>
                <a:latin typeface="等线"/>
                <a:ea typeface="+mn-ea"/>
                <a:cs typeface="+mn-cs"/>
              </a:rPr>
              <a:t>伪标签已能达到人工标注</a:t>
            </a:r>
            <a:r>
              <a:rPr lang="en-US" altLang="ja-JP" sz="1200" b="1" i="0" u="none" strike="noStrike" kern="1200" dirty="0">
                <a:solidFill>
                  <a:srgbClr val="000000">
                    <a:alpha val="100000"/>
                  </a:srgbClr>
                </a:solidFill>
                <a:effectLst/>
                <a:latin typeface="等线"/>
                <a:ea typeface="+mn-ea"/>
                <a:cs typeface="+mn-cs"/>
              </a:rPr>
              <a:t>89%</a:t>
            </a:r>
            <a:r>
              <a:rPr lang="zh-CN" altLang="ja-JP" sz="1200" b="1" i="0" u="none" strike="noStrike" kern="1200" dirty="0">
                <a:solidFill>
                  <a:srgbClr val="000000">
                    <a:alpha val="100000"/>
                  </a:srgbClr>
                </a:solidFill>
                <a:effectLst/>
                <a:latin typeface="等线"/>
                <a:ea typeface="+mn-ea"/>
                <a:cs typeface="+mn-cs"/>
              </a:rPr>
              <a:t>的水平</a:t>
            </a:r>
            <a:r>
              <a:rPr lang="zh-CN" altLang="ja-JP" sz="1200" b="0" i="0" u="none" strike="noStrike" kern="1200" dirty="0">
                <a:solidFill>
                  <a:srgbClr val="000000">
                    <a:alpha val="100000"/>
                  </a:srgbClr>
                </a:solidFill>
                <a:effectLst/>
                <a:latin typeface="等线"/>
                <a:ea typeface="+mn-ea"/>
                <a:cs typeface="+mn-cs"/>
              </a:rPr>
              <a:t>，冷启动方案切实可行。</a:t>
            </a:r>
            <a:endParaRPr lang="ja-JP" altLang="ja-JP" sz="1200" b="0" i="0" u="none" strike="noStrike" kern="1200" dirty="0">
              <a:solidFill>
                <a:srgbClr val="000000">
                  <a:alpha val="100000"/>
                </a:srgbClr>
              </a:solidFill>
              <a:effectLst/>
              <a:latin typeface="等线"/>
              <a:ea typeface="+mn-ea"/>
              <a:cs typeface="+mn-cs"/>
            </a:endParaRPr>
          </a:p>
          <a:p>
            <a:r>
              <a:rPr lang="en-US" altLang="ja-JP" sz="1200" b="1" i="0" u="none" strike="noStrike" kern="1200" dirty="0">
                <a:solidFill>
                  <a:srgbClr val="000000">
                    <a:alpha val="100000"/>
                  </a:srgbClr>
                </a:solidFill>
                <a:effectLst/>
                <a:latin typeface="等线"/>
                <a:ea typeface="+mn-ea"/>
                <a:cs typeface="+mn-cs"/>
              </a:rPr>
              <a:t>SAM3</a:t>
            </a:r>
            <a:r>
              <a:rPr lang="zh-CN" altLang="ja-JP" sz="1200" b="1" i="0" u="none" strike="noStrike" kern="1200" dirty="0">
                <a:solidFill>
                  <a:srgbClr val="000000">
                    <a:alpha val="100000"/>
                  </a:srgbClr>
                </a:solidFill>
                <a:effectLst/>
                <a:latin typeface="等线"/>
                <a:ea typeface="+mn-ea"/>
                <a:cs typeface="+mn-cs"/>
              </a:rPr>
              <a:t>（审核）角色</a:t>
            </a:r>
            <a:r>
              <a:rPr lang="zh-CN" altLang="en-US" sz="1200" b="1" i="0" u="none" strike="noStrike" kern="1200" dirty="0">
                <a:solidFill>
                  <a:srgbClr val="000000">
                    <a:alpha val="100000"/>
                  </a:srgbClr>
                </a:solidFill>
                <a:effectLst/>
                <a:latin typeface="等线"/>
                <a:ea typeface="+mn-ea"/>
                <a:cs typeface="+mn-cs"/>
              </a:rPr>
              <a:t>：</a:t>
            </a:r>
            <a:r>
              <a:rPr lang="ja-JP" altLang="ja-JP" sz="1200" b="0" i="0" u="none" strike="noStrike" kern="1200" dirty="0">
                <a:solidFill>
                  <a:srgbClr val="000000">
                    <a:alpha val="100000"/>
                  </a:srgbClr>
                </a:solidFill>
                <a:effectLst/>
                <a:latin typeface="等线"/>
                <a:ea typeface="+mn-ea"/>
                <a:cs typeface="+mn-cs"/>
              </a:rPr>
              <a:t> </a:t>
            </a:r>
            <a:r>
              <a:rPr lang="zh-CN" altLang="ja-JP" sz="1200" b="0" i="0" u="none" strike="noStrike" kern="1200" dirty="0">
                <a:solidFill>
                  <a:srgbClr val="000000">
                    <a:alpha val="100000"/>
                  </a:srgbClr>
                </a:solidFill>
                <a:effectLst/>
                <a:latin typeface="等线"/>
                <a:ea typeface="+mn-ea"/>
                <a:cs typeface="+mn-cs"/>
              </a:rPr>
              <a:t>提升稳健、可复现</a:t>
            </a:r>
            <a:endParaRPr lang="en-US" altLang="zh-CN" sz="1200" b="0" i="0" u="none" strike="noStrike" kern="1200" dirty="0">
              <a:solidFill>
                <a:srgbClr val="000000">
                  <a:alpha val="100000"/>
                </a:srgbClr>
              </a:solidFill>
              <a:effectLst/>
              <a:latin typeface="等线"/>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1" i="0" u="none" strike="noStrike" kern="1200" dirty="0">
                <a:solidFill>
                  <a:srgbClr val="000000">
                    <a:alpha val="100000"/>
                  </a:srgbClr>
                </a:solidFill>
                <a:effectLst/>
                <a:latin typeface="等线"/>
                <a:ea typeface="+mn-ea"/>
                <a:cs typeface="+mn-cs"/>
              </a:rPr>
              <a:t>SAM3</a:t>
            </a:r>
            <a:r>
              <a:rPr lang="zh-CN" altLang="ja-JP" sz="1200" b="1" i="0" u="none" strike="noStrike" kern="1200" dirty="0">
                <a:solidFill>
                  <a:srgbClr val="000000">
                    <a:alpha val="100000"/>
                  </a:srgbClr>
                </a:solidFill>
                <a:effectLst/>
                <a:latin typeface="等线"/>
                <a:ea typeface="+mn-ea"/>
                <a:cs typeface="+mn-cs"/>
              </a:rPr>
              <a:t>（</a:t>
            </a:r>
            <a:r>
              <a:rPr lang="zh-CN" altLang="en-US" sz="1200" b="1" i="0" u="none" strike="noStrike" kern="1200" dirty="0">
                <a:solidFill>
                  <a:srgbClr val="000000">
                    <a:alpha val="100000"/>
                  </a:srgbClr>
                </a:solidFill>
                <a:effectLst/>
                <a:latin typeface="等线"/>
                <a:ea typeface="+mn-ea"/>
                <a:cs typeface="+mn-cs"/>
              </a:rPr>
              <a:t>补漏</a:t>
            </a:r>
            <a:r>
              <a:rPr lang="zh-CN" altLang="ja-JP" sz="1200" b="1" i="0" u="none" strike="noStrike" kern="1200" dirty="0">
                <a:solidFill>
                  <a:srgbClr val="000000">
                    <a:alpha val="100000"/>
                  </a:srgbClr>
                </a:solidFill>
                <a:effectLst/>
                <a:latin typeface="等线"/>
                <a:ea typeface="+mn-ea"/>
                <a:cs typeface="+mn-cs"/>
              </a:rPr>
              <a:t>）角色</a:t>
            </a:r>
            <a:r>
              <a:rPr lang="zh-CN" altLang="en-US" sz="1200" b="1" i="0" u="none" strike="noStrike" kern="1200" dirty="0">
                <a:solidFill>
                  <a:srgbClr val="000000">
                    <a:alpha val="100000"/>
                  </a:srgbClr>
                </a:solidFill>
                <a:effectLst/>
                <a:latin typeface="等线"/>
                <a:ea typeface="+mn-ea"/>
                <a:cs typeface="+mn-cs"/>
              </a:rPr>
              <a:t>：</a:t>
            </a:r>
            <a:r>
              <a:rPr lang="zh-CN" altLang="ja-JP" sz="1200" b="0" i="0" u="none" strike="noStrike" kern="1200" dirty="0">
                <a:solidFill>
                  <a:srgbClr val="000000">
                    <a:alpha val="100000"/>
                  </a:srgbClr>
                </a:solidFill>
                <a:effectLst/>
                <a:latin typeface="等线"/>
                <a:ea typeface="+mn-ea"/>
                <a:cs typeface="+mn-cs"/>
              </a:rPr>
              <a:t>配套提出了针对火烟的</a:t>
            </a:r>
            <a:r>
              <a:rPr lang="en-US" altLang="ja-JP" sz="1200" b="1" i="0" u="none" strike="noStrike" kern="1200" dirty="0" err="1">
                <a:solidFill>
                  <a:srgbClr val="000000">
                    <a:alpha val="100000"/>
                  </a:srgbClr>
                </a:solidFill>
                <a:effectLst/>
                <a:latin typeface="等线"/>
                <a:ea typeface="+mn-ea"/>
                <a:cs typeface="+mn-cs"/>
              </a:rPr>
              <a:t>IoF</a:t>
            </a:r>
            <a:r>
              <a:rPr lang="zh-CN" altLang="ja-JP" sz="1200" b="1" i="0" u="none" strike="noStrike" kern="1200" dirty="0">
                <a:solidFill>
                  <a:srgbClr val="000000">
                    <a:alpha val="100000"/>
                  </a:srgbClr>
                </a:solidFill>
                <a:effectLst/>
                <a:latin typeface="等线"/>
                <a:ea typeface="+mn-ea"/>
                <a:cs typeface="+mn-cs"/>
              </a:rPr>
              <a:t>包含率过滤与保守验证策略</a:t>
            </a:r>
            <a:r>
              <a:rPr lang="zh-CN" altLang="en-US" sz="1200" b="1" i="0" u="none" strike="noStrike" kern="1200" dirty="0">
                <a:solidFill>
                  <a:srgbClr val="000000">
                    <a:alpha val="100000"/>
                  </a:srgbClr>
                </a:solidFill>
                <a:effectLst/>
                <a:latin typeface="等线"/>
                <a:ea typeface="+mn-ea"/>
                <a:cs typeface="+mn-cs"/>
              </a:rPr>
              <a:t>下，</a:t>
            </a:r>
            <a:r>
              <a:rPr lang="zh-CN" altLang="ja-JP" sz="1200" b="0" i="0" u="none" strike="noStrike" kern="1200" dirty="0">
                <a:solidFill>
                  <a:srgbClr val="000000">
                    <a:alpha val="100000"/>
                  </a:srgbClr>
                </a:solidFill>
                <a:effectLst/>
                <a:latin typeface="等线"/>
                <a:ea typeface="+mn-ea"/>
                <a:cs typeface="+mn-cs"/>
              </a:rPr>
              <a:t>能够有效找回漏检目标</a:t>
            </a:r>
            <a:endParaRPr lang="en-US" altLang="zh-CN" sz="1200" b="0" i="0" u="none" strike="noStrike" kern="1200" dirty="0">
              <a:solidFill>
                <a:srgbClr val="000000">
                  <a:alpha val="100000"/>
                </a:srgbClr>
              </a:solidFill>
              <a:effectLst/>
              <a:latin typeface="等线"/>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1" i="0" u="none" strike="noStrike" kern="1200" dirty="0">
                <a:solidFill>
                  <a:srgbClr val="000000">
                    <a:alpha val="100000"/>
                  </a:srgbClr>
                </a:solidFill>
                <a:effectLst/>
                <a:latin typeface="等线"/>
                <a:ea typeface="+mn-ea"/>
                <a:cs typeface="+mn-cs"/>
              </a:rPr>
              <a:t>SAM3</a:t>
            </a:r>
            <a:r>
              <a:rPr lang="zh-CN" altLang="ja-JP" sz="1200" b="1" i="0" u="none" strike="noStrike" kern="1200" dirty="0">
                <a:solidFill>
                  <a:srgbClr val="000000">
                    <a:alpha val="100000"/>
                  </a:srgbClr>
                </a:solidFill>
                <a:effectLst/>
                <a:latin typeface="等线"/>
                <a:ea typeface="+mn-ea"/>
                <a:cs typeface="+mn-cs"/>
              </a:rPr>
              <a:t>（</a:t>
            </a:r>
            <a:r>
              <a:rPr lang="zh-CN" altLang="en-US" sz="1200" b="1" i="0" u="none" strike="noStrike" kern="1200" dirty="0">
                <a:solidFill>
                  <a:srgbClr val="000000">
                    <a:alpha val="100000"/>
                  </a:srgbClr>
                </a:solidFill>
                <a:effectLst/>
                <a:latin typeface="等线"/>
                <a:ea typeface="+mn-ea"/>
                <a:cs typeface="+mn-cs"/>
              </a:rPr>
              <a:t>调框</a:t>
            </a:r>
            <a:r>
              <a:rPr lang="zh-CN" altLang="ja-JP" sz="1200" b="1" i="0" u="none" strike="noStrike" kern="1200" dirty="0">
                <a:solidFill>
                  <a:srgbClr val="000000">
                    <a:alpha val="100000"/>
                  </a:srgbClr>
                </a:solidFill>
                <a:effectLst/>
                <a:latin typeface="等线"/>
                <a:ea typeface="+mn-ea"/>
                <a:cs typeface="+mn-cs"/>
              </a:rPr>
              <a:t>）角色</a:t>
            </a:r>
            <a:r>
              <a:rPr lang="zh-CN" altLang="en-US" sz="1200" b="1" i="0" u="none" strike="noStrike" kern="1200" dirty="0">
                <a:solidFill>
                  <a:srgbClr val="000000">
                    <a:alpha val="100000"/>
                  </a:srgbClr>
                </a:solidFill>
                <a:effectLst/>
                <a:latin typeface="等线"/>
                <a:ea typeface="+mn-ea"/>
                <a:cs typeface="+mn-cs"/>
              </a:rPr>
              <a:t>：性能严重恶化</a:t>
            </a:r>
            <a:r>
              <a:rPr lang="zh-CN" altLang="ja-JP" sz="1200" b="1" i="0" u="none" strike="noStrike" kern="1200" dirty="0">
                <a:solidFill>
                  <a:srgbClr val="000000">
                    <a:alpha val="100000"/>
                  </a:srgbClr>
                </a:solidFill>
                <a:effectLst/>
                <a:latin typeface="等线"/>
                <a:ea typeface="+mn-ea"/>
                <a:cs typeface="+mn-cs"/>
              </a:rPr>
              <a:t>直接停掉</a:t>
            </a:r>
            <a:r>
              <a:rPr lang="zh-CN" altLang="ja-JP" sz="1200" b="0" i="0" u="none" strike="noStrike" kern="1200" dirty="0">
                <a:solidFill>
                  <a:srgbClr val="000000">
                    <a:alpha val="100000"/>
                  </a:srgbClr>
                </a:solidFill>
                <a:effectLst/>
                <a:latin typeface="等线"/>
                <a:ea typeface="+mn-ea"/>
                <a:cs typeface="+mn-cs"/>
              </a:rPr>
              <a:t>明了</a:t>
            </a:r>
            <a:r>
              <a:rPr lang="en-US" altLang="ja-JP" sz="1200" b="0" i="0" u="none" strike="noStrike" kern="1200" dirty="0">
                <a:solidFill>
                  <a:srgbClr val="000000">
                    <a:alpha val="100000"/>
                  </a:srgbClr>
                </a:solidFill>
                <a:effectLst/>
                <a:latin typeface="等线"/>
                <a:ea typeface="+mn-ea"/>
                <a:cs typeface="+mn-cs"/>
              </a:rPr>
              <a:t>“</a:t>
            </a:r>
            <a:r>
              <a:rPr lang="zh-CN" altLang="ja-JP" sz="1200" b="0" i="0" u="none" strike="noStrike" kern="1200" dirty="0">
                <a:solidFill>
                  <a:srgbClr val="000000">
                    <a:alpha val="100000"/>
                  </a:srgbClr>
                </a:solidFill>
                <a:effectLst/>
                <a:latin typeface="等线"/>
                <a:ea typeface="+mn-ea"/>
                <a:cs typeface="+mn-cs"/>
              </a:rPr>
              <a:t>分割越精细未必越适合目标检测</a:t>
            </a:r>
            <a:r>
              <a:rPr lang="en-US" altLang="ja-JP" sz="1200" b="0" i="0" u="none" strike="noStrike" kern="1200" dirty="0">
                <a:solidFill>
                  <a:srgbClr val="000000">
                    <a:alpha val="100000"/>
                  </a:srgbClr>
                </a:solidFill>
                <a:effectLst/>
                <a:latin typeface="等线"/>
                <a:ea typeface="+mn-ea"/>
                <a:cs typeface="+mn-cs"/>
              </a:rPr>
              <a:t>”</a:t>
            </a:r>
            <a:r>
              <a:rPr lang="zh-CN" altLang="ja-JP" sz="1200" b="0" i="0" u="none" strike="noStrike" kern="1200" dirty="0">
                <a:solidFill>
                  <a:srgbClr val="000000">
                    <a:alpha val="100000"/>
                  </a:srgbClr>
                </a:solidFill>
                <a:effectLst/>
                <a:latin typeface="等线"/>
                <a:ea typeface="+mn-ea"/>
                <a:cs typeface="+mn-cs"/>
              </a:rPr>
              <a:t>，印证了我们对其进行权限约束的必要性。</a:t>
            </a:r>
            <a:endParaRPr lang="ja-JP" altLang="ja-JP" sz="1200" b="0" i="0" u="none" strike="noStrike" kern="1200" dirty="0">
              <a:solidFill>
                <a:srgbClr val="000000">
                  <a:alpha val="100000"/>
                </a:srgbClr>
              </a:solidFill>
              <a:effectLst/>
              <a:latin typeface="等线"/>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u="none" strike="noStrike" kern="1200" dirty="0">
              <a:solidFill>
                <a:srgbClr val="000000">
                  <a:alpha val="100000"/>
                </a:srgbClr>
              </a:solidFill>
              <a:effectLst/>
              <a:latin typeface="等线"/>
              <a:ea typeface="+mn-ea"/>
              <a:cs typeface="+mn-cs"/>
            </a:endParaRPr>
          </a:p>
          <a:p>
            <a:endParaRPr lang="zh-CN" altLang="en-US" sz="1200" b="0" i="0" u="none" strike="noStrike" kern="1200" dirty="0">
              <a:solidFill>
                <a:srgbClr val="000000">
                  <a:alpha val="100000"/>
                </a:srgbClr>
              </a:solidFill>
              <a:effectLst/>
              <a:latin typeface="等线"/>
              <a:ea typeface="+mn-ea"/>
              <a:cs typeface="+mn-cs"/>
            </a:endParaRPr>
          </a:p>
        </p:txBody>
      </p:sp>
      <p:sp>
        <p:nvSpPr>
          <p:cNvPr id="6" name="Footer Placeholder 5">
            <a:extLst>
              <a:ext uri="{FF2B5EF4-FFF2-40B4-BE49-F238E27FC236}">
                <a16:creationId xmlns:a16="http://schemas.microsoft.com/office/drawing/2014/main" id="{BA905ADE-19A3-34B1-1ED4-49774182C68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48FB220-D2C8-63C9-2061-3121B0C9277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5707093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defTabSz="914400">
              <a:lnSpc>
                <a:spcPct val="100000"/>
              </a:lnSpc>
              <a:defRPr sz="1400" b="0" i="0" u="none" strike="noStrike">
                <a:solidFill>
                  <a:srgbClr val="000000">
                    <a:alpha val="100000"/>
                  </a:srgbClr>
                </a:solidFill>
                <a:latin typeface="Aria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ja-JP" sz="1400" b="0" i="0" u="none" strike="noStrike" kern="1200" dirty="0">
                <a:solidFill>
                  <a:srgbClr val="000000">
                    <a:alpha val="100000"/>
                  </a:srgbClr>
                </a:solidFill>
                <a:effectLst/>
                <a:latin typeface="Arial"/>
                <a:ea typeface="+mn-ea"/>
                <a:cs typeface="+mn-cs"/>
              </a:rPr>
              <a:t>这是稳定性实验</a:t>
            </a:r>
            <a:endParaRPr lang="ja-JP" altLang="ja-JP" sz="1400" b="0" i="0" u="none" strike="noStrike" kern="1200" dirty="0">
              <a:solidFill>
                <a:srgbClr val="000000">
                  <a:alpha val="100000"/>
                </a:srgbClr>
              </a:solidFill>
              <a:effectLst/>
              <a:latin typeface="Arial"/>
              <a:ea typeface="+mn-ea"/>
              <a:cs typeface="+mn-cs"/>
            </a:endParaRPr>
          </a:p>
          <a:p>
            <a:pPr marL="0" indent="0" algn="l" defTabSz="914400">
              <a:lnSpc>
                <a:spcPct val="100000"/>
              </a:lnSpc>
            </a:pPr>
            <a:endParaRPr lang="en-US" sz="1400" b="0" i="0" u="none" strike="noStrike" dirty="0">
              <a:solidFill>
                <a:srgbClr val="000000"/>
              </a:solidFill>
              <a:latin typeface="Arial"/>
              <a:ea typeface="Arial"/>
              <a:cs typeface="Arial"/>
              <a:sym typeface="Aria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D61F5-D6FA-F59C-08A4-50B26CC59B3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0203719-28FC-0006-AA64-575745C9A9B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E5251939-16CE-C4E1-7721-AE5DE7955F2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19A258A-00E5-4AB6-3927-63EDA4B77E7E}"/>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4FE8103-F126-1566-987C-A5D4EC7B9519}"/>
              </a:ext>
            </a:extLst>
          </p:cNvPr>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i="0" u="none" strike="noStrike" kern="1200" dirty="0">
                <a:solidFill>
                  <a:srgbClr val="000000">
                    <a:alpha val="100000"/>
                  </a:srgbClr>
                </a:solidFill>
                <a:effectLst/>
                <a:latin typeface="等线"/>
                <a:ea typeface="+mn-ea"/>
                <a:cs typeface="+mn-cs"/>
              </a:rPr>
              <a:t>下游效果：</a:t>
            </a:r>
            <a:r>
              <a:rPr lang="zh-CN" altLang="en-US" sz="1200" b="0" i="0" u="none" strike="noStrike" kern="1200" dirty="0">
                <a:solidFill>
                  <a:srgbClr val="000000">
                    <a:alpha val="100000"/>
                  </a:srgbClr>
                </a:solidFill>
                <a:effectLst/>
                <a:latin typeface="等线"/>
                <a:ea typeface="+mn-ea"/>
                <a:cs typeface="+mn-cs"/>
              </a:rPr>
              <a:t> 这是目前使用现有伪标签训练好的</a:t>
            </a:r>
            <a:r>
              <a:rPr lang="en-US" altLang="zh-CN" sz="1200" b="0" i="0" u="none" strike="noStrike" kern="1200" dirty="0">
                <a:solidFill>
                  <a:srgbClr val="000000">
                    <a:alpha val="100000"/>
                  </a:srgbClr>
                </a:solidFill>
                <a:effectLst/>
                <a:latin typeface="等线"/>
                <a:ea typeface="+mn-ea"/>
                <a:cs typeface="+mn-cs"/>
              </a:rPr>
              <a:t>YOLO</a:t>
            </a:r>
            <a:r>
              <a:rPr lang="zh-CN" altLang="en-US" sz="1200" b="0" i="0" u="none" strike="noStrike" kern="1200" dirty="0">
                <a:solidFill>
                  <a:srgbClr val="000000">
                    <a:alpha val="100000"/>
                  </a:srgbClr>
                </a:solidFill>
                <a:effectLst/>
                <a:latin typeface="等线"/>
                <a:ea typeface="+mn-ea"/>
                <a:cs typeface="+mn-cs"/>
              </a:rPr>
              <a:t>模型在测试集上的实际效果表现</a:t>
            </a:r>
          </a:p>
          <a:p>
            <a:pPr marL="0" indent="0" algn="l" defTabSz="914400">
              <a:lnSpc>
                <a:spcPct val="100000"/>
              </a:lnSpc>
            </a:pPr>
            <a:endParaRPr lang="en-US" sz="1200" b="0" i="0" u="none" strike="noStrike" dirty="0">
              <a:solidFill>
                <a:srgbClr val="000000"/>
              </a:solidFill>
              <a:latin typeface="等线"/>
              <a:ea typeface="等线"/>
              <a:cs typeface="等线"/>
              <a:sym typeface="等线"/>
            </a:endParaRPr>
          </a:p>
        </p:txBody>
      </p:sp>
      <p:sp>
        <p:nvSpPr>
          <p:cNvPr id="6" name="Footer Placeholder 5">
            <a:extLst>
              <a:ext uri="{FF2B5EF4-FFF2-40B4-BE49-F238E27FC236}">
                <a16:creationId xmlns:a16="http://schemas.microsoft.com/office/drawing/2014/main" id="{58AD02F9-DE3E-4D1D-9B77-2D8428AC7D2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9384C46-B7C4-A99C-55AA-1CC22F23725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5520444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C9F7F-9B12-0DC1-997D-4B1C59631EE4}"/>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04B4A2B-5D6E-1314-3F8A-08BF8704B59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E8A1FF7-D056-3D30-9BA6-357EA9B3010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78825D3-8222-3D45-294A-6AAFC0DB203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B9B50AF-18FF-2F5F-6FD8-214D9221E272}"/>
              </a:ext>
            </a:extLst>
          </p:cNvPr>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endParaRPr lang="en-US" sz="1200" b="0" i="0" u="none" strike="noStrike" dirty="0">
              <a:solidFill>
                <a:srgbClr val="000000"/>
              </a:solidFill>
              <a:latin typeface="等线"/>
              <a:ea typeface="等线"/>
              <a:cs typeface="等线"/>
              <a:sym typeface="等线"/>
            </a:endParaRPr>
          </a:p>
        </p:txBody>
      </p:sp>
      <p:sp>
        <p:nvSpPr>
          <p:cNvPr id="6" name="Footer Placeholder 5">
            <a:extLst>
              <a:ext uri="{FF2B5EF4-FFF2-40B4-BE49-F238E27FC236}">
                <a16:creationId xmlns:a16="http://schemas.microsoft.com/office/drawing/2014/main" id="{5E02B6F0-CC4B-5FEB-6FDB-055FAEBE876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A9F3D65-DA1D-F6CB-E88C-AB48FAB1A58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8386441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52892-9684-A966-346C-5EBE77F4F6C7}"/>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192108-9F75-8794-83ED-6D19F5ED673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EF27E1C-DC06-FCC1-903A-E61304B24A8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60A55FAB-A164-487B-066F-E45B050864A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FB2B0277-ADDD-2D2B-34F2-D73EEC880FC9}"/>
              </a:ext>
            </a:extLst>
          </p:cNvPr>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endParaRPr lang="en-US" sz="1200" b="0" i="0" u="none" strike="noStrike" dirty="0">
              <a:solidFill>
                <a:srgbClr val="000000"/>
              </a:solidFill>
              <a:latin typeface="等线"/>
              <a:ea typeface="等线"/>
              <a:cs typeface="等线"/>
              <a:sym typeface="等线"/>
            </a:endParaRPr>
          </a:p>
        </p:txBody>
      </p:sp>
      <p:sp>
        <p:nvSpPr>
          <p:cNvPr id="6" name="Footer Placeholder 5">
            <a:extLst>
              <a:ext uri="{FF2B5EF4-FFF2-40B4-BE49-F238E27FC236}">
                <a16:creationId xmlns:a16="http://schemas.microsoft.com/office/drawing/2014/main" id="{ED73D26D-B2DE-6BC5-6491-187B08EEC14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1096AA9-2E72-DEAB-953E-3092B434583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1456289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zh-CN" altLang="en-US" sz="1200" b="0" i="0" u="none" strike="noStrike" kern="1200" dirty="0">
                <a:solidFill>
                  <a:srgbClr val="000000">
                    <a:alpha val="100000"/>
                  </a:srgbClr>
                </a:solidFill>
                <a:effectLst/>
                <a:latin typeface="等线"/>
                <a:ea typeface="+mn-ea"/>
                <a:cs typeface="+mn-cs"/>
              </a:rPr>
              <a:t>后续 </a:t>
            </a:r>
            <a:r>
              <a:rPr lang="zh-CN" altLang="zh-CN" sz="1200" b="0" i="0" u="none" strike="noStrike" kern="1200" dirty="0">
                <a:solidFill>
                  <a:srgbClr val="000000">
                    <a:alpha val="100000"/>
                  </a:srgbClr>
                </a:solidFill>
                <a:effectLst/>
                <a:latin typeface="等线"/>
                <a:ea typeface="+mn-ea"/>
                <a:cs typeface="+mn-cs"/>
              </a:rPr>
              <a:t>先完成SAM3角色的稳定性筛选</a:t>
            </a:r>
            <a:r>
              <a:rPr lang="zh-CN" altLang="en-US" sz="1200" b="0" i="0" u="none" strike="noStrike" kern="1200" dirty="0">
                <a:solidFill>
                  <a:srgbClr val="000000">
                    <a:alpha val="100000"/>
                  </a:srgbClr>
                </a:solidFill>
                <a:effectLst/>
                <a:latin typeface="等线"/>
                <a:ea typeface="+mn-ea"/>
                <a:cs typeface="+mn-cs"/>
              </a:rPr>
              <a:t>并</a:t>
            </a:r>
            <a:r>
              <a:rPr lang="zh-CN" altLang="zh-CN" sz="1200" b="0" i="0" u="none" strike="noStrike" kern="1200" dirty="0">
                <a:solidFill>
                  <a:srgbClr val="000000">
                    <a:alpha val="100000"/>
                  </a:srgbClr>
                </a:solidFill>
                <a:effectLst/>
                <a:latin typeface="等线"/>
                <a:ea typeface="+mn-ea"/>
                <a:cs typeface="+mn-cs"/>
              </a:rPr>
              <a:t>完善标签质量评价体系和</a:t>
            </a:r>
            <a:r>
              <a:rPr lang="zh-CN" altLang="en-US" sz="1200" b="0" i="0" u="none" strike="noStrike" kern="1200" dirty="0">
                <a:solidFill>
                  <a:srgbClr val="000000">
                    <a:alpha val="100000"/>
                  </a:srgbClr>
                </a:solidFill>
                <a:effectLst/>
                <a:latin typeface="等线"/>
                <a:ea typeface="+mn-ea"/>
                <a:cs typeface="+mn-cs"/>
              </a:rPr>
              <a:t>验证</a:t>
            </a:r>
            <a:r>
              <a:rPr lang="zh-CN" altLang="zh-CN" sz="1200" b="0" i="0" u="none" strike="noStrike" kern="1200" dirty="0">
                <a:solidFill>
                  <a:srgbClr val="000000">
                    <a:alpha val="100000"/>
                  </a:srgbClr>
                </a:solidFill>
                <a:effectLst/>
                <a:latin typeface="等线"/>
                <a:ea typeface="+mn-ea"/>
                <a:cs typeface="+mn-cs"/>
              </a:rPr>
              <a:t>；</a:t>
            </a:r>
            <a:r>
              <a:rPr lang="zh-CN" altLang="en-US" sz="1200" b="0" i="0" u="none" strike="noStrike" kern="1200">
                <a:solidFill>
                  <a:srgbClr val="000000">
                    <a:alpha val="100000"/>
                  </a:srgbClr>
                </a:solidFill>
                <a:effectLst/>
                <a:latin typeface="等线"/>
                <a:ea typeface="+mn-ea"/>
                <a:cs typeface="+mn-cs"/>
              </a:rPr>
              <a:t>再探索下多目标优化算法和</a:t>
            </a:r>
            <a:r>
              <a:rPr lang="zh-CN" altLang="zh-CN" sz="1200" b="0" i="0" u="none" strike="noStrike" kern="1200">
                <a:solidFill>
                  <a:srgbClr val="000000">
                    <a:alpha val="100000"/>
                  </a:srgbClr>
                </a:solidFill>
                <a:effectLst/>
                <a:latin typeface="等线"/>
                <a:ea typeface="+mn-ea"/>
                <a:cs typeface="+mn-cs"/>
              </a:rPr>
              <a:t>完成多规模</a:t>
            </a:r>
            <a:r>
              <a:rPr lang="zh-CN" altLang="zh-CN" sz="1200" b="0" i="0" u="none" strike="noStrike" kern="1200" dirty="0">
                <a:solidFill>
                  <a:srgbClr val="000000">
                    <a:alpha val="100000"/>
                  </a:srgbClr>
                </a:solidFill>
                <a:effectLst/>
                <a:latin typeface="等线"/>
                <a:ea typeface="+mn-ea"/>
                <a:cs typeface="+mn-cs"/>
              </a:rPr>
              <a:t>成本测算、</a:t>
            </a:r>
            <a:r>
              <a:rPr lang="zh-CN" altLang="zh-CN" sz="1200" b="0" i="0" u="none" strike="noStrike" kern="1200">
                <a:solidFill>
                  <a:srgbClr val="000000">
                    <a:alpha val="100000"/>
                  </a:srgbClr>
                </a:solidFill>
                <a:effectLst/>
                <a:latin typeface="等线"/>
                <a:ea typeface="+mn-ea"/>
                <a:cs typeface="+mn-cs"/>
              </a:rPr>
              <a:t>Pareto选型</a:t>
            </a:r>
            <a:r>
              <a:rPr lang="zh-CN" altLang="en-US" sz="1200" b="0" i="0" u="none" strike="noStrike" kern="1200">
                <a:solidFill>
                  <a:srgbClr val="000000">
                    <a:alpha val="100000"/>
                  </a:srgbClr>
                </a:solidFill>
                <a:effectLst/>
                <a:latin typeface="等线"/>
                <a:ea typeface="+mn-ea"/>
                <a:cs typeface="+mn-cs"/>
              </a:rPr>
              <a:t>，最后进行</a:t>
            </a:r>
            <a:r>
              <a:rPr lang="zh-CN" altLang="zh-CN" sz="1200" b="0" i="0" u="none" strike="noStrike" kern="1200">
                <a:solidFill>
                  <a:srgbClr val="000000">
                    <a:alpha val="100000"/>
                  </a:srgbClr>
                </a:solidFill>
                <a:effectLst/>
                <a:latin typeface="等线"/>
                <a:ea typeface="+mn-ea"/>
                <a:cs typeface="+mn-cs"/>
              </a:rPr>
              <a:t>论文撰</a:t>
            </a:r>
            <a:r>
              <a:rPr lang="zh-CN" altLang="zh-CN" sz="1200" b="0" i="0" u="none" strike="noStrike" kern="1200" dirty="0">
                <a:solidFill>
                  <a:srgbClr val="000000">
                    <a:alpha val="100000"/>
                  </a:srgbClr>
                </a:solidFill>
                <a:effectLst/>
                <a:latin typeface="等线"/>
                <a:ea typeface="+mn-ea"/>
                <a:cs typeface="+mn-cs"/>
              </a:rPr>
              <a:t>写。</a:t>
            </a:r>
            <a:endParaRPr lang="en-US" sz="12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1143000" y="841772"/>
            <a:ext cx="6858000" cy="1790700"/>
          </a:xfrm>
          <a:prstGeom prst="rect">
            <a:avLst/>
          </a:prstGeom>
          <a:noFill/>
          <a:ln w="12700">
            <a:noFill/>
            <a:prstDash val="solid"/>
          </a:ln>
        </p:spPr>
        <p:txBody>
          <a:bodyPr wrap="square" lIns="68575" tIns="34275" rIns="68575" bIns="34275" anchor="b">
            <a:normAutofit/>
          </a:bodyPr>
          <a:lstStyle>
            <a:lvl1pPr algn="ctr">
              <a:lnSpc>
                <a:spcPct val="91666"/>
              </a:lnSpc>
              <a:defRPr sz="4500" b="1" i="0" u="none" strike="noStrike" spc="0">
                <a:solidFill>
                  <a:srgbClr val="1F2329">
                    <a:alpha val="100000"/>
                  </a:srgbClr>
                </a:solidFill>
                <a:latin typeface="Noto Sans SC"/>
              </a:defRPr>
            </a:lvl1pPr>
          </a:lstStyle>
          <a:p>
            <a:pPr marL="0" indent="0" algn="ctr">
              <a:lnSpc>
                <a:spcPct val="91666"/>
              </a:lnSpc>
            </a:pPr>
            <a:r>
              <a:rPr lang="en-US" sz="45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7" hasCustomPrompt="1"/>
          </p:nvPr>
        </p:nvSpPr>
        <p:spPr>
          <a:xfrm>
            <a:off x="1143000" y="2701528"/>
            <a:ext cx="6858000" cy="1241821"/>
          </a:xfrm>
          <a:prstGeom prst="rect">
            <a:avLst/>
          </a:prstGeom>
          <a:noFill/>
          <a:ln w="12700">
            <a:noFill/>
            <a:prstDash val="solid"/>
          </a:ln>
        </p:spPr>
        <p:txBody>
          <a:bodyPr wrap="square" lIns="68575" tIns="34275" rIns="68575" bIns="34275" anchor="t">
            <a:normAutofit/>
          </a:bodyPr>
          <a:lstStyle>
            <a:lvl1pPr algn="ctr">
              <a:lnSpc>
                <a:spcPct val="91666"/>
              </a:lnSpc>
              <a:defRPr sz="1800" b="1" i="0" u="none" strike="noStrike" spc="0">
                <a:solidFill>
                  <a:srgbClr val="1F2329">
                    <a:alpha val="100000"/>
                  </a:srgbClr>
                </a:solidFill>
                <a:latin typeface="Noto Sans SC"/>
              </a:defRPr>
            </a:lvl1pPr>
          </a:lstStyle>
          <a:p>
            <a:pPr marL="457200" indent="-361950" algn="ctr">
              <a:lnSpc>
                <a:spcPct val="91666"/>
              </a:lnSpc>
              <a:spcBef>
                <a:spcPts val="800"/>
              </a:spcBef>
            </a:pPr>
            <a:r>
              <a:rPr lang="en-US" sz="1800" b="0" i="0" u="none" strike="noStrike">
                <a:solidFill>
                  <a:srgbClr val="000000"/>
                </a:solidFill>
                <a:latin typeface="Arial"/>
                <a:ea typeface="Arial"/>
                <a:cs typeface="Arial"/>
                <a:sym typeface="Arial"/>
              </a:rPr>
              <a:t>Click to add subtitle</a:t>
            </a:r>
          </a:p>
        </p:txBody>
      </p:sp>
      <p:sp>
        <p:nvSpPr>
          <p:cNvPr id="4" name="AutoShape 4"/>
          <p:cNvSpPr>
            <a:spLocks noGrp="1"/>
          </p:cNvSpPr>
          <p:nvPr>
            <p:ph type="body" sz="quarter" idx="8"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5" name="AutoShape 5"/>
          <p:cNvSpPr>
            <a:spLocks noGrp="1"/>
          </p:cNvSpPr>
          <p:nvPr>
            <p:ph type="body" sz="quarter" idx="9"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6" name="AutoShape 6"/>
          <p:cNvSpPr>
            <a:spLocks noGrp="1"/>
          </p:cNvSpPr>
          <p:nvPr>
            <p:ph type="body" sz="quarter" idx="10"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CEC384CD-57EF-43FD-907F-029DF5E63226}"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OBJECT">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xfrm>
            <a:off x="628650" y="273844"/>
            <a:ext cx="7886700" cy="994172"/>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12" hasCustomPrompt="1"/>
          </p:nvPr>
        </p:nvSpPr>
        <p:spPr>
          <a:xfrm>
            <a:off x="628650" y="1369219"/>
            <a:ext cx="7886700" cy="3263504"/>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13"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5" name="AutoShape 5"/>
          <p:cNvSpPr>
            <a:spLocks noGrp="1"/>
          </p:cNvSpPr>
          <p:nvPr>
            <p:ph type="body" sz="quarter" idx="14"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6" name="AutoShape 6"/>
          <p:cNvSpPr>
            <a:spLocks noGrp="1"/>
          </p:cNvSpPr>
          <p:nvPr>
            <p:ph type="body" sz="quarter" idx="15"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27C52C2F-0F0A-4498-8A70-B30F57DEB931}"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SECTION_HEADER">
    <p:spTree>
      <p:nvGrpSpPr>
        <p:cNvPr id="1" name=""/>
        <p:cNvGrpSpPr/>
        <p:nvPr/>
      </p:nvGrpSpPr>
      <p:grpSpPr>
        <a:xfrm>
          <a:off x="0" y="0"/>
          <a:ext cx="0" cy="0"/>
          <a:chOff x="0" y="0"/>
          <a:chExt cx="0" cy="0"/>
        </a:xfrm>
      </p:grpSpPr>
      <p:sp>
        <p:nvSpPr>
          <p:cNvPr id="2" name="AutoShape 2"/>
          <p:cNvSpPr>
            <a:spLocks noGrp="1"/>
          </p:cNvSpPr>
          <p:nvPr>
            <p:ph type="body" sz="quarter" idx="16" hasCustomPrompt="1"/>
          </p:nvPr>
        </p:nvSpPr>
        <p:spPr>
          <a:xfrm>
            <a:off x="623888" y="1282304"/>
            <a:ext cx="7886700" cy="2139553"/>
          </a:xfrm>
          <a:prstGeom prst="rect">
            <a:avLst/>
          </a:prstGeom>
          <a:noFill/>
          <a:ln w="12700">
            <a:noFill/>
            <a:prstDash val="solid"/>
          </a:ln>
        </p:spPr>
        <p:txBody>
          <a:bodyPr wrap="square" lIns="68575" tIns="34275" rIns="68575" bIns="34275" anchor="b">
            <a:normAutofit/>
          </a:bodyPr>
          <a:lstStyle>
            <a:lvl1pPr algn="l">
              <a:lnSpc>
                <a:spcPct val="91666"/>
              </a:lnSpc>
              <a:defRPr sz="4500" b="1" i="0" u="none" strike="noStrike" spc="0">
                <a:solidFill>
                  <a:srgbClr val="1F2329">
                    <a:alpha val="100000"/>
                  </a:srgbClr>
                </a:solidFill>
                <a:latin typeface="Noto Sans SC"/>
              </a:defRPr>
            </a:lvl1pPr>
          </a:lstStyle>
          <a:p>
            <a:pPr marL="0" indent="0" algn="l">
              <a:lnSpc>
                <a:spcPct val="91666"/>
              </a:lnSpc>
            </a:pPr>
            <a:r>
              <a:rPr lang="en-US" sz="45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17" hasCustomPrompt="1"/>
          </p:nvPr>
        </p:nvSpPr>
        <p:spPr>
          <a:xfrm>
            <a:off x="623888" y="3442097"/>
            <a:ext cx="7886700" cy="1125140"/>
          </a:xfrm>
          <a:prstGeom prst="rect">
            <a:avLst/>
          </a:prstGeom>
          <a:noFill/>
          <a:ln w="12700">
            <a:noFill/>
            <a:prstDash val="solid"/>
          </a:ln>
        </p:spPr>
        <p:txBody>
          <a:bodyPr wrap="square" lIns="68575" tIns="34275" rIns="68575" bIns="34275" anchor="t">
            <a:normAutofit/>
          </a:bodyPr>
          <a:lstStyle>
            <a:lvl1pPr algn="l">
              <a:lnSpc>
                <a:spcPct val="91666"/>
              </a:lnSpc>
              <a:defRPr sz="1800" b="0" i="0" u="none" strike="noStrike" spc="0">
                <a:solidFill>
                  <a:srgbClr val="1F2329">
                    <a:alpha val="100000"/>
                  </a:srgbClr>
                </a:solidFill>
                <a:latin typeface="Noto Sans SC"/>
              </a:defRPr>
            </a:lvl1pPr>
          </a:lstStyle>
          <a:p>
            <a:pPr marL="457200" indent="-228600" algn="l">
              <a:lnSpc>
                <a:spcPct val="91666"/>
              </a:lnSpc>
              <a:spcBef>
                <a:spcPts val="800"/>
              </a:spcBef>
            </a:pPr>
            <a:r>
              <a:rPr lang="en-US" sz="1800" b="0" i="0" u="none" strike="noStrike">
                <a:solidFill>
                  <a:srgbClr val="888888"/>
                </a:solidFill>
                <a:latin typeface="Arial"/>
                <a:ea typeface="Arial"/>
                <a:cs typeface="Arial"/>
                <a:sym typeface="Arial"/>
              </a:rPr>
              <a:t>Click to add text</a:t>
            </a:r>
          </a:p>
        </p:txBody>
      </p:sp>
      <p:sp>
        <p:nvSpPr>
          <p:cNvPr id="4" name="AutoShape 4"/>
          <p:cNvSpPr>
            <a:spLocks noGrp="1"/>
          </p:cNvSpPr>
          <p:nvPr>
            <p:ph type="body" sz="quarter" idx="18"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5" name="AutoShape 5"/>
          <p:cNvSpPr>
            <a:spLocks noGrp="1"/>
          </p:cNvSpPr>
          <p:nvPr>
            <p:ph type="body" sz="quarter" idx="19"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6" name="AutoShape 6"/>
          <p:cNvSpPr>
            <a:spLocks noGrp="1"/>
          </p:cNvSpPr>
          <p:nvPr>
            <p:ph type="body" sz="quarter" idx="20"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392B1D72-CE4E-4156-B42E-CB42F8310EA6}"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WO_OBJECTS">
    <p:spTree>
      <p:nvGrpSpPr>
        <p:cNvPr id="1" name=""/>
        <p:cNvGrpSpPr/>
        <p:nvPr/>
      </p:nvGrpSpPr>
      <p:grpSpPr>
        <a:xfrm>
          <a:off x="0" y="0"/>
          <a:ext cx="0" cy="0"/>
          <a:chOff x="0" y="0"/>
          <a:chExt cx="0" cy="0"/>
        </a:xfrm>
      </p:grpSpPr>
      <p:sp>
        <p:nvSpPr>
          <p:cNvPr id="2" name="AutoShape 2"/>
          <p:cNvSpPr>
            <a:spLocks noGrp="1"/>
          </p:cNvSpPr>
          <p:nvPr>
            <p:ph type="body" sz="quarter" idx="21" hasCustomPrompt="1"/>
          </p:nvPr>
        </p:nvSpPr>
        <p:spPr>
          <a:xfrm>
            <a:off x="628650" y="273844"/>
            <a:ext cx="7886700" cy="994172"/>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22" hasCustomPrompt="1"/>
          </p:nvPr>
        </p:nvSpPr>
        <p:spPr>
          <a:xfrm>
            <a:off x="628650" y="1369219"/>
            <a:ext cx="3886200" cy="3263504"/>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23" hasCustomPrompt="1"/>
          </p:nvPr>
        </p:nvSpPr>
        <p:spPr>
          <a:xfrm>
            <a:off x="4629150" y="1369219"/>
            <a:ext cx="3886200" cy="3263504"/>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5" name="AutoShape 5"/>
          <p:cNvSpPr>
            <a:spLocks noGrp="1"/>
          </p:cNvSpPr>
          <p:nvPr>
            <p:ph type="body" sz="quarter" idx="24"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6" name="AutoShape 6"/>
          <p:cNvSpPr>
            <a:spLocks noGrp="1"/>
          </p:cNvSpPr>
          <p:nvPr>
            <p:ph type="body" sz="quarter" idx="25"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7" name="AutoShape 7"/>
          <p:cNvSpPr>
            <a:spLocks noGrp="1"/>
          </p:cNvSpPr>
          <p:nvPr>
            <p:ph type="body" sz="quarter" idx="26"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3ECDE5C9-8DC4-4CE3-8FD2-C96064BCBF4A}"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WO_OBJECTS_WITH_TEXT">
    <p:spTree>
      <p:nvGrpSpPr>
        <p:cNvPr id="1" name=""/>
        <p:cNvGrpSpPr/>
        <p:nvPr/>
      </p:nvGrpSpPr>
      <p:grpSpPr>
        <a:xfrm>
          <a:off x="0" y="0"/>
          <a:ext cx="0" cy="0"/>
          <a:chOff x="0" y="0"/>
          <a:chExt cx="0" cy="0"/>
        </a:xfrm>
      </p:grpSpPr>
      <p:sp>
        <p:nvSpPr>
          <p:cNvPr id="2" name="AutoShape 2"/>
          <p:cNvSpPr>
            <a:spLocks noGrp="1"/>
          </p:cNvSpPr>
          <p:nvPr>
            <p:ph type="body" sz="quarter" idx="27" hasCustomPrompt="1"/>
          </p:nvPr>
        </p:nvSpPr>
        <p:spPr>
          <a:xfrm>
            <a:off x="629841" y="273844"/>
            <a:ext cx="7886700" cy="994172"/>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28" hasCustomPrompt="1"/>
          </p:nvPr>
        </p:nvSpPr>
        <p:spPr>
          <a:xfrm>
            <a:off x="629841" y="1260872"/>
            <a:ext cx="3868340" cy="617934"/>
          </a:xfrm>
          <a:prstGeom prst="rect">
            <a:avLst/>
          </a:prstGeom>
          <a:noFill/>
          <a:ln w="12700">
            <a:noFill/>
            <a:prstDash val="solid"/>
          </a:ln>
        </p:spPr>
        <p:txBody>
          <a:bodyPr wrap="square" lIns="68575" tIns="34275" rIns="68575" bIns="34275" anchor="b">
            <a:normAutofit/>
          </a:bodyPr>
          <a:lstStyle>
            <a:lvl1pPr algn="l">
              <a:lnSpc>
                <a:spcPct val="91666"/>
              </a:lnSpc>
              <a:defRPr sz="1800" b="0" i="0" u="none" strike="noStrike" spc="0">
                <a:solidFill>
                  <a:srgbClr val="1F2329">
                    <a:alpha val="100000"/>
                  </a:srgbClr>
                </a:solidFill>
                <a:latin typeface="Noto Sans SC"/>
              </a:defRPr>
            </a:lvl1pPr>
          </a:lstStyle>
          <a:p>
            <a:pPr marL="457200" indent="-228600" algn="l">
              <a:lnSpc>
                <a:spcPct val="91666"/>
              </a:lnSpc>
              <a:spcBef>
                <a:spcPts val="800"/>
              </a:spcBef>
            </a:pPr>
            <a:r>
              <a:rPr lang="en-US" sz="1800" b="1"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29" hasCustomPrompt="1"/>
          </p:nvPr>
        </p:nvSpPr>
        <p:spPr>
          <a:xfrm>
            <a:off x="629841" y="1878806"/>
            <a:ext cx="3868340" cy="2763441"/>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5" name="AutoShape 5"/>
          <p:cNvSpPr>
            <a:spLocks noGrp="1"/>
          </p:cNvSpPr>
          <p:nvPr>
            <p:ph type="body" sz="quarter" idx="30" hasCustomPrompt="1"/>
          </p:nvPr>
        </p:nvSpPr>
        <p:spPr>
          <a:xfrm>
            <a:off x="4629150" y="1260872"/>
            <a:ext cx="3887391" cy="617934"/>
          </a:xfrm>
          <a:prstGeom prst="rect">
            <a:avLst/>
          </a:prstGeom>
          <a:noFill/>
          <a:ln w="12700">
            <a:noFill/>
            <a:prstDash val="solid"/>
          </a:ln>
        </p:spPr>
        <p:txBody>
          <a:bodyPr wrap="square" lIns="68575" tIns="34275" rIns="68575" bIns="34275" anchor="b">
            <a:normAutofit/>
          </a:bodyPr>
          <a:lstStyle>
            <a:lvl1pPr algn="l">
              <a:lnSpc>
                <a:spcPct val="91666"/>
              </a:lnSpc>
              <a:defRPr sz="1800" b="0" i="0" u="none" strike="noStrike" spc="0">
                <a:solidFill>
                  <a:srgbClr val="1F2329">
                    <a:alpha val="100000"/>
                  </a:srgbClr>
                </a:solidFill>
                <a:latin typeface="Noto Sans SC"/>
              </a:defRPr>
            </a:lvl1pPr>
          </a:lstStyle>
          <a:p>
            <a:pPr marL="457200" indent="-228600" algn="l">
              <a:lnSpc>
                <a:spcPct val="91666"/>
              </a:lnSpc>
              <a:spcBef>
                <a:spcPts val="800"/>
              </a:spcBef>
            </a:pPr>
            <a:r>
              <a:rPr lang="en-US" sz="1800" b="1" i="0" u="none" strike="noStrike">
                <a:solidFill>
                  <a:srgbClr val="000000"/>
                </a:solidFill>
                <a:latin typeface="Arial"/>
                <a:ea typeface="Arial"/>
                <a:cs typeface="Arial"/>
                <a:sym typeface="Arial"/>
              </a:rPr>
              <a:t>Click to add text</a:t>
            </a:r>
          </a:p>
        </p:txBody>
      </p:sp>
      <p:sp>
        <p:nvSpPr>
          <p:cNvPr id="6" name="AutoShape 6"/>
          <p:cNvSpPr>
            <a:spLocks noGrp="1"/>
          </p:cNvSpPr>
          <p:nvPr>
            <p:ph type="body" sz="quarter" idx="31" hasCustomPrompt="1"/>
          </p:nvPr>
        </p:nvSpPr>
        <p:spPr>
          <a:xfrm>
            <a:off x="4629150" y="1878806"/>
            <a:ext cx="3887391" cy="2763441"/>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7" name="AutoShape 7"/>
          <p:cNvSpPr>
            <a:spLocks noGrp="1"/>
          </p:cNvSpPr>
          <p:nvPr>
            <p:ph type="body" sz="quarter" idx="32"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8" name="AutoShape 8"/>
          <p:cNvSpPr>
            <a:spLocks noGrp="1"/>
          </p:cNvSpPr>
          <p:nvPr>
            <p:ph type="body" sz="quarter" idx="33"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9" name="AutoShape 9"/>
          <p:cNvSpPr>
            <a:spLocks noGrp="1"/>
          </p:cNvSpPr>
          <p:nvPr>
            <p:ph type="body" sz="quarter" idx="34"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4809A646-E911-4D0D-ACEE-1BAE15261453}"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_ONLY">
    <p:spTree>
      <p:nvGrpSpPr>
        <p:cNvPr id="1" name=""/>
        <p:cNvGrpSpPr/>
        <p:nvPr/>
      </p:nvGrpSpPr>
      <p:grpSpPr>
        <a:xfrm>
          <a:off x="0" y="0"/>
          <a:ext cx="0" cy="0"/>
          <a:chOff x="0" y="0"/>
          <a:chExt cx="0" cy="0"/>
        </a:xfrm>
      </p:grpSpPr>
      <p:sp>
        <p:nvSpPr>
          <p:cNvPr id="2" name="AutoShape 2"/>
          <p:cNvSpPr>
            <a:spLocks noGrp="1"/>
          </p:cNvSpPr>
          <p:nvPr>
            <p:ph type="body" sz="quarter" idx="35" hasCustomPrompt="1"/>
          </p:nvPr>
        </p:nvSpPr>
        <p:spPr>
          <a:xfrm>
            <a:off x="628650" y="273844"/>
            <a:ext cx="7886700" cy="994172"/>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36"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4" name="AutoShape 4"/>
          <p:cNvSpPr>
            <a:spLocks noGrp="1"/>
          </p:cNvSpPr>
          <p:nvPr>
            <p:ph type="body" sz="quarter" idx="37"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5" name="AutoShape 5"/>
          <p:cNvSpPr>
            <a:spLocks noGrp="1"/>
          </p:cNvSpPr>
          <p:nvPr>
            <p:ph type="body" sz="quarter" idx="38"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7E2B24AD-3E94-4A39-985A-897339F5CDA8}"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BLANK">
    <p:spTree>
      <p:nvGrpSpPr>
        <p:cNvPr id="1" name=""/>
        <p:cNvGrpSpPr/>
        <p:nvPr/>
      </p:nvGrpSpPr>
      <p:grpSpPr>
        <a:xfrm>
          <a:off x="0" y="0"/>
          <a:ext cx="0" cy="0"/>
          <a:chOff x="0" y="0"/>
          <a:chExt cx="0" cy="0"/>
        </a:xfrm>
      </p:grpSpPr>
      <p:sp>
        <p:nvSpPr>
          <p:cNvPr id="2" name="AutoShape 2"/>
          <p:cNvSpPr>
            <a:spLocks noGrp="1"/>
          </p:cNvSpPr>
          <p:nvPr>
            <p:ph type="body" sz="quarter" idx="39"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3" name="AutoShape 3"/>
          <p:cNvSpPr>
            <a:spLocks noGrp="1"/>
          </p:cNvSpPr>
          <p:nvPr>
            <p:ph type="body" sz="quarter" idx="40"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4" name="AutoShape 4"/>
          <p:cNvSpPr>
            <a:spLocks noGrp="1"/>
          </p:cNvSpPr>
          <p:nvPr>
            <p:ph type="body" sz="quarter" idx="41"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0F8C43DB-9465-491F-A085-5696C2DBC62B}"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OBJECT_WITH_CAPTION_TEXT">
    <p:spTree>
      <p:nvGrpSpPr>
        <p:cNvPr id="1" name=""/>
        <p:cNvGrpSpPr/>
        <p:nvPr/>
      </p:nvGrpSpPr>
      <p:grpSpPr>
        <a:xfrm>
          <a:off x="0" y="0"/>
          <a:ext cx="0" cy="0"/>
          <a:chOff x="0" y="0"/>
          <a:chExt cx="0" cy="0"/>
        </a:xfrm>
      </p:grpSpPr>
      <p:sp>
        <p:nvSpPr>
          <p:cNvPr id="2" name="AutoShape 2"/>
          <p:cNvSpPr>
            <a:spLocks noGrp="1"/>
          </p:cNvSpPr>
          <p:nvPr>
            <p:ph type="body" sz="quarter" idx="42" hasCustomPrompt="1"/>
          </p:nvPr>
        </p:nvSpPr>
        <p:spPr>
          <a:xfrm>
            <a:off x="629841" y="342900"/>
            <a:ext cx="2949178" cy="1200150"/>
          </a:xfrm>
          <a:prstGeom prst="rect">
            <a:avLst/>
          </a:prstGeom>
          <a:noFill/>
          <a:ln w="12700">
            <a:noFill/>
            <a:prstDash val="solid"/>
          </a:ln>
        </p:spPr>
        <p:txBody>
          <a:bodyPr wrap="square" lIns="68575" tIns="34275" rIns="68575" bIns="34275" anchor="b">
            <a:normAutofit/>
          </a:bodyPr>
          <a:lstStyle>
            <a:lvl1pPr algn="l">
              <a:lnSpc>
                <a:spcPct val="91666"/>
              </a:lnSpc>
              <a:defRPr sz="2400" b="1" i="0" u="none" strike="noStrike" spc="0">
                <a:solidFill>
                  <a:srgbClr val="1F2329">
                    <a:alpha val="100000"/>
                  </a:srgbClr>
                </a:solidFill>
                <a:latin typeface="Noto Sans SC"/>
              </a:defRPr>
            </a:lvl1pPr>
          </a:lstStyle>
          <a:p>
            <a:pPr marL="0" indent="0" algn="l">
              <a:lnSpc>
                <a:spcPct val="91666"/>
              </a:lnSpc>
            </a:pPr>
            <a:r>
              <a:rPr lang="en-US" sz="24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43" hasCustomPrompt="1"/>
          </p:nvPr>
        </p:nvSpPr>
        <p:spPr>
          <a:xfrm>
            <a:off x="3887391" y="740569"/>
            <a:ext cx="4629150" cy="3655219"/>
          </a:xfrm>
          <a:prstGeom prst="rect">
            <a:avLst/>
          </a:prstGeom>
          <a:noFill/>
          <a:ln w="12700">
            <a:noFill/>
            <a:prstDash val="solid"/>
          </a:ln>
        </p:spPr>
        <p:txBody>
          <a:bodyPr wrap="square" lIns="68575" tIns="34275" rIns="68575" bIns="34275" anchor="t">
            <a:normAutofit/>
          </a:bodyPr>
          <a:lstStyle>
            <a:lvl1pPr algn="l">
              <a:lnSpc>
                <a:spcPct val="91666"/>
              </a:lnSpc>
              <a:defRPr sz="2400" b="0" i="0" u="none" strike="noStrike" spc="0">
                <a:solidFill>
                  <a:srgbClr val="1F2329">
                    <a:alpha val="100000"/>
                  </a:srgbClr>
                </a:solidFill>
                <a:latin typeface="Noto Sans SC"/>
              </a:defRPr>
            </a:lvl1pPr>
          </a:lstStyle>
          <a:p>
            <a:pPr marL="457200" indent="-381000" algn="l">
              <a:lnSpc>
                <a:spcPct val="91666"/>
              </a:lnSpc>
              <a:spcBef>
                <a:spcPts val="800"/>
              </a:spcBef>
            </a:pPr>
            <a:r>
              <a:rPr lang="en-US" sz="2400" b="0"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44" hasCustomPrompt="1"/>
          </p:nvPr>
        </p:nvSpPr>
        <p:spPr>
          <a:xfrm>
            <a:off x="629841" y="1543050"/>
            <a:ext cx="2949178" cy="2858691"/>
          </a:xfrm>
          <a:prstGeom prst="rect">
            <a:avLst/>
          </a:prstGeom>
          <a:noFill/>
          <a:ln w="12700">
            <a:noFill/>
            <a:prstDash val="solid"/>
          </a:ln>
        </p:spPr>
        <p:txBody>
          <a:bodyPr wrap="square" lIns="68575" tIns="34275" rIns="68575" bIns="34275" anchor="t">
            <a:normAutofit/>
          </a:bodyPr>
          <a:lstStyle>
            <a:lvl1pPr algn="l">
              <a:lnSpc>
                <a:spcPct val="91666"/>
              </a:lnSpc>
              <a:defRPr sz="1200" b="0" i="0" u="none" strike="noStrike" spc="0">
                <a:solidFill>
                  <a:srgbClr val="1F2329">
                    <a:alpha val="100000"/>
                  </a:srgbClr>
                </a:solidFill>
                <a:latin typeface="Noto Sans SC"/>
              </a:defRPr>
            </a:lvl1pPr>
          </a:lstStyle>
          <a:p>
            <a:pPr marL="457200" indent="-228600" algn="l">
              <a:lnSpc>
                <a:spcPct val="91666"/>
              </a:lnSpc>
              <a:spcBef>
                <a:spcPts val="800"/>
              </a:spcBef>
            </a:pPr>
            <a:r>
              <a:rPr lang="en-US" sz="1200" b="0" i="0" u="none" strike="noStrike">
                <a:solidFill>
                  <a:srgbClr val="000000"/>
                </a:solidFill>
                <a:latin typeface="Arial"/>
                <a:ea typeface="Arial"/>
                <a:cs typeface="Arial"/>
                <a:sym typeface="Arial"/>
              </a:rPr>
              <a:t>Click to add text</a:t>
            </a:r>
          </a:p>
        </p:txBody>
      </p:sp>
      <p:sp>
        <p:nvSpPr>
          <p:cNvPr id="5" name="AutoShape 5"/>
          <p:cNvSpPr>
            <a:spLocks noGrp="1"/>
          </p:cNvSpPr>
          <p:nvPr>
            <p:ph type="body" sz="quarter" idx="45"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6" name="AutoShape 6"/>
          <p:cNvSpPr>
            <a:spLocks noGrp="1"/>
          </p:cNvSpPr>
          <p:nvPr>
            <p:ph type="body" sz="quarter" idx="46"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7" name="AutoShape 7"/>
          <p:cNvSpPr>
            <a:spLocks noGrp="1"/>
          </p:cNvSpPr>
          <p:nvPr>
            <p:ph type="body" sz="quarter" idx="47"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B40C1EA3-2CD2-4670-9ED1-F31CA8A71996}"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PICTURE_WITH_CAPTION_TEXT">
    <p:spTree>
      <p:nvGrpSpPr>
        <p:cNvPr id="1" name=""/>
        <p:cNvGrpSpPr/>
        <p:nvPr/>
      </p:nvGrpSpPr>
      <p:grpSpPr>
        <a:xfrm>
          <a:off x="0" y="0"/>
          <a:ext cx="0" cy="0"/>
          <a:chOff x="0" y="0"/>
          <a:chExt cx="0" cy="0"/>
        </a:xfrm>
      </p:grpSpPr>
      <p:sp>
        <p:nvSpPr>
          <p:cNvPr id="2" name="AutoShape 2"/>
          <p:cNvSpPr>
            <a:spLocks noGrp="1"/>
          </p:cNvSpPr>
          <p:nvPr>
            <p:ph type="body" sz="quarter" idx="48" hasCustomPrompt="1"/>
          </p:nvPr>
        </p:nvSpPr>
        <p:spPr>
          <a:xfrm>
            <a:off x="629841" y="342900"/>
            <a:ext cx="2949178" cy="1200150"/>
          </a:xfrm>
          <a:prstGeom prst="rect">
            <a:avLst/>
          </a:prstGeom>
          <a:noFill/>
          <a:ln w="12700">
            <a:noFill/>
            <a:prstDash val="solid"/>
          </a:ln>
        </p:spPr>
        <p:txBody>
          <a:bodyPr wrap="square" lIns="68575" tIns="34275" rIns="68575" bIns="34275" anchor="b">
            <a:normAutofit/>
          </a:bodyPr>
          <a:lstStyle>
            <a:lvl1pPr algn="l">
              <a:lnSpc>
                <a:spcPct val="91666"/>
              </a:lnSpc>
              <a:defRPr sz="2400" b="1" i="0" u="none" strike="noStrike" spc="0">
                <a:solidFill>
                  <a:srgbClr val="1F2329">
                    <a:alpha val="100000"/>
                  </a:srgbClr>
                </a:solidFill>
                <a:latin typeface="Noto Sans SC"/>
              </a:defRPr>
            </a:lvl1pPr>
          </a:lstStyle>
          <a:p>
            <a:pPr marL="0" indent="0" algn="l">
              <a:lnSpc>
                <a:spcPct val="91666"/>
              </a:lnSpc>
            </a:pPr>
            <a:r>
              <a:rPr lang="en-US" sz="24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pic" sz="quarter" idx="49"/>
          </p:nvPr>
        </p:nvSpPr>
        <p:spPr>
          <a:xfrm>
            <a:off x="3887391" y="740569"/>
            <a:ext cx="4629150" cy="3655219"/>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a:defRPr>
            </a:lvl1pPr>
          </a:lstStyle>
          <a:p>
            <a:pPr algn="ctr"/>
            <a:endParaRPr/>
          </a:p>
        </p:txBody>
      </p:sp>
      <p:sp>
        <p:nvSpPr>
          <p:cNvPr id="4" name="AutoShape 4"/>
          <p:cNvSpPr>
            <a:spLocks noGrp="1"/>
          </p:cNvSpPr>
          <p:nvPr>
            <p:ph type="body" sz="quarter" idx="50" hasCustomPrompt="1"/>
          </p:nvPr>
        </p:nvSpPr>
        <p:spPr>
          <a:xfrm>
            <a:off x="629841" y="1543050"/>
            <a:ext cx="2949178" cy="2858691"/>
          </a:xfrm>
          <a:prstGeom prst="rect">
            <a:avLst/>
          </a:prstGeom>
          <a:noFill/>
          <a:ln w="12700">
            <a:noFill/>
            <a:prstDash val="solid"/>
          </a:ln>
        </p:spPr>
        <p:txBody>
          <a:bodyPr wrap="square" lIns="68575" tIns="34275" rIns="68575" bIns="34275" anchor="t">
            <a:normAutofit/>
          </a:bodyPr>
          <a:lstStyle>
            <a:lvl1pPr algn="l">
              <a:lnSpc>
                <a:spcPct val="91666"/>
              </a:lnSpc>
              <a:defRPr sz="1200" b="0" i="0" u="none" strike="noStrike" spc="0">
                <a:solidFill>
                  <a:srgbClr val="1F2329">
                    <a:alpha val="100000"/>
                  </a:srgbClr>
                </a:solidFill>
                <a:latin typeface="Noto Sans SC"/>
              </a:defRPr>
            </a:lvl1pPr>
          </a:lstStyle>
          <a:p>
            <a:pPr marL="457200" indent="-228600" algn="l">
              <a:lnSpc>
                <a:spcPct val="91666"/>
              </a:lnSpc>
              <a:spcBef>
                <a:spcPts val="800"/>
              </a:spcBef>
            </a:pPr>
            <a:r>
              <a:rPr lang="en-US" sz="1200" b="0" i="0" u="none" strike="noStrike">
                <a:solidFill>
                  <a:srgbClr val="000000"/>
                </a:solidFill>
                <a:latin typeface="Arial"/>
                <a:ea typeface="Arial"/>
                <a:cs typeface="Arial"/>
                <a:sym typeface="Arial"/>
              </a:rPr>
              <a:t>Click to add text</a:t>
            </a:r>
          </a:p>
        </p:txBody>
      </p:sp>
      <p:sp>
        <p:nvSpPr>
          <p:cNvPr id="5" name="AutoShape 5"/>
          <p:cNvSpPr>
            <a:spLocks noGrp="1"/>
          </p:cNvSpPr>
          <p:nvPr>
            <p:ph type="body" sz="quarter" idx="51"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6" name="AutoShape 6"/>
          <p:cNvSpPr>
            <a:spLocks noGrp="1"/>
          </p:cNvSpPr>
          <p:nvPr>
            <p:ph type="body" sz="quarter" idx="52"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7" name="AutoShape 7"/>
          <p:cNvSpPr>
            <a:spLocks noGrp="1"/>
          </p:cNvSpPr>
          <p:nvPr>
            <p:ph type="body" sz="quarter" idx="53"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BFBFE59F-575C-4ABB-87B8-5F4538859E05}"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VERTICAL_TEXT">
    <p:spTree>
      <p:nvGrpSpPr>
        <p:cNvPr id="1" name=""/>
        <p:cNvGrpSpPr/>
        <p:nvPr/>
      </p:nvGrpSpPr>
      <p:grpSpPr>
        <a:xfrm>
          <a:off x="0" y="0"/>
          <a:ext cx="0" cy="0"/>
          <a:chOff x="0" y="0"/>
          <a:chExt cx="0" cy="0"/>
        </a:xfrm>
      </p:grpSpPr>
      <p:sp>
        <p:nvSpPr>
          <p:cNvPr id="2" name="AutoShape 2"/>
          <p:cNvSpPr>
            <a:spLocks noGrp="1"/>
          </p:cNvSpPr>
          <p:nvPr>
            <p:ph type="body" sz="quarter" idx="54" hasCustomPrompt="1"/>
          </p:nvPr>
        </p:nvSpPr>
        <p:spPr>
          <a:xfrm>
            <a:off x="628650" y="273844"/>
            <a:ext cx="7886700" cy="994172"/>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55" hasCustomPrompt="1"/>
          </p:nvPr>
        </p:nvSpPr>
        <p:spPr>
          <a:xfrm rot="5400000">
            <a:off x="2940248" y="-942379"/>
            <a:ext cx="3263504" cy="7886700"/>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56"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5" name="AutoShape 5"/>
          <p:cNvSpPr>
            <a:spLocks noGrp="1"/>
          </p:cNvSpPr>
          <p:nvPr>
            <p:ph type="body" sz="quarter" idx="57"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6" name="AutoShape 6"/>
          <p:cNvSpPr>
            <a:spLocks noGrp="1"/>
          </p:cNvSpPr>
          <p:nvPr>
            <p:ph type="body" sz="quarter" idx="58"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F3BB03D7-7C23-4502-8454-1327DDE9FE30}"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VERTICAL_TITLE_AND_VERTICAL_TEXT">
    <p:spTree>
      <p:nvGrpSpPr>
        <p:cNvPr id="1" name=""/>
        <p:cNvGrpSpPr/>
        <p:nvPr/>
      </p:nvGrpSpPr>
      <p:grpSpPr>
        <a:xfrm>
          <a:off x="0" y="0"/>
          <a:ext cx="0" cy="0"/>
          <a:chOff x="0" y="0"/>
          <a:chExt cx="0" cy="0"/>
        </a:xfrm>
      </p:grpSpPr>
      <p:sp>
        <p:nvSpPr>
          <p:cNvPr id="2" name="AutoShape 2"/>
          <p:cNvSpPr>
            <a:spLocks noGrp="1"/>
          </p:cNvSpPr>
          <p:nvPr>
            <p:ph type="body" sz="quarter" idx="59" hasCustomPrompt="1"/>
          </p:nvPr>
        </p:nvSpPr>
        <p:spPr>
          <a:xfrm rot="5400000">
            <a:off x="5350073" y="1467445"/>
            <a:ext cx="4358879" cy="1971675"/>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60" hasCustomPrompt="1"/>
          </p:nvPr>
        </p:nvSpPr>
        <p:spPr>
          <a:xfrm rot="5400000">
            <a:off x="1349573" y="-447080"/>
            <a:ext cx="4358879" cy="5800725"/>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61"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5" name="AutoShape 5"/>
          <p:cNvSpPr>
            <a:spLocks noGrp="1"/>
          </p:cNvSpPr>
          <p:nvPr>
            <p:ph type="body" sz="quarter" idx="62"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6" name="AutoShape 6"/>
          <p:cNvSpPr>
            <a:spLocks noGrp="1"/>
          </p:cNvSpPr>
          <p:nvPr>
            <p:ph type="body" sz="quarter" idx="63"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F3EAEDB2-F17F-4003-933C-6749846023FB}"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空白">
    <p:spTree>
      <p:nvGrpSpPr>
        <p:cNvPr id="1" name=""/>
        <p:cNvGrpSpPr/>
        <p:nvPr/>
      </p:nvGrpSpPr>
      <p:grpSpPr>
        <a:xfrm>
          <a:off x="0" y="0"/>
          <a:ext cx="0" cy="0"/>
          <a:chOff x="0" y="0"/>
          <a:chExt cx="0" cy="0"/>
        </a:xfrm>
      </p:grpSpPr>
      <p:sp>
        <p:nvSpPr>
          <p:cNvPr id="2" name="AutoShape 2"/>
          <p:cNvSpPr>
            <a:spLocks noGrp="1"/>
          </p:cNvSpPr>
          <p:nvPr>
            <p:ph type="body" sz="quarter" idx="69"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等线"/>
              </a:defRPr>
            </a:lvl1pPr>
          </a:lstStyle>
          <a:p>
            <a:pPr marL="0" indent="0" algn="l" defTabSz="914400">
              <a:lnSpc>
                <a:spcPct val="100000"/>
              </a:lnSpc>
            </a:pPr>
            <a:r>
              <a:rPr lang="en-US" sz="1200" b="0" i="0" u="none" strike="noStrike">
                <a:solidFill>
                  <a:srgbClr val="898989"/>
                </a:solidFill>
                <a:latin typeface="等线"/>
                <a:ea typeface="等线"/>
                <a:cs typeface="等线"/>
                <a:sym typeface="等线"/>
              </a:rPr>
              <a:t>2026/9/19</a:t>
            </a:r>
          </a:p>
        </p:txBody>
      </p:sp>
      <p:sp>
        <p:nvSpPr>
          <p:cNvPr id="3" name="AutoShape 3"/>
          <p:cNvSpPr>
            <a:spLocks noGrp="1"/>
          </p:cNvSpPr>
          <p:nvPr>
            <p:ph type="body" sz="quarter" idx="70"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898989">
                    <a:alpha val="100000"/>
                  </a:srgbClr>
                </a:solidFill>
                <a:latin typeface="等线"/>
              </a:defRPr>
            </a:lvl1pPr>
          </a:lstStyle>
          <a:p>
            <a:pPr marL="0" indent="0" algn="ctr" defTabSz="914400">
              <a:lnSpc>
                <a:spcPct val="100000"/>
              </a:lnSpc>
            </a:pPr>
            <a:r>
              <a:rPr lang="en-US" sz="1200" b="0" i="0" u="none" strike="noStrike">
                <a:solidFill>
                  <a:srgbClr val="898989"/>
                </a:solidFill>
                <a:latin typeface="等线"/>
                <a:ea typeface="等线"/>
                <a:cs typeface="等线"/>
                <a:sym typeface="等线"/>
              </a:rPr>
              <a:t>Footer</a:t>
            </a:r>
          </a:p>
        </p:txBody>
      </p:sp>
      <p:sp>
        <p:nvSpPr>
          <p:cNvPr id="4" name="AutoShape 4"/>
          <p:cNvSpPr>
            <a:spLocks noGrp="1"/>
          </p:cNvSpPr>
          <p:nvPr>
            <p:ph type="body" sz="quarter" idx="71"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等线"/>
              </a:defRPr>
            </a:lvl1pPr>
          </a:lstStyle>
          <a:p>
            <a:pPr marL="0" indent="0" algn="r" defTabSz="914400">
              <a:lnSpc>
                <a:spcPct val="100000"/>
              </a:lnSpc>
            </a:pPr>
            <a:fld id="{073F7704-67E6-463B-AA01-91680F0D660A}" type="slidenum">
              <a:rPr sz="1200" b="0" i="0" u="none" strike="noStrike">
                <a:solidFill>
                  <a:srgbClr val="898989"/>
                </a:solidFill>
                <a:latin typeface="等线"/>
                <a:ea typeface="等线"/>
                <a:cs typeface="等线"/>
                <a:sym typeface="等线"/>
              </a:rPr>
              <a:t>‹#›</a:t>
            </a:fld>
            <a:endParaRPr sz="1200" b="0" i="0" u="none" strike="noStrike">
              <a:solidFill>
                <a:srgbClr val="898989"/>
              </a:solidFill>
              <a:latin typeface="等线"/>
              <a:ea typeface="等线"/>
              <a:cs typeface="等线"/>
              <a:sym typeface="等线"/>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仅标题">
    <p:spTree>
      <p:nvGrpSpPr>
        <p:cNvPr id="1" name=""/>
        <p:cNvGrpSpPr/>
        <p:nvPr/>
      </p:nvGrpSpPr>
      <p:grpSpPr>
        <a:xfrm>
          <a:off x="0" y="0"/>
          <a:ext cx="0" cy="0"/>
          <a:chOff x="0" y="0"/>
          <a:chExt cx="0" cy="0"/>
        </a:xfrm>
      </p:grpSpPr>
      <p:sp>
        <p:nvSpPr>
          <p:cNvPr id="2" name="AutoShape 2"/>
          <p:cNvSpPr>
            <a:spLocks noGrp="1"/>
          </p:cNvSpPr>
          <p:nvPr>
            <p:ph type="body" sz="quarter" idx="72" hasCustomPrompt="1"/>
          </p:nvPr>
        </p:nvSpPr>
        <p:spPr>
          <a:xfrm>
            <a:off x="838200" y="365125"/>
            <a:ext cx="10515600" cy="1325563"/>
          </a:xfrm>
          <a:prstGeom prst="rect">
            <a:avLst/>
          </a:prstGeom>
          <a:noFill/>
          <a:ln w="12700">
            <a:noFill/>
            <a:prstDash val="solid"/>
          </a:ln>
        </p:spPr>
        <p:txBody>
          <a:bodyPr wrap="square" lIns="91440" tIns="45720" rIns="91440" bIns="45720" anchor="ctr">
            <a:normAutofit/>
          </a:bodyPr>
          <a:lstStyle>
            <a:lvl1pPr algn="l" defTabSz="914400">
              <a:lnSpc>
                <a:spcPct val="91666"/>
              </a:lnSpc>
              <a:defRPr sz="4400" b="0" i="0" u="none" strike="noStrike" spc="0">
                <a:solidFill>
                  <a:srgbClr val="000000">
                    <a:alpha val="100000"/>
                  </a:srgbClr>
                </a:solidFill>
                <a:latin typeface="等线 Light"/>
              </a:defRPr>
            </a:lvl1pPr>
          </a:lstStyle>
          <a:p>
            <a:pPr marL="0" indent="0" algn="l" defTabSz="914400">
              <a:lnSpc>
                <a:spcPct val="91666"/>
              </a:lnSpc>
            </a:pPr>
            <a:r>
              <a:rPr lang="en-US" sz="4400" b="0" i="0" u="none" strike="noStrike">
                <a:solidFill>
                  <a:srgbClr val="000000"/>
                </a:solidFill>
                <a:latin typeface="等线 Light"/>
                <a:ea typeface="等线 Light"/>
                <a:cs typeface="等线 Light"/>
                <a:sym typeface="等线 Light"/>
              </a:rPr>
              <a:t>单击此处编辑母版标题样式</a:t>
            </a:r>
          </a:p>
        </p:txBody>
      </p:sp>
      <p:sp>
        <p:nvSpPr>
          <p:cNvPr id="3" name="AutoShape 3"/>
          <p:cNvSpPr>
            <a:spLocks noGrp="1"/>
          </p:cNvSpPr>
          <p:nvPr>
            <p:ph type="body" sz="quarter" idx="73"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等线"/>
              </a:defRPr>
            </a:lvl1pPr>
          </a:lstStyle>
          <a:p>
            <a:pPr marL="0" indent="0" algn="l" defTabSz="914400">
              <a:lnSpc>
                <a:spcPct val="100000"/>
              </a:lnSpc>
            </a:pPr>
            <a:r>
              <a:rPr lang="en-US" sz="1200" b="0" i="0" u="none" strike="noStrike">
                <a:solidFill>
                  <a:srgbClr val="898989"/>
                </a:solidFill>
                <a:latin typeface="等线"/>
                <a:ea typeface="等线"/>
                <a:cs typeface="等线"/>
                <a:sym typeface="等线"/>
              </a:rPr>
              <a:t>2026/9/19</a:t>
            </a:r>
          </a:p>
        </p:txBody>
      </p:sp>
      <p:sp>
        <p:nvSpPr>
          <p:cNvPr id="4" name="AutoShape 4"/>
          <p:cNvSpPr>
            <a:spLocks noGrp="1"/>
          </p:cNvSpPr>
          <p:nvPr>
            <p:ph type="body" sz="quarter" idx="74"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898989">
                    <a:alpha val="100000"/>
                  </a:srgbClr>
                </a:solidFill>
                <a:latin typeface="等线"/>
              </a:defRPr>
            </a:lvl1pPr>
          </a:lstStyle>
          <a:p>
            <a:pPr marL="0" indent="0" algn="ctr" defTabSz="914400">
              <a:lnSpc>
                <a:spcPct val="100000"/>
              </a:lnSpc>
            </a:pPr>
            <a:r>
              <a:rPr lang="en-US" sz="1200" b="0" i="0" u="none" strike="noStrike">
                <a:solidFill>
                  <a:srgbClr val="898989"/>
                </a:solidFill>
                <a:latin typeface="等线"/>
                <a:ea typeface="等线"/>
                <a:cs typeface="等线"/>
                <a:sym typeface="等线"/>
              </a:rPr>
              <a:t>Footer</a:t>
            </a:r>
          </a:p>
        </p:txBody>
      </p:sp>
      <p:sp>
        <p:nvSpPr>
          <p:cNvPr id="5" name="AutoShape 5"/>
          <p:cNvSpPr>
            <a:spLocks noGrp="1"/>
          </p:cNvSpPr>
          <p:nvPr>
            <p:ph type="body" sz="quarter" idx="75"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等线"/>
              </a:defRPr>
            </a:lvl1pPr>
          </a:lstStyle>
          <a:p>
            <a:pPr marL="0" indent="0" algn="r" defTabSz="914400">
              <a:lnSpc>
                <a:spcPct val="100000"/>
              </a:lnSpc>
            </a:pPr>
            <a:fld id="{2C3567A9-B702-4EEE-8421-77F68C0B04EC}" type="slidenum">
              <a:rPr sz="1200" b="0" i="0" u="none" strike="noStrike">
                <a:solidFill>
                  <a:srgbClr val="898989"/>
                </a:solidFill>
                <a:latin typeface="等线"/>
                <a:ea typeface="等线"/>
                <a:cs typeface="等线"/>
                <a:sym typeface="等线"/>
              </a:rPr>
              <a:t>‹#›</a:t>
            </a:fld>
            <a:endParaRPr sz="1200" b="0" i="0" u="none" strike="noStrike">
              <a:solidFill>
                <a:srgbClr val="898989"/>
              </a:solidFill>
              <a:latin typeface="等线"/>
              <a:ea typeface="等线"/>
              <a:cs typeface="等线"/>
              <a:sym typeface="等线"/>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AutoShape 2"/>
          <p:cNvSpPr>
            <a:spLocks noGrp="1"/>
          </p:cNvSpPr>
          <p:nvPr>
            <p:ph type="body" sz="quarter" idx="76" hasCustomPrompt="1"/>
          </p:nvPr>
        </p:nvSpPr>
        <p:spPr>
          <a:xfrm>
            <a:off x="1524000" y="1122363"/>
            <a:ext cx="9144000" cy="2387600"/>
          </a:xfrm>
          <a:prstGeom prst="rect">
            <a:avLst/>
          </a:prstGeom>
          <a:noFill/>
          <a:ln w="12700">
            <a:noFill/>
            <a:prstDash val="solid"/>
          </a:ln>
        </p:spPr>
        <p:txBody>
          <a:bodyPr wrap="square" lIns="91440" tIns="45720" rIns="91440" bIns="45720" anchor="b">
            <a:noAutofit/>
          </a:bodyPr>
          <a:lstStyle>
            <a:lvl1pPr algn="ctr" defTabSz="914400">
              <a:lnSpc>
                <a:spcPct val="91666"/>
              </a:lnSpc>
              <a:defRPr sz="6000" b="0" i="0" u="none" strike="noStrike" spc="0">
                <a:solidFill>
                  <a:srgbClr val="000000">
                    <a:alpha val="100000"/>
                  </a:srgbClr>
                </a:solidFill>
                <a:latin typeface="等线 Light"/>
              </a:defRPr>
            </a:lvl1pPr>
          </a:lstStyle>
          <a:p>
            <a:pPr marL="0" indent="0" algn="ctr" defTabSz="914400">
              <a:lnSpc>
                <a:spcPct val="91666"/>
              </a:lnSpc>
            </a:pPr>
            <a:r>
              <a:rPr lang="en-US" sz="6000" b="0" i="0" u="none" strike="noStrike">
                <a:solidFill>
                  <a:srgbClr val="000000"/>
                </a:solidFill>
                <a:latin typeface="等线 Light"/>
                <a:ea typeface="等线 Light"/>
                <a:cs typeface="等线 Light"/>
                <a:sym typeface="等线 Light"/>
              </a:rPr>
              <a:t>单击此处编辑母版标题样式</a:t>
            </a:r>
          </a:p>
        </p:txBody>
      </p:sp>
      <p:sp>
        <p:nvSpPr>
          <p:cNvPr id="3" name="AutoShape 3"/>
          <p:cNvSpPr>
            <a:spLocks noGrp="1"/>
          </p:cNvSpPr>
          <p:nvPr>
            <p:ph type="body" sz="quarter" idx="77" hasCustomPrompt="1"/>
          </p:nvPr>
        </p:nvSpPr>
        <p:spPr>
          <a:xfrm>
            <a:off x="1524000" y="3602038"/>
            <a:ext cx="9144000" cy="1655762"/>
          </a:xfrm>
          <a:prstGeom prst="rect">
            <a:avLst/>
          </a:prstGeom>
          <a:noFill/>
          <a:ln w="12700">
            <a:noFill/>
            <a:prstDash val="solid"/>
          </a:ln>
        </p:spPr>
        <p:txBody>
          <a:bodyPr wrap="square" lIns="91440" tIns="45720" rIns="91440" bIns="45720" anchor="t">
            <a:normAutofit/>
          </a:bodyPr>
          <a:lstStyle>
            <a:lvl1pPr algn="ctr" defTabSz="914400">
              <a:lnSpc>
                <a:spcPct val="91666"/>
              </a:lnSpc>
              <a:defRPr sz="2400" b="0" i="0" u="none" strike="noStrike" spc="0">
                <a:solidFill>
                  <a:srgbClr val="000000">
                    <a:alpha val="100000"/>
                  </a:srgbClr>
                </a:solidFill>
                <a:latin typeface="等线"/>
              </a:defRPr>
            </a:lvl1pPr>
          </a:lstStyle>
          <a:p>
            <a:pPr marL="0" indent="0" algn="ctr" defTabSz="914400">
              <a:lnSpc>
                <a:spcPct val="91666"/>
              </a:lnSpc>
              <a:spcBef>
                <a:spcPts val="1000"/>
              </a:spcBef>
            </a:pPr>
            <a:r>
              <a:rPr lang="en-US" sz="2400" b="0" i="0" u="none" strike="noStrike">
                <a:solidFill>
                  <a:srgbClr val="000000"/>
                </a:solidFill>
                <a:latin typeface="等线"/>
                <a:ea typeface="等线"/>
                <a:cs typeface="等线"/>
                <a:sym typeface="等线"/>
              </a:rPr>
              <a:t>单击此处编辑母版副标题样式</a:t>
            </a:r>
          </a:p>
        </p:txBody>
      </p:sp>
      <p:sp>
        <p:nvSpPr>
          <p:cNvPr id="4" name="AutoShape 4"/>
          <p:cNvSpPr>
            <a:spLocks noGrp="1"/>
          </p:cNvSpPr>
          <p:nvPr>
            <p:ph type="body" sz="quarter" idx="78"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等线"/>
              </a:defRPr>
            </a:lvl1pPr>
          </a:lstStyle>
          <a:p>
            <a:pPr marL="0" indent="0" algn="l" defTabSz="914400">
              <a:lnSpc>
                <a:spcPct val="100000"/>
              </a:lnSpc>
            </a:pPr>
            <a:r>
              <a:rPr lang="en-US" sz="1200" b="0" i="0" u="none" strike="noStrike">
                <a:solidFill>
                  <a:srgbClr val="898989"/>
                </a:solidFill>
                <a:latin typeface="等线"/>
                <a:ea typeface="等线"/>
                <a:cs typeface="等线"/>
                <a:sym typeface="等线"/>
              </a:rPr>
              <a:t>2026/9/19</a:t>
            </a:r>
          </a:p>
        </p:txBody>
      </p:sp>
      <p:sp>
        <p:nvSpPr>
          <p:cNvPr id="5" name="AutoShape 5"/>
          <p:cNvSpPr>
            <a:spLocks noGrp="1"/>
          </p:cNvSpPr>
          <p:nvPr>
            <p:ph type="body" sz="quarter" idx="79"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898989">
                    <a:alpha val="100000"/>
                  </a:srgbClr>
                </a:solidFill>
                <a:latin typeface="等线"/>
              </a:defRPr>
            </a:lvl1pPr>
          </a:lstStyle>
          <a:p>
            <a:pPr marL="0" indent="0" algn="ctr" defTabSz="914400">
              <a:lnSpc>
                <a:spcPct val="100000"/>
              </a:lnSpc>
            </a:pPr>
            <a:r>
              <a:rPr lang="en-US" sz="1200" b="0" i="0" u="none" strike="noStrike">
                <a:solidFill>
                  <a:srgbClr val="898989"/>
                </a:solidFill>
                <a:latin typeface="等线"/>
                <a:ea typeface="等线"/>
                <a:cs typeface="等线"/>
                <a:sym typeface="等线"/>
              </a:rPr>
              <a:t>Footer</a:t>
            </a:r>
          </a:p>
        </p:txBody>
      </p:sp>
      <p:sp>
        <p:nvSpPr>
          <p:cNvPr id="6" name="AutoShape 6"/>
          <p:cNvSpPr>
            <a:spLocks noGrp="1"/>
          </p:cNvSpPr>
          <p:nvPr>
            <p:ph type="body" sz="quarter" idx="80"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等线"/>
              </a:defRPr>
            </a:lvl1pPr>
          </a:lstStyle>
          <a:p>
            <a:pPr marL="0" indent="0" algn="r" defTabSz="914400">
              <a:lnSpc>
                <a:spcPct val="100000"/>
              </a:lnSpc>
            </a:pPr>
            <a:fld id="{A88DB3E2-B678-4B5E-B1F7-F478445931FE}" type="slidenum">
              <a:rPr sz="1200" b="0" i="0" u="none" strike="noStrike">
                <a:solidFill>
                  <a:srgbClr val="898989"/>
                </a:solidFill>
                <a:latin typeface="等线"/>
                <a:ea typeface="等线"/>
                <a:cs typeface="等线"/>
                <a:sym typeface="等线"/>
              </a:rPr>
              <a:t>‹#›</a:t>
            </a:fld>
            <a:endParaRPr sz="1200" b="0" i="0" u="none" strike="noStrike">
              <a:solidFill>
                <a:srgbClr val="898989"/>
              </a:solidFill>
              <a:latin typeface="等线"/>
              <a:ea typeface="等线"/>
              <a:cs typeface="等线"/>
              <a:sym typeface="等线"/>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DEFAULT">
    <p:bg>
      <p:bgPr>
        <a:solidFill>
          <a:srgbClr val="FFFFFF">
            <a:alpha val="100000"/>
          </a:srgbClr>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空白">
    <p:spTree>
      <p:nvGrpSpPr>
        <p:cNvPr id="1" name=""/>
        <p:cNvGrpSpPr/>
        <p:nvPr/>
      </p:nvGrpSpPr>
      <p:grpSpPr>
        <a:xfrm>
          <a:off x="0" y="0"/>
          <a:ext cx="0" cy="0"/>
          <a:chOff x="0" y="0"/>
          <a:chExt cx="0" cy="0"/>
        </a:xfrm>
      </p:grpSpPr>
      <p:sp>
        <p:nvSpPr>
          <p:cNvPr id="2" name="AutoShape 2"/>
          <p:cNvSpPr>
            <a:spLocks noGrp="1"/>
          </p:cNvSpPr>
          <p:nvPr>
            <p:ph type="body" sz="quarter" idx="86"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等线"/>
              </a:defRPr>
            </a:lvl1pPr>
          </a:lstStyle>
          <a:p>
            <a:pPr marL="0" indent="0" algn="l" defTabSz="914400">
              <a:lnSpc>
                <a:spcPct val="100000"/>
              </a:lnSpc>
            </a:pPr>
            <a:r>
              <a:rPr lang="en-US" sz="1200" b="0" i="0" u="none" strike="noStrike">
                <a:solidFill>
                  <a:srgbClr val="898989"/>
                </a:solidFill>
                <a:latin typeface="等线"/>
                <a:ea typeface="等线"/>
                <a:cs typeface="等线"/>
                <a:sym typeface="等线"/>
              </a:rPr>
              <a:t>2026/9/19</a:t>
            </a:r>
          </a:p>
        </p:txBody>
      </p:sp>
      <p:sp>
        <p:nvSpPr>
          <p:cNvPr id="3" name="AutoShape 3"/>
          <p:cNvSpPr>
            <a:spLocks noGrp="1"/>
          </p:cNvSpPr>
          <p:nvPr>
            <p:ph type="body" sz="quarter" idx="87"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898989">
                    <a:alpha val="100000"/>
                  </a:srgbClr>
                </a:solidFill>
                <a:latin typeface="等线"/>
              </a:defRPr>
            </a:lvl1pPr>
          </a:lstStyle>
          <a:p>
            <a:pPr marL="0" indent="0" algn="ctr" defTabSz="914400">
              <a:lnSpc>
                <a:spcPct val="100000"/>
              </a:lnSpc>
            </a:pPr>
            <a:r>
              <a:rPr lang="en-US" sz="1200" b="0" i="0" u="none" strike="noStrike">
                <a:solidFill>
                  <a:srgbClr val="898989"/>
                </a:solidFill>
                <a:latin typeface="等线"/>
                <a:ea typeface="等线"/>
                <a:cs typeface="等线"/>
                <a:sym typeface="等线"/>
              </a:rPr>
              <a:t>Footer</a:t>
            </a:r>
          </a:p>
        </p:txBody>
      </p:sp>
      <p:sp>
        <p:nvSpPr>
          <p:cNvPr id="4" name="AutoShape 4"/>
          <p:cNvSpPr>
            <a:spLocks noGrp="1"/>
          </p:cNvSpPr>
          <p:nvPr>
            <p:ph type="body" sz="quarter" idx="88"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等线"/>
              </a:defRPr>
            </a:lvl1pPr>
          </a:lstStyle>
          <a:p>
            <a:pPr marL="0" indent="0" algn="r" defTabSz="914400">
              <a:lnSpc>
                <a:spcPct val="100000"/>
              </a:lnSpc>
            </a:pPr>
            <a:fld id="{715876E7-67F6-4709-B614-2B887129F4E5}" type="slidenum">
              <a:rPr sz="1200" b="0" i="0" u="none" strike="noStrike">
                <a:solidFill>
                  <a:srgbClr val="898989"/>
                </a:solidFill>
                <a:latin typeface="等线"/>
                <a:ea typeface="等线"/>
                <a:cs typeface="等线"/>
                <a:sym typeface="等线"/>
              </a:rPr>
              <a:t>‹#›</a:t>
            </a:fld>
            <a:endParaRPr sz="1200" b="0" i="0" u="none" strike="noStrike">
              <a:solidFill>
                <a:srgbClr val="898989"/>
              </a:solidFill>
              <a:latin typeface="等线"/>
              <a:ea typeface="等线"/>
              <a:cs typeface="等线"/>
              <a:sym typeface="等线"/>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仅标题">
    <p:spTree>
      <p:nvGrpSpPr>
        <p:cNvPr id="1" name=""/>
        <p:cNvGrpSpPr/>
        <p:nvPr/>
      </p:nvGrpSpPr>
      <p:grpSpPr>
        <a:xfrm>
          <a:off x="0" y="0"/>
          <a:ext cx="0" cy="0"/>
          <a:chOff x="0" y="0"/>
          <a:chExt cx="0" cy="0"/>
        </a:xfrm>
      </p:grpSpPr>
      <p:sp>
        <p:nvSpPr>
          <p:cNvPr id="2" name="AutoShape 2"/>
          <p:cNvSpPr>
            <a:spLocks noGrp="1"/>
          </p:cNvSpPr>
          <p:nvPr>
            <p:ph type="body" sz="quarter" idx="89" hasCustomPrompt="1"/>
          </p:nvPr>
        </p:nvSpPr>
        <p:spPr>
          <a:xfrm>
            <a:off x="838200" y="365125"/>
            <a:ext cx="10515600" cy="1325563"/>
          </a:xfrm>
          <a:prstGeom prst="rect">
            <a:avLst/>
          </a:prstGeom>
          <a:noFill/>
          <a:ln w="12700">
            <a:noFill/>
            <a:prstDash val="solid"/>
          </a:ln>
        </p:spPr>
        <p:txBody>
          <a:bodyPr wrap="square" lIns="91440" tIns="45720" rIns="91440" bIns="45720" anchor="ctr">
            <a:normAutofit/>
          </a:bodyPr>
          <a:lstStyle>
            <a:lvl1pPr algn="l" defTabSz="914400">
              <a:lnSpc>
                <a:spcPct val="91666"/>
              </a:lnSpc>
              <a:defRPr sz="4400" b="0" i="0" u="none" strike="noStrike" spc="0">
                <a:solidFill>
                  <a:srgbClr val="000000">
                    <a:alpha val="100000"/>
                  </a:srgbClr>
                </a:solidFill>
                <a:latin typeface="等线 Light"/>
              </a:defRPr>
            </a:lvl1pPr>
          </a:lstStyle>
          <a:p>
            <a:pPr marL="0" indent="0" algn="l" defTabSz="914400">
              <a:lnSpc>
                <a:spcPct val="91666"/>
              </a:lnSpc>
            </a:pPr>
            <a:r>
              <a:rPr lang="en-US" sz="4400" b="0" i="0" u="none" strike="noStrike">
                <a:solidFill>
                  <a:srgbClr val="000000"/>
                </a:solidFill>
                <a:latin typeface="等线 Light"/>
                <a:ea typeface="等线 Light"/>
                <a:cs typeface="等线 Light"/>
                <a:sym typeface="等线 Light"/>
              </a:rPr>
              <a:t>单击此处编辑母版标题样式</a:t>
            </a:r>
          </a:p>
        </p:txBody>
      </p:sp>
      <p:sp>
        <p:nvSpPr>
          <p:cNvPr id="3" name="AutoShape 3"/>
          <p:cNvSpPr>
            <a:spLocks noGrp="1"/>
          </p:cNvSpPr>
          <p:nvPr>
            <p:ph type="body" sz="quarter" idx="90"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等线"/>
              </a:defRPr>
            </a:lvl1pPr>
          </a:lstStyle>
          <a:p>
            <a:pPr marL="0" indent="0" algn="l" defTabSz="914400">
              <a:lnSpc>
                <a:spcPct val="100000"/>
              </a:lnSpc>
            </a:pPr>
            <a:r>
              <a:rPr lang="en-US" sz="1200" b="0" i="0" u="none" strike="noStrike">
                <a:solidFill>
                  <a:srgbClr val="898989"/>
                </a:solidFill>
                <a:latin typeface="等线"/>
                <a:ea typeface="等线"/>
                <a:cs typeface="等线"/>
                <a:sym typeface="等线"/>
              </a:rPr>
              <a:t>2026/9/19</a:t>
            </a:r>
          </a:p>
        </p:txBody>
      </p:sp>
      <p:sp>
        <p:nvSpPr>
          <p:cNvPr id="4" name="AutoShape 4"/>
          <p:cNvSpPr>
            <a:spLocks noGrp="1"/>
          </p:cNvSpPr>
          <p:nvPr>
            <p:ph type="body" sz="quarter" idx="91"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898989">
                    <a:alpha val="100000"/>
                  </a:srgbClr>
                </a:solidFill>
                <a:latin typeface="等线"/>
              </a:defRPr>
            </a:lvl1pPr>
          </a:lstStyle>
          <a:p>
            <a:pPr marL="0" indent="0" algn="ctr" defTabSz="914400">
              <a:lnSpc>
                <a:spcPct val="100000"/>
              </a:lnSpc>
            </a:pPr>
            <a:r>
              <a:rPr lang="en-US" sz="1200" b="0" i="0" u="none" strike="noStrike">
                <a:solidFill>
                  <a:srgbClr val="898989"/>
                </a:solidFill>
                <a:latin typeface="等线"/>
                <a:ea typeface="等线"/>
                <a:cs typeface="等线"/>
                <a:sym typeface="等线"/>
              </a:rPr>
              <a:t>Footer</a:t>
            </a:r>
          </a:p>
        </p:txBody>
      </p:sp>
      <p:sp>
        <p:nvSpPr>
          <p:cNvPr id="5" name="AutoShape 5"/>
          <p:cNvSpPr>
            <a:spLocks noGrp="1"/>
          </p:cNvSpPr>
          <p:nvPr>
            <p:ph type="body" sz="quarter" idx="92"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等线"/>
              </a:defRPr>
            </a:lvl1pPr>
          </a:lstStyle>
          <a:p>
            <a:pPr marL="0" indent="0" algn="r" defTabSz="914400">
              <a:lnSpc>
                <a:spcPct val="100000"/>
              </a:lnSpc>
            </a:pPr>
            <a:fld id="{64ED4803-3147-4436-A280-2F17AE386774}" type="slidenum">
              <a:rPr sz="1200" b="0" i="0" u="none" strike="noStrike">
                <a:solidFill>
                  <a:srgbClr val="898989"/>
                </a:solidFill>
                <a:latin typeface="等线"/>
                <a:ea typeface="等线"/>
                <a:cs typeface="等线"/>
                <a:sym typeface="等线"/>
              </a:rPr>
              <a:t>‹#›</a:t>
            </a:fld>
            <a:endParaRPr sz="1200" b="0" i="0" u="none" strike="noStrike">
              <a:solidFill>
                <a:srgbClr val="898989"/>
              </a:solidFill>
              <a:latin typeface="等线"/>
              <a:ea typeface="等线"/>
              <a:cs typeface="等线"/>
              <a:sym typeface="等线"/>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26.xml"/><Relationship Id="rId7" Type="http://schemas.openxmlformats.org/officeDocument/2006/relationships/slideLayout" Target="../slideLayouts/slideLayout30.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9" Type="http://schemas.openxmlformats.org/officeDocument/2006/relationships/image" Target="../media/image1.jpe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slideLayout" Target="../slideLayouts/slideLayout32.xml"/><Relationship Id="rId1" Type="http://schemas.openxmlformats.org/officeDocument/2006/relationships/slideLayout" Target="../slideLayouts/slideLayout31.xml"/><Relationship Id="rId5" Type="http://schemas.openxmlformats.org/officeDocument/2006/relationships/image" Target="../media/image1.jpeg"/><Relationship Id="rId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自定义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Office 主题​​">
    <p:bg>
      <p:bgPr>
        <a:solidFill>
          <a:srgbClr val="FFFFFF">
            <a:alpha val="100000"/>
          </a:srgbClr>
        </a:solidFill>
        <a:effectLst/>
      </p:bgPr>
    </p:bg>
    <p:spTree>
      <p:nvGrpSpPr>
        <p:cNvPr id="1" name="Shape 5"/>
        <p:cNvGrpSpPr/>
        <p:nvPr/>
      </p:nvGrpSpPr>
      <p:grpSpPr>
        <a:xfrm>
          <a:off x="0" y="0"/>
          <a:ext cx="0" cy="0"/>
          <a:chOff x="0" y="0"/>
          <a:chExt cx="0" cy="0"/>
        </a:xfrm>
      </p:grpSpPr>
      <p:sp>
        <p:nvSpPr>
          <p:cNvPr id="5" name="AutoShape 1"/>
          <p:cNvSpPr>
            <a:spLocks noGrp="1"/>
          </p:cNvSpPr>
          <p:nvPr>
            <p:ph type="body" sz="quarter" idx="1" hasCustomPrompt="1"/>
          </p:nvPr>
        </p:nvSpPr>
        <p:spPr>
          <a:xfrm>
            <a:off x="628650" y="273844"/>
            <a:ext cx="7886700" cy="994172"/>
          </a:xfrm>
          <a:prstGeom prst="rect">
            <a:avLst/>
          </a:prstGeom>
          <a:noFill/>
          <a:ln w="12700">
            <a:noFill/>
            <a:prstDash val="solid"/>
          </a:ln>
        </p:spPr>
        <p:txBody>
          <a:bodyPr wrap="square" lIns="68575" tIns="34275" rIns="68575" bIns="34275" anchor="ctr">
            <a:normAutofit/>
          </a:bodyPr>
          <a:lstStyle>
            <a:lvl1pPr algn="l">
              <a:lnSpc>
                <a:spcPct val="100000"/>
              </a:lnSpc>
              <a:defRPr sz="3300" b="1" i="0" u="none" strike="noStrike" spc="0">
                <a:solidFill>
                  <a:srgbClr val="1F2329">
                    <a:alpha val="100000"/>
                  </a:srgbClr>
                </a:solidFill>
                <a:latin typeface="Noto Sans SC"/>
              </a:defRPr>
            </a:lvl1pPr>
          </a:lstStyle>
          <a:p>
            <a:pPr marL="0" indent="0" algn="l">
              <a:lnSpc>
                <a:spcPct val="100000"/>
              </a:lnSpc>
            </a:pPr>
            <a:r>
              <a:rPr lang="en-US" sz="3300" b="0" i="0" u="none" strike="noStrike">
                <a:solidFill>
                  <a:srgbClr val="000000"/>
                </a:solidFill>
                <a:latin typeface="Arial"/>
                <a:ea typeface="Arial"/>
                <a:cs typeface="Arial"/>
                <a:sym typeface="Arial"/>
              </a:rPr>
              <a:t>Click to add title</a:t>
            </a:r>
          </a:p>
        </p:txBody>
      </p:sp>
      <p:sp>
        <p:nvSpPr>
          <p:cNvPr id="2" name="AutoShape 2"/>
          <p:cNvSpPr>
            <a:spLocks noGrp="1"/>
          </p:cNvSpPr>
          <p:nvPr>
            <p:ph type="body" sz="quarter" idx="2" hasCustomPrompt="1"/>
          </p:nvPr>
        </p:nvSpPr>
        <p:spPr>
          <a:xfrm>
            <a:off x="628650" y="1369219"/>
            <a:ext cx="7886700" cy="3263504"/>
          </a:xfrm>
          <a:prstGeom prst="rect">
            <a:avLst/>
          </a:prstGeom>
          <a:noFill/>
          <a:ln w="12700">
            <a:noFill/>
            <a:prstDash val="solid"/>
          </a:ln>
        </p:spPr>
        <p:txBody>
          <a:bodyPr wrap="square" lIns="68575" tIns="34275" rIns="68575" bIns="34275" anchor="t">
            <a:normAutofit/>
          </a:bodyPr>
          <a:lstStyle>
            <a:lvl1pPr algn="l">
              <a:lnSpc>
                <a:spcPct val="100000"/>
              </a:lnSpc>
              <a:defRPr sz="2100" b="0" i="0" u="none" strike="noStrike" spc="0">
                <a:solidFill>
                  <a:srgbClr val="1F2329">
                    <a:alpha val="100000"/>
                  </a:srgbClr>
                </a:solidFill>
                <a:latin typeface="Noto Sans SC"/>
              </a:defRPr>
            </a:lvl1pPr>
          </a:lstStyle>
          <a:p>
            <a:pPr marL="0" indent="0" algn="l">
              <a:lnSpc>
                <a:spcPct val="100000"/>
              </a:lnSpc>
            </a:pPr>
            <a:r>
              <a:rPr lang="en-US" sz="2100" b="0" i="0" u="none" strike="noStrike">
                <a:solidFill>
                  <a:srgbClr val="000000"/>
                </a:solidFill>
                <a:latin typeface="Arial"/>
                <a:ea typeface="Arial"/>
                <a:cs typeface="Arial"/>
                <a:sym typeface="Arial"/>
              </a:rPr>
              <a:t>Click to add text</a:t>
            </a:r>
          </a:p>
        </p:txBody>
      </p:sp>
      <p:sp>
        <p:nvSpPr>
          <p:cNvPr id="3" name="AutoShape 3"/>
          <p:cNvSpPr>
            <a:spLocks noGrp="1"/>
          </p:cNvSpPr>
          <p:nvPr>
            <p:ph type="body" sz="quarter" idx="3"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4" name="AutoShape 4"/>
          <p:cNvSpPr>
            <a:spLocks noGrp="1"/>
          </p:cNvSpPr>
          <p:nvPr>
            <p:ph type="body" sz="quarter" idx="4"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6" name="AutoShape 6"/>
          <p:cNvSpPr>
            <a:spLocks noGrp="1"/>
          </p:cNvSpPr>
          <p:nvPr>
            <p:ph type="body" sz="quarter" idx="5"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BACBEE5D-034C-4615-988D-E40B811DE78E}"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57483700" r:id="rId1"/>
    <p:sldLayoutId id="2157483701" r:id="rId2"/>
    <p:sldLayoutId id="2157483702" r:id="rId3"/>
    <p:sldLayoutId id="2157483703" r:id="rId4"/>
    <p:sldLayoutId id="2157483704" r:id="rId5"/>
    <p:sldLayoutId id="2157483705" r:id="rId6"/>
    <p:sldLayoutId id="2157483706" r:id="rId7"/>
    <p:sldLayoutId id="2157483707" r:id="rId8"/>
    <p:sldLayoutId id="2157483708" r:id="rId9"/>
    <p:sldLayoutId id="2157483709" r:id="rId10"/>
    <p:sldLayoutId id="215748371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name="Office 主题​​">
    <p:bg>
      <p:bgPr>
        <a:blipFill dpi="0" rotWithShape="1">
          <a:blip r:embed="rId9">
            <a:alphaModFix amt="10000"/>
          </a:blip>
          <a:srcRect/>
          <a:stretch>
            <a:fillRect t="-9000" b="-9000"/>
          </a:stretch>
        </a:blipFill>
        <a:effectLst/>
      </p:bgPr>
    </p:bg>
    <p:spTree>
      <p:nvGrpSpPr>
        <p:cNvPr id="1" name="Shape 5"/>
        <p:cNvGrpSpPr/>
        <p:nvPr/>
      </p:nvGrpSpPr>
      <p:grpSpPr>
        <a:xfrm>
          <a:off x="0" y="0"/>
          <a:ext cx="0" cy="0"/>
          <a:chOff x="0" y="0"/>
          <a:chExt cx="0" cy="0"/>
        </a:xfrm>
      </p:grpSpPr>
      <p:sp>
        <p:nvSpPr>
          <p:cNvPr id="5" name="AutoShape 1"/>
          <p:cNvSpPr>
            <a:spLocks noGrp="1"/>
          </p:cNvSpPr>
          <p:nvPr>
            <p:ph type="body" sz="quarter" idx="64" hasCustomPrompt="1"/>
          </p:nvPr>
        </p:nvSpPr>
        <p:spPr>
          <a:xfrm>
            <a:off x="838200" y="365125"/>
            <a:ext cx="10515600" cy="1325563"/>
          </a:xfrm>
          <a:prstGeom prst="rect">
            <a:avLst/>
          </a:prstGeom>
          <a:noFill/>
          <a:ln w="12700">
            <a:noFill/>
            <a:prstDash val="solid"/>
          </a:ln>
        </p:spPr>
        <p:txBody>
          <a:bodyPr vert="horz" wrap="square" lIns="91440" tIns="45720" rIns="91440" bIns="45720" anchor="ctr">
            <a:normAutofit/>
          </a:bodyPr>
          <a:lstStyle>
            <a:lvl1pPr algn="l" defTabSz="914400">
              <a:lnSpc>
                <a:spcPct val="91666"/>
              </a:lnSpc>
              <a:defRPr sz="4400" b="1" i="0" u="none" strike="noStrike" spc="0">
                <a:solidFill>
                  <a:srgbClr val="000000">
                    <a:alpha val="100000"/>
                  </a:srgbClr>
                </a:solidFill>
                <a:latin typeface="等线 Light"/>
              </a:defRPr>
            </a:lvl1pPr>
          </a:lstStyle>
          <a:p>
            <a:pPr marL="0" indent="0" algn="l" defTabSz="914400">
              <a:lnSpc>
                <a:spcPct val="91666"/>
              </a:lnSpc>
            </a:pPr>
            <a:r>
              <a:rPr lang="en-US" sz="4400" b="1" i="0" u="none" strike="noStrike">
                <a:solidFill>
                  <a:srgbClr val="000000"/>
                </a:solidFill>
                <a:latin typeface="等线 Light"/>
                <a:ea typeface="等线 Light"/>
                <a:cs typeface="等线 Light"/>
                <a:sym typeface="等线 Light"/>
              </a:rPr>
              <a:t>单击此处编辑母版标题样式</a:t>
            </a:r>
          </a:p>
        </p:txBody>
      </p:sp>
      <p:sp>
        <p:nvSpPr>
          <p:cNvPr id="2" name="AutoShape 2"/>
          <p:cNvSpPr>
            <a:spLocks noGrp="1"/>
          </p:cNvSpPr>
          <p:nvPr>
            <p:ph type="body" sz="quarter" idx="65" hasCustomPrompt="1"/>
          </p:nvPr>
        </p:nvSpPr>
        <p:spPr>
          <a:xfrm>
            <a:off x="838200" y="1825625"/>
            <a:ext cx="10515600" cy="4351338"/>
          </a:xfrm>
          <a:prstGeom prst="rect">
            <a:avLst/>
          </a:prstGeom>
          <a:noFill/>
          <a:ln w="12700">
            <a:noFill/>
            <a:prstDash val="solid"/>
          </a:ln>
        </p:spPr>
        <p:txBody>
          <a:bodyPr vert="horz" wrap="square" lIns="91440" tIns="45720" rIns="91440" bIns="45720" anchor="t">
            <a:normAutofit/>
          </a:bodyPr>
          <a:lstStyle>
            <a:lvl1pPr marL="584200" indent="-355600" algn="l" defTabSz="914400">
              <a:lnSpc>
                <a:spcPct val="91666"/>
              </a:lnSpc>
              <a:defRPr sz="2800" b="0" i="0" u="none" strike="noStrike" spc="0">
                <a:solidFill>
                  <a:srgbClr val="000000">
                    <a:alpha val="100000"/>
                  </a:srgbClr>
                </a:solidFill>
                <a:latin typeface="等线"/>
              </a:defRPr>
            </a:lvl1pPr>
            <a:lvl2pPr marL="990600" indent="-304800"/>
            <a:lvl3pPr marL="1397000" indent="-254000"/>
            <a:lvl4pPr marL="1828800" indent="-228600"/>
            <a:lvl5pPr marL="2286000" indent="-228600"/>
            <a:lvl6pPr marL="2743200" indent="-228600"/>
            <a:lvl7pPr marL="3200400" indent="-228600"/>
            <a:lvl8pPr marL="3657600" indent="-228600"/>
            <a:lvl9pPr marL="4114800" indent="-228600"/>
          </a:lstStyle>
          <a:p>
            <a:pPr marL="228600" indent="-228600" algn="l" defTabSz="914400">
              <a:lnSpc>
                <a:spcPct val="91666"/>
              </a:lnSpc>
              <a:spcBef>
                <a:spcPts val="1000"/>
              </a:spcBef>
              <a:buClr>
                <a:srgbClr val="000000"/>
              </a:buClr>
              <a:buFont typeface="Arial"/>
              <a:buChar char="•"/>
            </a:pPr>
            <a:r>
              <a:rPr lang="en-US" sz="2800" b="0" i="0" u="none" strike="noStrike">
                <a:solidFill>
                  <a:srgbClr val="000000"/>
                </a:solidFill>
                <a:latin typeface="等线"/>
                <a:ea typeface="等线"/>
                <a:cs typeface="等线"/>
                <a:sym typeface="等线"/>
              </a:rPr>
              <a:t>编辑母版文本样式</a:t>
            </a:r>
          </a:p>
          <a:p>
            <a:pPr marL="685800" lvl="1" indent="-228600" algn="l" defTabSz="914400">
              <a:lnSpc>
                <a:spcPct val="91666"/>
              </a:lnSpc>
              <a:spcBef>
                <a:spcPts val="500"/>
              </a:spcBef>
              <a:buClr>
                <a:srgbClr val="000000"/>
              </a:buClr>
              <a:buFont typeface="Arial"/>
              <a:buChar char="•"/>
            </a:pPr>
            <a:r>
              <a:rPr lang="en-US" sz="2400" b="0" i="0" u="none" strike="noStrike">
                <a:solidFill>
                  <a:srgbClr val="000000"/>
                </a:solidFill>
                <a:latin typeface="等线"/>
                <a:ea typeface="等线"/>
                <a:cs typeface="等线"/>
                <a:sym typeface="等线"/>
              </a:rPr>
              <a:t>第二级</a:t>
            </a:r>
          </a:p>
          <a:p>
            <a:pPr marL="1143000" lvl="2" indent="-228600" algn="l" defTabSz="914400">
              <a:lnSpc>
                <a:spcPct val="91666"/>
              </a:lnSpc>
              <a:spcBef>
                <a:spcPts val="500"/>
              </a:spcBef>
              <a:buClr>
                <a:srgbClr val="000000"/>
              </a:buClr>
              <a:buFont typeface="Arial"/>
              <a:buChar char="•"/>
            </a:pPr>
            <a:r>
              <a:rPr lang="en-US" sz="2000" b="0" i="0" u="none" strike="noStrike">
                <a:solidFill>
                  <a:srgbClr val="000000"/>
                </a:solidFill>
                <a:latin typeface="等线"/>
                <a:ea typeface="等线"/>
                <a:cs typeface="等线"/>
                <a:sym typeface="等线"/>
              </a:rPr>
              <a:t>第三级</a:t>
            </a:r>
          </a:p>
          <a:p>
            <a:pPr marL="1600200" lvl="3" indent="-228600" algn="l" defTabSz="914400">
              <a:lnSpc>
                <a:spcPct val="91666"/>
              </a:lnSpc>
              <a:spcBef>
                <a:spcPts val="500"/>
              </a:spcBef>
              <a:buClr>
                <a:srgbClr val="000000"/>
              </a:buClr>
              <a:buFont typeface="Arial"/>
              <a:buChar char="•"/>
            </a:pPr>
            <a:r>
              <a:rPr lang="en-US" sz="1800" b="0" i="0" u="none" strike="noStrike">
                <a:solidFill>
                  <a:srgbClr val="000000"/>
                </a:solidFill>
                <a:latin typeface="等线"/>
                <a:ea typeface="等线"/>
                <a:cs typeface="等线"/>
                <a:sym typeface="等线"/>
              </a:rPr>
              <a:t>第四级</a:t>
            </a:r>
          </a:p>
          <a:p>
            <a:pPr marL="2057400" lvl="4" indent="-228600" algn="l" defTabSz="914400">
              <a:lnSpc>
                <a:spcPct val="91666"/>
              </a:lnSpc>
              <a:spcBef>
                <a:spcPts val="500"/>
              </a:spcBef>
              <a:buClr>
                <a:srgbClr val="000000"/>
              </a:buClr>
              <a:buFont typeface="Arial"/>
              <a:buChar char="•"/>
            </a:pPr>
            <a:r>
              <a:rPr lang="en-US" sz="1800" b="0" i="0" u="none" strike="noStrike">
                <a:solidFill>
                  <a:srgbClr val="000000"/>
                </a:solidFill>
                <a:latin typeface="等线"/>
                <a:ea typeface="等线"/>
                <a:cs typeface="等线"/>
                <a:sym typeface="等线"/>
              </a:rPr>
              <a:t>第五级</a:t>
            </a:r>
          </a:p>
        </p:txBody>
      </p:sp>
      <p:sp>
        <p:nvSpPr>
          <p:cNvPr id="3" name="AutoShape 3"/>
          <p:cNvSpPr>
            <a:spLocks noGrp="1"/>
          </p:cNvSpPr>
          <p:nvPr>
            <p:ph type="body" sz="quarter" idx="66" hasCustomPrompt="1"/>
          </p:nvPr>
        </p:nvSpPr>
        <p:spPr>
          <a:xfrm>
            <a:off x="838200" y="6356350"/>
            <a:ext cx="2743200" cy="365125"/>
          </a:xfrm>
          <a:prstGeom prst="rect">
            <a:avLst/>
          </a:prstGeom>
          <a:noFill/>
          <a:ln w="12700">
            <a:noFill/>
            <a:prstDash val="solid"/>
          </a:ln>
        </p:spPr>
        <p:txBody>
          <a:bodyPr vert="horz"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等线"/>
              </a:defRPr>
            </a:lvl1pPr>
          </a:lstStyle>
          <a:p>
            <a:pPr marL="0" indent="0" algn="l" defTabSz="914400">
              <a:lnSpc>
                <a:spcPct val="100000"/>
              </a:lnSpc>
            </a:pPr>
            <a:r>
              <a:rPr lang="en-US" sz="1200" b="0" i="0" u="none" strike="noStrike">
                <a:solidFill>
                  <a:srgbClr val="898989"/>
                </a:solidFill>
                <a:latin typeface="等线"/>
                <a:ea typeface="等线"/>
                <a:cs typeface="等线"/>
                <a:sym typeface="等线"/>
              </a:rPr>
              <a:t>2026/9/19</a:t>
            </a:r>
          </a:p>
        </p:txBody>
      </p:sp>
      <p:sp>
        <p:nvSpPr>
          <p:cNvPr id="4" name="AutoShape 4"/>
          <p:cNvSpPr>
            <a:spLocks noGrp="1"/>
          </p:cNvSpPr>
          <p:nvPr>
            <p:ph type="body" sz="quarter" idx="67"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898989">
                    <a:alpha val="100000"/>
                  </a:srgbClr>
                </a:solidFill>
                <a:latin typeface="等线"/>
              </a:defRPr>
            </a:lvl1pPr>
          </a:lstStyle>
          <a:p>
            <a:pPr marL="0" indent="0" algn="ctr" defTabSz="914400">
              <a:lnSpc>
                <a:spcPct val="100000"/>
              </a:lnSpc>
            </a:pPr>
            <a:r>
              <a:rPr lang="en-US" sz="1200" b="0" i="0" u="none" strike="noStrike">
                <a:solidFill>
                  <a:srgbClr val="898989"/>
                </a:solidFill>
                <a:latin typeface="等线"/>
                <a:ea typeface="等线"/>
                <a:cs typeface="等线"/>
                <a:sym typeface="等线"/>
              </a:rPr>
              <a:t>Footer</a:t>
            </a:r>
          </a:p>
        </p:txBody>
      </p:sp>
      <p:sp>
        <p:nvSpPr>
          <p:cNvPr id="6" name="AutoShape 6"/>
          <p:cNvSpPr>
            <a:spLocks noGrp="1"/>
          </p:cNvSpPr>
          <p:nvPr>
            <p:ph type="body" sz="quarter" idx="68" hasCustomPrompt="1"/>
          </p:nvPr>
        </p:nvSpPr>
        <p:spPr>
          <a:xfrm>
            <a:off x="8610600" y="6356350"/>
            <a:ext cx="2743200" cy="365125"/>
          </a:xfrm>
          <a:prstGeom prst="rect">
            <a:avLst/>
          </a:prstGeom>
          <a:noFill/>
          <a:ln w="12700">
            <a:noFill/>
            <a:prstDash val="solid"/>
          </a:ln>
        </p:spPr>
        <p:txBody>
          <a:bodyPr vert="horz"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等线"/>
              </a:defRPr>
            </a:lvl1pPr>
          </a:lstStyle>
          <a:p>
            <a:pPr marL="0" indent="0" algn="r" defTabSz="914400">
              <a:lnSpc>
                <a:spcPct val="100000"/>
              </a:lnSpc>
            </a:pPr>
            <a:fld id="{223E89D6-17A3-4E42-92DC-72F7BD07D676}" type="slidenum">
              <a:rPr sz="1200" b="0" i="0" u="none" strike="noStrike">
                <a:solidFill>
                  <a:srgbClr val="898989"/>
                </a:solidFill>
                <a:latin typeface="等线"/>
                <a:ea typeface="等线"/>
                <a:cs typeface="等线"/>
                <a:sym typeface="等线"/>
              </a:rPr>
              <a:t>‹#›</a:t>
            </a:fld>
            <a:endParaRPr sz="1200" b="0" i="0" u="none" strike="noStrike">
              <a:solidFill>
                <a:srgbClr val="898989"/>
              </a:solidFill>
              <a:latin typeface="等线"/>
              <a:ea typeface="等线"/>
              <a:cs typeface="等线"/>
              <a:sym typeface="等线"/>
            </a:endParaRPr>
          </a:p>
        </p:txBody>
      </p:sp>
    </p:spTree>
  </p:cSld>
  <p:clrMap bg1="lt1" tx1="dk1" bg2="dk2" tx2="lt2" accent1="accent1" accent2="accent2" accent3="accent3" accent4="accent4" accent5="accent5" accent6="accent6" hlink="hlink" folHlink="folHlink"/>
  <p:sldLayoutIdLst>
    <p:sldLayoutId id="2157483711" r:id="rId1"/>
    <p:sldLayoutId id="2157483712" r:id="rId2"/>
    <p:sldLayoutId id="2157483713" r:id="rId3"/>
    <p:sldLayoutId id="2157483714" r:id="rId4"/>
    <p:sldLayoutId id="2157483715" r:id="rId5"/>
    <p:sldLayoutId id="2157483716" r:id="rId6"/>
    <p:sldLayoutId id="2157483717"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name="1_Office 主题​​">
    <p:bg>
      <p:bgPr>
        <a:blipFill dpi="0" rotWithShape="1">
          <a:blip r:embed="rId5">
            <a:alphaModFix amt="10000"/>
          </a:blip>
          <a:srcRect/>
          <a:stretch>
            <a:fillRect t="-9000" b="-9000"/>
          </a:stretch>
        </a:blipFill>
        <a:effectLst/>
      </p:bgPr>
    </p:bg>
    <p:spTree>
      <p:nvGrpSpPr>
        <p:cNvPr id="1" name="Shape 5"/>
        <p:cNvGrpSpPr/>
        <p:nvPr/>
      </p:nvGrpSpPr>
      <p:grpSpPr>
        <a:xfrm>
          <a:off x="0" y="0"/>
          <a:ext cx="0" cy="0"/>
          <a:chOff x="0" y="0"/>
          <a:chExt cx="0" cy="0"/>
        </a:xfrm>
      </p:grpSpPr>
      <p:sp>
        <p:nvSpPr>
          <p:cNvPr id="5" name="AutoShape 1"/>
          <p:cNvSpPr>
            <a:spLocks noGrp="1"/>
          </p:cNvSpPr>
          <p:nvPr>
            <p:ph type="body" sz="quarter" idx="81" hasCustomPrompt="1"/>
          </p:nvPr>
        </p:nvSpPr>
        <p:spPr>
          <a:xfrm>
            <a:off x="838200" y="365125"/>
            <a:ext cx="10515600" cy="1325563"/>
          </a:xfrm>
          <a:prstGeom prst="rect">
            <a:avLst/>
          </a:prstGeom>
          <a:noFill/>
          <a:ln w="12700">
            <a:noFill/>
            <a:prstDash val="solid"/>
          </a:ln>
        </p:spPr>
        <p:txBody>
          <a:bodyPr vert="horz" wrap="square" lIns="91440" tIns="45720" rIns="91440" bIns="45720" anchor="ctr">
            <a:normAutofit/>
          </a:bodyPr>
          <a:lstStyle>
            <a:lvl1pPr algn="l" defTabSz="914400">
              <a:lnSpc>
                <a:spcPct val="91666"/>
              </a:lnSpc>
              <a:defRPr sz="4400" b="1" i="0" u="none" strike="noStrike" spc="0">
                <a:solidFill>
                  <a:srgbClr val="000000">
                    <a:alpha val="100000"/>
                  </a:srgbClr>
                </a:solidFill>
                <a:latin typeface="等线 Light"/>
              </a:defRPr>
            </a:lvl1pPr>
          </a:lstStyle>
          <a:p>
            <a:pPr marL="0" indent="0" algn="l" defTabSz="914400">
              <a:lnSpc>
                <a:spcPct val="91666"/>
              </a:lnSpc>
            </a:pPr>
            <a:r>
              <a:rPr lang="en-US" sz="4400" b="1" i="0" u="none" strike="noStrike">
                <a:solidFill>
                  <a:srgbClr val="000000"/>
                </a:solidFill>
                <a:latin typeface="等线 Light"/>
                <a:ea typeface="等线 Light"/>
                <a:cs typeface="等线 Light"/>
                <a:sym typeface="等线 Light"/>
              </a:rPr>
              <a:t>单击此处编辑母版标题样式</a:t>
            </a:r>
          </a:p>
        </p:txBody>
      </p:sp>
      <p:sp>
        <p:nvSpPr>
          <p:cNvPr id="2" name="AutoShape 2"/>
          <p:cNvSpPr>
            <a:spLocks noGrp="1"/>
          </p:cNvSpPr>
          <p:nvPr>
            <p:ph type="body" sz="quarter" idx="82" hasCustomPrompt="1"/>
          </p:nvPr>
        </p:nvSpPr>
        <p:spPr>
          <a:xfrm>
            <a:off x="838200" y="1825625"/>
            <a:ext cx="10515600" cy="4351338"/>
          </a:xfrm>
          <a:prstGeom prst="rect">
            <a:avLst/>
          </a:prstGeom>
          <a:noFill/>
          <a:ln w="12700">
            <a:noFill/>
            <a:prstDash val="solid"/>
          </a:ln>
        </p:spPr>
        <p:txBody>
          <a:bodyPr vert="horz" wrap="square" lIns="91440" tIns="45720" rIns="91440" bIns="45720" anchor="t">
            <a:normAutofit/>
          </a:bodyPr>
          <a:lstStyle>
            <a:lvl1pPr marL="584200" indent="-355600" algn="l" defTabSz="914400">
              <a:lnSpc>
                <a:spcPct val="91666"/>
              </a:lnSpc>
              <a:defRPr sz="2800" b="0" i="0" u="none" strike="noStrike" spc="0">
                <a:solidFill>
                  <a:srgbClr val="000000">
                    <a:alpha val="100000"/>
                  </a:srgbClr>
                </a:solidFill>
                <a:latin typeface="等线"/>
              </a:defRPr>
            </a:lvl1pPr>
            <a:lvl2pPr marL="990600" indent="-304800"/>
            <a:lvl3pPr marL="1397000" indent="-254000"/>
            <a:lvl4pPr marL="1828800" indent="-228600"/>
            <a:lvl5pPr marL="2286000" indent="-228600"/>
            <a:lvl6pPr marL="2743200" indent="-228600"/>
            <a:lvl7pPr marL="3200400" indent="-228600"/>
            <a:lvl8pPr marL="3657600" indent="-228600"/>
            <a:lvl9pPr marL="4114800" indent="-228600"/>
          </a:lstStyle>
          <a:p>
            <a:pPr marL="228600" indent="-228600" algn="l" defTabSz="914400">
              <a:lnSpc>
                <a:spcPct val="91666"/>
              </a:lnSpc>
              <a:spcBef>
                <a:spcPts val="1000"/>
              </a:spcBef>
              <a:buClr>
                <a:srgbClr val="000000"/>
              </a:buClr>
              <a:buFont typeface="Arial"/>
              <a:buChar char="•"/>
            </a:pPr>
            <a:r>
              <a:rPr lang="en-US" sz="2800" b="0" i="0" u="none" strike="noStrike">
                <a:solidFill>
                  <a:srgbClr val="000000"/>
                </a:solidFill>
                <a:latin typeface="等线"/>
                <a:ea typeface="等线"/>
                <a:cs typeface="等线"/>
                <a:sym typeface="等线"/>
              </a:rPr>
              <a:t>编辑母版文本样式</a:t>
            </a:r>
          </a:p>
          <a:p>
            <a:pPr marL="685800" lvl="1" indent="-228600" algn="l" defTabSz="914400">
              <a:lnSpc>
                <a:spcPct val="91666"/>
              </a:lnSpc>
              <a:spcBef>
                <a:spcPts val="500"/>
              </a:spcBef>
              <a:buClr>
                <a:srgbClr val="000000"/>
              </a:buClr>
              <a:buFont typeface="Arial"/>
              <a:buChar char="•"/>
            </a:pPr>
            <a:r>
              <a:rPr lang="en-US" sz="2400" b="0" i="0" u="none" strike="noStrike">
                <a:solidFill>
                  <a:srgbClr val="000000"/>
                </a:solidFill>
                <a:latin typeface="等线"/>
                <a:ea typeface="等线"/>
                <a:cs typeface="等线"/>
                <a:sym typeface="等线"/>
              </a:rPr>
              <a:t>第二级</a:t>
            </a:r>
          </a:p>
          <a:p>
            <a:pPr marL="1143000" lvl="2" indent="-228600" algn="l" defTabSz="914400">
              <a:lnSpc>
                <a:spcPct val="91666"/>
              </a:lnSpc>
              <a:spcBef>
                <a:spcPts val="500"/>
              </a:spcBef>
              <a:buClr>
                <a:srgbClr val="000000"/>
              </a:buClr>
              <a:buFont typeface="Arial"/>
              <a:buChar char="•"/>
            </a:pPr>
            <a:r>
              <a:rPr lang="en-US" sz="2000" b="0" i="0" u="none" strike="noStrike">
                <a:solidFill>
                  <a:srgbClr val="000000"/>
                </a:solidFill>
                <a:latin typeface="等线"/>
                <a:ea typeface="等线"/>
                <a:cs typeface="等线"/>
                <a:sym typeface="等线"/>
              </a:rPr>
              <a:t>第三级</a:t>
            </a:r>
          </a:p>
          <a:p>
            <a:pPr marL="1600200" lvl="3" indent="-228600" algn="l" defTabSz="914400">
              <a:lnSpc>
                <a:spcPct val="91666"/>
              </a:lnSpc>
              <a:spcBef>
                <a:spcPts val="500"/>
              </a:spcBef>
              <a:buClr>
                <a:srgbClr val="000000"/>
              </a:buClr>
              <a:buFont typeface="Arial"/>
              <a:buChar char="•"/>
            </a:pPr>
            <a:r>
              <a:rPr lang="en-US" sz="1800" b="0" i="0" u="none" strike="noStrike">
                <a:solidFill>
                  <a:srgbClr val="000000"/>
                </a:solidFill>
                <a:latin typeface="等线"/>
                <a:ea typeface="等线"/>
                <a:cs typeface="等线"/>
                <a:sym typeface="等线"/>
              </a:rPr>
              <a:t>第四级</a:t>
            </a:r>
          </a:p>
          <a:p>
            <a:pPr marL="2057400" lvl="4" indent="-228600" algn="l" defTabSz="914400">
              <a:lnSpc>
                <a:spcPct val="91666"/>
              </a:lnSpc>
              <a:spcBef>
                <a:spcPts val="500"/>
              </a:spcBef>
              <a:buClr>
                <a:srgbClr val="000000"/>
              </a:buClr>
              <a:buFont typeface="Arial"/>
              <a:buChar char="•"/>
            </a:pPr>
            <a:r>
              <a:rPr lang="en-US" sz="1800" b="0" i="0" u="none" strike="noStrike">
                <a:solidFill>
                  <a:srgbClr val="000000"/>
                </a:solidFill>
                <a:latin typeface="等线"/>
                <a:ea typeface="等线"/>
                <a:cs typeface="等线"/>
                <a:sym typeface="等线"/>
              </a:rPr>
              <a:t>第五级</a:t>
            </a:r>
          </a:p>
        </p:txBody>
      </p:sp>
      <p:sp>
        <p:nvSpPr>
          <p:cNvPr id="3" name="AutoShape 3"/>
          <p:cNvSpPr>
            <a:spLocks noGrp="1"/>
          </p:cNvSpPr>
          <p:nvPr>
            <p:ph type="body" sz="quarter" idx="83" hasCustomPrompt="1"/>
          </p:nvPr>
        </p:nvSpPr>
        <p:spPr>
          <a:xfrm>
            <a:off x="838200" y="6356350"/>
            <a:ext cx="2743200" cy="365125"/>
          </a:xfrm>
          <a:prstGeom prst="rect">
            <a:avLst/>
          </a:prstGeom>
          <a:noFill/>
          <a:ln w="12700">
            <a:noFill/>
            <a:prstDash val="solid"/>
          </a:ln>
        </p:spPr>
        <p:txBody>
          <a:bodyPr vert="horz"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等线"/>
              </a:defRPr>
            </a:lvl1pPr>
          </a:lstStyle>
          <a:p>
            <a:pPr marL="0" indent="0" algn="l" defTabSz="914400">
              <a:lnSpc>
                <a:spcPct val="100000"/>
              </a:lnSpc>
            </a:pPr>
            <a:r>
              <a:rPr lang="en-US" sz="1200" b="0" i="0" u="none" strike="noStrike">
                <a:solidFill>
                  <a:srgbClr val="898989"/>
                </a:solidFill>
                <a:latin typeface="等线"/>
                <a:ea typeface="等线"/>
                <a:cs typeface="等线"/>
                <a:sym typeface="等线"/>
              </a:rPr>
              <a:t>2026/9/19</a:t>
            </a:r>
          </a:p>
        </p:txBody>
      </p:sp>
      <p:sp>
        <p:nvSpPr>
          <p:cNvPr id="4" name="AutoShape 4"/>
          <p:cNvSpPr>
            <a:spLocks noGrp="1"/>
          </p:cNvSpPr>
          <p:nvPr>
            <p:ph type="body" sz="quarter" idx="84"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898989">
                    <a:alpha val="100000"/>
                  </a:srgbClr>
                </a:solidFill>
                <a:latin typeface="等线"/>
              </a:defRPr>
            </a:lvl1pPr>
          </a:lstStyle>
          <a:p>
            <a:pPr marL="0" indent="0" algn="ctr" defTabSz="914400">
              <a:lnSpc>
                <a:spcPct val="100000"/>
              </a:lnSpc>
            </a:pPr>
            <a:r>
              <a:rPr lang="en-US" sz="1200" b="0" i="0" u="none" strike="noStrike">
                <a:solidFill>
                  <a:srgbClr val="898989"/>
                </a:solidFill>
                <a:latin typeface="等线"/>
                <a:ea typeface="等线"/>
                <a:cs typeface="等线"/>
                <a:sym typeface="等线"/>
              </a:rPr>
              <a:t>Footer</a:t>
            </a:r>
          </a:p>
        </p:txBody>
      </p:sp>
      <p:sp>
        <p:nvSpPr>
          <p:cNvPr id="6" name="AutoShape 6"/>
          <p:cNvSpPr>
            <a:spLocks noGrp="1"/>
          </p:cNvSpPr>
          <p:nvPr>
            <p:ph type="body" sz="quarter" idx="85" hasCustomPrompt="1"/>
          </p:nvPr>
        </p:nvSpPr>
        <p:spPr>
          <a:xfrm>
            <a:off x="8610600" y="6356350"/>
            <a:ext cx="2743200" cy="365125"/>
          </a:xfrm>
          <a:prstGeom prst="rect">
            <a:avLst/>
          </a:prstGeom>
          <a:noFill/>
          <a:ln w="12700">
            <a:noFill/>
            <a:prstDash val="solid"/>
          </a:ln>
        </p:spPr>
        <p:txBody>
          <a:bodyPr vert="horz"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等线"/>
              </a:defRPr>
            </a:lvl1pPr>
          </a:lstStyle>
          <a:p>
            <a:pPr marL="0" indent="0" algn="r" defTabSz="914400">
              <a:lnSpc>
                <a:spcPct val="100000"/>
              </a:lnSpc>
            </a:pPr>
            <a:fld id="{0546DF46-9398-4D1E-A2D7-6ED481BE1431}" type="slidenum">
              <a:rPr sz="1200" b="0" i="0" u="none" strike="noStrike">
                <a:solidFill>
                  <a:srgbClr val="898989"/>
                </a:solidFill>
                <a:latin typeface="等线"/>
                <a:ea typeface="等线"/>
                <a:cs typeface="等线"/>
                <a:sym typeface="等线"/>
              </a:rPr>
              <a:t>‹#›</a:t>
            </a:fld>
            <a:endParaRPr sz="1200" b="0" i="0" u="none" strike="noStrike">
              <a:solidFill>
                <a:srgbClr val="898989"/>
              </a:solidFill>
              <a:latin typeface="等线"/>
              <a:ea typeface="等线"/>
              <a:cs typeface="等线"/>
              <a:sym typeface="等线"/>
            </a:endParaRPr>
          </a:p>
        </p:txBody>
      </p:sp>
    </p:spTree>
  </p:cSld>
  <p:clrMap bg1="lt1" tx1="dk1" bg2="dk2" tx2="lt2" accent1="accent1" accent2="accent2" accent3="accent3" accent4="accent4" accent5="accent5" accent6="accent6" hlink="hlink" folHlink="folHlink"/>
  <p:sldLayoutIdLst>
    <p:sldLayoutId id="2157483718" r:id="rId1"/>
    <p:sldLayoutId id="2157483719" r:id="rId2"/>
    <p:sldLayoutId id="2157483720"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4.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4.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1.jpe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jpe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7.pn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1.jpe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7.png"/><Relationship Id="rId9"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29.sv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svg"/><Relationship Id="rId3" Type="http://schemas.openxmlformats.org/officeDocument/2006/relationships/image" Target="../media/image7.png"/><Relationship Id="rId7" Type="http://schemas.openxmlformats.org/officeDocument/2006/relationships/image" Target="../media/image33.svg"/><Relationship Id="rId12"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33.xml"/><Relationship Id="rId6" Type="http://schemas.openxmlformats.org/officeDocument/2006/relationships/image" Target="../media/image32.png"/><Relationship Id="rId11" Type="http://schemas.openxmlformats.org/officeDocument/2006/relationships/image" Target="../media/image37.svg"/><Relationship Id="rId5" Type="http://schemas.openxmlformats.org/officeDocument/2006/relationships/image" Target="../media/image31.sv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sv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jpeg"/><Relationship Id="rId7"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9" Type="http://schemas.openxmlformats.org/officeDocument/2006/relationships/image" Target="../media/image44.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6.xml"/><Relationship Id="rId4" Type="http://schemas.openxmlformats.org/officeDocument/2006/relationships/image" Target="../media/image45.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6.xml"/><Relationship Id="rId4" Type="http://schemas.openxmlformats.org/officeDocument/2006/relationships/image" Target="../media/image46.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1.jpeg"/><Relationship Id="rId7" Type="http://schemas.openxmlformats.org/officeDocument/2006/relationships/image" Target="../media/image49.pn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12.xml"/><Relationship Id="rId5" Type="http://schemas.openxmlformats.org/officeDocument/2006/relationships/image" Target="../media/image51.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12.xml"/><Relationship Id="rId5" Type="http://schemas.openxmlformats.org/officeDocument/2006/relationships/image" Target="../media/image52.jpg"/><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12.xml"/><Relationship Id="rId5" Type="http://schemas.openxmlformats.org/officeDocument/2006/relationships/image" Target="../media/image53.jpg"/><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12.xml"/><Relationship Id="rId5" Type="http://schemas.openxmlformats.org/officeDocument/2006/relationships/image" Target="../media/image54.jp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3.xml"/><Relationship Id="rId1" Type="http://schemas.openxmlformats.org/officeDocument/2006/relationships/slideLayout" Target="../slideLayouts/slideLayout24.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5000"/>
          </a:blip>
          <a:srcRect/>
          <a:stretch>
            <a:fillRect l="-6000" r="-6000"/>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ect">
            <a:avLst/>
          </a:prstGeom>
          <a:solidFill>
            <a:srgbClr val="FFFFFF">
              <a:alpha val="24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3" name="AutoShape 3"/>
          <p:cNvSpPr/>
          <p:nvPr/>
        </p:nvSpPr>
        <p:spPr>
          <a:xfrm>
            <a:off x="0" y="3428730"/>
            <a:ext cx="12192000" cy="2857500"/>
          </a:xfrm>
          <a:prstGeom prst="rect">
            <a:avLst/>
          </a:prstGeom>
          <a:solidFill>
            <a:srgbClr val="0A3760">
              <a:alpha val="100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4" name="AutoShape 4"/>
          <p:cNvSpPr/>
          <p:nvPr/>
        </p:nvSpPr>
        <p:spPr>
          <a:xfrm>
            <a:off x="797560" y="3716020"/>
            <a:ext cx="10930255" cy="768350"/>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4400" b="1" i="0" u="none" strike="noStrike" spc="-300">
                <a:solidFill>
                  <a:srgbClr val="FFFFFF"/>
                </a:solidFill>
                <a:latin typeface="微软雅黑"/>
                <a:ea typeface="微软雅黑"/>
                <a:cs typeface="微软雅黑"/>
                <a:sym typeface="微软雅黑"/>
              </a:rPr>
              <a:t>基于多模型弱监督学习的低成本火烟检测研究</a:t>
            </a:r>
            <a:endParaRPr lang="en-US" sz="1100"/>
          </a:p>
        </p:txBody>
      </p:sp>
      <p:sp>
        <p:nvSpPr>
          <p:cNvPr id="5" name="AutoShape 5"/>
          <p:cNvSpPr/>
          <p:nvPr/>
        </p:nvSpPr>
        <p:spPr>
          <a:xfrm>
            <a:off x="4653280" y="5403576"/>
            <a:ext cx="3060700" cy="460375"/>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2400" b="1" i="0" u="none" strike="noStrike" dirty="0" err="1">
                <a:solidFill>
                  <a:srgbClr val="FFFFFF"/>
                </a:solidFill>
                <a:latin typeface="微软雅黑"/>
                <a:ea typeface="微软雅黑"/>
                <a:cs typeface="微软雅黑"/>
                <a:sym typeface="微软雅黑"/>
              </a:rPr>
              <a:t>学生</a:t>
            </a:r>
            <a:r>
              <a:rPr lang="en-US" sz="2400" b="1" i="0" u="none" strike="noStrike" dirty="0">
                <a:solidFill>
                  <a:srgbClr val="FFFFFF"/>
                </a:solidFill>
                <a:latin typeface="微软雅黑"/>
                <a:ea typeface="微软雅黑"/>
                <a:cs typeface="微软雅黑"/>
                <a:sym typeface="微软雅黑"/>
              </a:rPr>
              <a:t> ： </a:t>
            </a:r>
            <a:r>
              <a:rPr lang="en-US" sz="2400" b="1" i="0" u="none" strike="noStrike" dirty="0" err="1">
                <a:solidFill>
                  <a:srgbClr val="FFFFFF"/>
                </a:solidFill>
                <a:latin typeface="微软雅黑"/>
                <a:ea typeface="微软雅黑"/>
                <a:cs typeface="微软雅黑"/>
                <a:sym typeface="微软雅黑"/>
              </a:rPr>
              <a:t>董秀丽</a:t>
            </a:r>
            <a:endParaRPr lang="en-US" sz="1100" dirty="0"/>
          </a:p>
        </p:txBody>
      </p:sp>
      <p:sp>
        <p:nvSpPr>
          <p:cNvPr id="6" name="AutoShape 6"/>
          <p:cNvSpPr/>
          <p:nvPr/>
        </p:nvSpPr>
        <p:spPr>
          <a:xfrm>
            <a:off x="4653280" y="4911574"/>
            <a:ext cx="3022600" cy="460375"/>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2400" b="1" i="0" u="none" strike="noStrike">
                <a:solidFill>
                  <a:srgbClr val="FFFFFF"/>
                </a:solidFill>
                <a:latin typeface="微软雅黑"/>
                <a:ea typeface="微软雅黑"/>
                <a:cs typeface="微软雅黑"/>
                <a:sym typeface="微软雅黑"/>
              </a:rPr>
              <a:t>导师  ：高 明 教 授</a:t>
            </a:r>
            <a:endParaRPr lang="en-US" sz="1100"/>
          </a:p>
        </p:txBody>
      </p:sp>
      <p:pic>
        <p:nvPicPr>
          <p:cNvPr id="7" name="Picture 7"/>
          <p:cNvPicPr>
            <a:picLocks noChangeAspect="1"/>
          </p:cNvPicPr>
          <p:nvPr/>
        </p:nvPicPr>
        <p:blipFill>
          <a:blip r:embed="rId4"/>
          <a:srcRect/>
          <a:stretch>
            <a:fillRect/>
          </a:stretch>
        </p:blipFill>
        <p:spPr>
          <a:xfrm>
            <a:off x="4888230" y="354127"/>
            <a:ext cx="2552700" cy="2552700"/>
          </a:xfrm>
          <a:prstGeom prst="rect">
            <a:avLst/>
          </a:prstGeom>
          <a:ln w="12700">
            <a:noFill/>
            <a:prstDash val="soli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934" y="0"/>
            <a:ext cx="4680659" cy="6858000"/>
          </a:xfrm>
          <a:prstGeom prst="rect">
            <a:avLst/>
          </a:prstGeom>
          <a:solidFill>
            <a:srgbClr val="0A3760">
              <a:alpha val="100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3" name="AutoShape 3"/>
          <p:cNvSpPr/>
          <p:nvPr/>
        </p:nvSpPr>
        <p:spPr>
          <a:xfrm>
            <a:off x="6290327" y="720843"/>
            <a:ext cx="3062023" cy="646331"/>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600" b="1" i="0" u="none" strike="noStrike">
                <a:solidFill>
                  <a:srgbClr val="0A3760"/>
                </a:solidFill>
                <a:latin typeface="微软雅黑"/>
                <a:ea typeface="微软雅黑"/>
                <a:cs typeface="微软雅黑"/>
                <a:sym typeface="微软雅黑"/>
              </a:rPr>
              <a:t>CONTENTS</a:t>
            </a:r>
            <a:endParaRPr lang="en-US" sz="1100"/>
          </a:p>
        </p:txBody>
      </p:sp>
      <p:grpSp>
        <p:nvGrpSpPr>
          <p:cNvPr id="4" name="Group 4"/>
          <p:cNvGrpSpPr/>
          <p:nvPr/>
        </p:nvGrpSpPr>
        <p:grpSpPr>
          <a:xfrm>
            <a:off x="6290327" y="1912895"/>
            <a:ext cx="2284189" cy="584775"/>
            <a:chOff x="6290327" y="1912895"/>
            <a:chExt cx="2284189" cy="584775"/>
          </a:xfrm>
        </p:grpSpPr>
        <p:grpSp>
          <p:nvGrpSpPr>
            <p:cNvPr id="5" name="Group 5"/>
            <p:cNvGrpSpPr/>
            <p:nvPr/>
          </p:nvGrpSpPr>
          <p:grpSpPr>
            <a:xfrm>
              <a:off x="6290327" y="1912895"/>
              <a:ext cx="2284189" cy="584775"/>
              <a:chOff x="6290327" y="1912895"/>
              <a:chExt cx="2284189" cy="584775"/>
            </a:xfrm>
          </p:grpSpPr>
          <p:sp>
            <p:nvSpPr>
              <p:cNvPr id="6" name="AutoShape 6"/>
              <p:cNvSpPr/>
              <p:nvPr/>
            </p:nvSpPr>
            <p:spPr>
              <a:xfrm>
                <a:off x="6290327" y="1912895"/>
                <a:ext cx="1020724" cy="584775"/>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200" b="1" i="0" u="none" strike="noStrike">
                    <a:solidFill>
                      <a:srgbClr val="0A3760"/>
                    </a:solidFill>
                    <a:latin typeface="微软雅黑"/>
                    <a:ea typeface="微软雅黑"/>
                    <a:cs typeface="微软雅黑"/>
                    <a:sym typeface="微软雅黑"/>
                  </a:rPr>
                  <a:t>01</a:t>
                </a:r>
                <a:endParaRPr lang="en-US" sz="1100"/>
              </a:p>
            </p:txBody>
          </p:sp>
          <p:sp>
            <p:nvSpPr>
              <p:cNvPr id="7" name="AutoShape 7"/>
              <p:cNvSpPr/>
              <p:nvPr/>
            </p:nvSpPr>
            <p:spPr>
              <a:xfrm>
                <a:off x="7169896" y="1963818"/>
                <a:ext cx="1404620" cy="460375"/>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2400" b="1" i="0" u="none" strike="noStrike">
                    <a:solidFill>
                      <a:srgbClr val="000000"/>
                    </a:solidFill>
                    <a:latin typeface="微软雅黑"/>
                    <a:ea typeface="微软雅黑"/>
                    <a:cs typeface="微软雅黑"/>
                    <a:sym typeface="微软雅黑"/>
                  </a:rPr>
                  <a:t>研究背景</a:t>
                </a:r>
                <a:endParaRPr lang="en-US" sz="1100"/>
              </a:p>
            </p:txBody>
          </p:sp>
        </p:grpSp>
        <p:cxnSp>
          <p:nvCxnSpPr>
            <p:cNvPr id="8" name="Connector 8"/>
            <p:cNvCxnSpPr/>
            <p:nvPr/>
          </p:nvCxnSpPr>
          <p:spPr>
            <a:xfrm>
              <a:off x="7148631" y="1995717"/>
              <a:ext cx="0" cy="396000"/>
            </a:xfrm>
            <a:prstGeom prst="line">
              <a:avLst/>
            </a:prstGeom>
            <a:noFill/>
            <a:ln w="12700" cap="flat">
              <a:solidFill>
                <a:srgbClr val="808080">
                  <a:alpha val="100000"/>
                </a:srgbClr>
              </a:solidFill>
              <a:prstDash val="solid"/>
              <a:headEnd type="none" w="med" len="med"/>
              <a:tailEnd type="none" w="med" len="med"/>
            </a:ln>
          </p:spPr>
        </p:cxnSp>
      </p:grpSp>
      <p:grpSp>
        <p:nvGrpSpPr>
          <p:cNvPr id="9" name="Group 9"/>
          <p:cNvGrpSpPr/>
          <p:nvPr/>
        </p:nvGrpSpPr>
        <p:grpSpPr>
          <a:xfrm>
            <a:off x="6290327" y="2767134"/>
            <a:ext cx="3200494" cy="584775"/>
            <a:chOff x="6290327" y="2767134"/>
            <a:chExt cx="3200494" cy="584775"/>
          </a:xfrm>
        </p:grpSpPr>
        <p:grpSp>
          <p:nvGrpSpPr>
            <p:cNvPr id="10" name="Group 10"/>
            <p:cNvGrpSpPr/>
            <p:nvPr/>
          </p:nvGrpSpPr>
          <p:grpSpPr>
            <a:xfrm>
              <a:off x="6290327" y="2767134"/>
              <a:ext cx="3200494" cy="584775"/>
              <a:chOff x="6290327" y="2767134"/>
              <a:chExt cx="3200494" cy="584775"/>
            </a:xfrm>
          </p:grpSpPr>
          <p:sp>
            <p:nvSpPr>
              <p:cNvPr id="11" name="AutoShape 11"/>
              <p:cNvSpPr/>
              <p:nvPr/>
            </p:nvSpPr>
            <p:spPr>
              <a:xfrm>
                <a:off x="6290327" y="2767134"/>
                <a:ext cx="1020724" cy="584775"/>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200" b="1" i="0" u="none" strike="noStrike">
                    <a:solidFill>
                      <a:srgbClr val="0A3760"/>
                    </a:solidFill>
                    <a:latin typeface="微软雅黑"/>
                    <a:ea typeface="微软雅黑"/>
                    <a:cs typeface="微软雅黑"/>
                    <a:sym typeface="微软雅黑"/>
                  </a:rPr>
                  <a:t>02</a:t>
                </a:r>
                <a:endParaRPr lang="en-US" sz="1100"/>
              </a:p>
            </p:txBody>
          </p:sp>
          <p:sp>
            <p:nvSpPr>
              <p:cNvPr id="12" name="AutoShape 12"/>
              <p:cNvSpPr/>
              <p:nvPr/>
            </p:nvSpPr>
            <p:spPr>
              <a:xfrm>
                <a:off x="7169896" y="2818057"/>
                <a:ext cx="2320925" cy="460375"/>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2400" b="1" i="0" u="none" strike="noStrike">
                    <a:solidFill>
                      <a:srgbClr val="000000"/>
                    </a:solidFill>
                    <a:latin typeface="微软雅黑"/>
                    <a:ea typeface="微软雅黑"/>
                    <a:cs typeface="微软雅黑"/>
                    <a:sym typeface="微软雅黑"/>
                  </a:rPr>
                  <a:t>国内外研究现状</a:t>
                </a:r>
                <a:endParaRPr lang="en-US" sz="1100"/>
              </a:p>
            </p:txBody>
          </p:sp>
        </p:grpSp>
        <p:cxnSp>
          <p:nvCxnSpPr>
            <p:cNvPr id="13" name="Connector 13"/>
            <p:cNvCxnSpPr/>
            <p:nvPr/>
          </p:nvCxnSpPr>
          <p:spPr>
            <a:xfrm>
              <a:off x="7148631" y="2849956"/>
              <a:ext cx="0" cy="396000"/>
            </a:xfrm>
            <a:prstGeom prst="line">
              <a:avLst/>
            </a:prstGeom>
            <a:noFill/>
            <a:ln w="12700" cap="flat">
              <a:solidFill>
                <a:srgbClr val="808080">
                  <a:alpha val="100000"/>
                </a:srgbClr>
              </a:solidFill>
              <a:prstDash val="solid"/>
              <a:headEnd type="none" w="med" len="med"/>
              <a:tailEnd type="none" w="med" len="med"/>
            </a:ln>
          </p:spPr>
        </p:cxnSp>
      </p:grpSp>
      <p:grpSp>
        <p:nvGrpSpPr>
          <p:cNvPr id="14" name="Group 14"/>
          <p:cNvGrpSpPr/>
          <p:nvPr/>
        </p:nvGrpSpPr>
        <p:grpSpPr>
          <a:xfrm>
            <a:off x="6290327" y="3600109"/>
            <a:ext cx="3200494" cy="584775"/>
            <a:chOff x="6290327" y="3600109"/>
            <a:chExt cx="3200494" cy="584775"/>
          </a:xfrm>
        </p:grpSpPr>
        <p:grpSp>
          <p:nvGrpSpPr>
            <p:cNvPr id="15" name="Group 15"/>
            <p:cNvGrpSpPr/>
            <p:nvPr/>
          </p:nvGrpSpPr>
          <p:grpSpPr>
            <a:xfrm>
              <a:off x="6290327" y="3600109"/>
              <a:ext cx="3200494" cy="584775"/>
              <a:chOff x="6290327" y="3600109"/>
              <a:chExt cx="3200494" cy="584775"/>
            </a:xfrm>
          </p:grpSpPr>
          <p:sp>
            <p:nvSpPr>
              <p:cNvPr id="16" name="AutoShape 16"/>
              <p:cNvSpPr/>
              <p:nvPr/>
            </p:nvSpPr>
            <p:spPr>
              <a:xfrm>
                <a:off x="6290327" y="3600109"/>
                <a:ext cx="1020724" cy="584775"/>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200" b="1" i="0" u="none" strike="noStrike">
                    <a:solidFill>
                      <a:srgbClr val="0A3760"/>
                    </a:solidFill>
                    <a:latin typeface="微软雅黑"/>
                    <a:ea typeface="微软雅黑"/>
                    <a:cs typeface="微软雅黑"/>
                    <a:sym typeface="微软雅黑"/>
                  </a:rPr>
                  <a:t>03</a:t>
                </a:r>
                <a:endParaRPr lang="en-US" sz="1100"/>
              </a:p>
            </p:txBody>
          </p:sp>
          <p:sp>
            <p:nvSpPr>
              <p:cNvPr id="17" name="AutoShape 17"/>
              <p:cNvSpPr/>
              <p:nvPr/>
            </p:nvSpPr>
            <p:spPr>
              <a:xfrm>
                <a:off x="7169896" y="3651032"/>
                <a:ext cx="2320925" cy="460375"/>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2400" b="1" i="0" u="none" strike="noStrike">
                    <a:solidFill>
                      <a:srgbClr val="000000"/>
                    </a:solidFill>
                    <a:latin typeface="微软雅黑"/>
                    <a:ea typeface="微软雅黑"/>
                    <a:cs typeface="微软雅黑"/>
                    <a:sym typeface="微软雅黑"/>
                  </a:rPr>
                  <a:t>研究内容与路线</a:t>
                </a:r>
                <a:endParaRPr lang="en-US" sz="1100"/>
              </a:p>
            </p:txBody>
          </p:sp>
        </p:grpSp>
        <p:cxnSp>
          <p:nvCxnSpPr>
            <p:cNvPr id="18" name="Connector 18"/>
            <p:cNvCxnSpPr/>
            <p:nvPr/>
          </p:nvCxnSpPr>
          <p:spPr>
            <a:xfrm>
              <a:off x="7148631" y="3682931"/>
              <a:ext cx="0" cy="396000"/>
            </a:xfrm>
            <a:prstGeom prst="line">
              <a:avLst/>
            </a:prstGeom>
            <a:noFill/>
            <a:ln w="12700" cap="flat">
              <a:solidFill>
                <a:srgbClr val="808080">
                  <a:alpha val="100000"/>
                </a:srgbClr>
              </a:solidFill>
              <a:prstDash val="solid"/>
              <a:headEnd type="none" w="med" len="med"/>
              <a:tailEnd type="none" w="med" len="med"/>
            </a:ln>
          </p:spPr>
        </p:cxnSp>
      </p:grpSp>
      <p:grpSp>
        <p:nvGrpSpPr>
          <p:cNvPr id="19" name="Group 19"/>
          <p:cNvGrpSpPr/>
          <p:nvPr/>
        </p:nvGrpSpPr>
        <p:grpSpPr>
          <a:xfrm>
            <a:off x="6290327" y="4433084"/>
            <a:ext cx="4116799" cy="584775"/>
            <a:chOff x="6290327" y="4433084"/>
            <a:chExt cx="4116799" cy="584775"/>
          </a:xfrm>
        </p:grpSpPr>
        <p:grpSp>
          <p:nvGrpSpPr>
            <p:cNvPr id="20" name="Group 20"/>
            <p:cNvGrpSpPr/>
            <p:nvPr/>
          </p:nvGrpSpPr>
          <p:grpSpPr>
            <a:xfrm>
              <a:off x="6290327" y="4433084"/>
              <a:ext cx="4116799" cy="584775"/>
              <a:chOff x="6290327" y="4433084"/>
              <a:chExt cx="4116799" cy="584775"/>
            </a:xfrm>
          </p:grpSpPr>
          <p:sp>
            <p:nvSpPr>
              <p:cNvPr id="21" name="AutoShape 21"/>
              <p:cNvSpPr/>
              <p:nvPr/>
            </p:nvSpPr>
            <p:spPr>
              <a:xfrm>
                <a:off x="6290327" y="4433084"/>
                <a:ext cx="1020724" cy="584775"/>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200" b="1" i="0" u="none" strike="noStrike">
                    <a:solidFill>
                      <a:srgbClr val="0A3760"/>
                    </a:solidFill>
                    <a:latin typeface="微软雅黑"/>
                    <a:ea typeface="微软雅黑"/>
                    <a:cs typeface="微软雅黑"/>
                    <a:sym typeface="微软雅黑"/>
                  </a:rPr>
                  <a:t>04</a:t>
                </a:r>
                <a:endParaRPr lang="en-US" sz="1100"/>
              </a:p>
            </p:txBody>
          </p:sp>
          <p:sp>
            <p:nvSpPr>
              <p:cNvPr id="22" name="AutoShape 22"/>
              <p:cNvSpPr/>
              <p:nvPr/>
            </p:nvSpPr>
            <p:spPr>
              <a:xfrm>
                <a:off x="7169896" y="4484007"/>
                <a:ext cx="3237230" cy="460375"/>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2400" b="1" i="0" u="none" strike="noStrike">
                    <a:solidFill>
                      <a:srgbClr val="000000"/>
                    </a:solidFill>
                    <a:latin typeface="微软雅黑"/>
                    <a:ea typeface="微软雅黑"/>
                    <a:cs typeface="微软雅黑"/>
                    <a:sym typeface="微软雅黑"/>
                  </a:rPr>
                  <a:t>研究创新点与预期贡献</a:t>
                </a:r>
                <a:endParaRPr lang="en-US" sz="1100"/>
              </a:p>
            </p:txBody>
          </p:sp>
        </p:grpSp>
        <p:cxnSp>
          <p:nvCxnSpPr>
            <p:cNvPr id="23" name="Connector 23"/>
            <p:cNvCxnSpPr/>
            <p:nvPr/>
          </p:nvCxnSpPr>
          <p:spPr>
            <a:xfrm>
              <a:off x="7148631" y="4515906"/>
              <a:ext cx="0" cy="396000"/>
            </a:xfrm>
            <a:prstGeom prst="line">
              <a:avLst/>
            </a:prstGeom>
            <a:noFill/>
            <a:ln w="12700" cap="flat">
              <a:solidFill>
                <a:srgbClr val="808080">
                  <a:alpha val="100000"/>
                </a:srgbClr>
              </a:solidFill>
              <a:prstDash val="solid"/>
              <a:headEnd type="none" w="med" len="med"/>
              <a:tailEnd type="none" w="med" len="med"/>
            </a:ln>
          </p:spPr>
        </p:cxnSp>
      </p:grpSp>
      <p:pic>
        <p:nvPicPr>
          <p:cNvPr id="24" name="Picture 24"/>
          <p:cNvPicPr>
            <a:picLocks noChangeAspect="1"/>
          </p:cNvPicPr>
          <p:nvPr/>
        </p:nvPicPr>
        <p:blipFill>
          <a:blip r:embed="rId3"/>
          <a:srcRect/>
          <a:stretch>
            <a:fillRect/>
          </a:stretch>
        </p:blipFill>
        <p:spPr>
          <a:xfrm>
            <a:off x="869262" y="694952"/>
            <a:ext cx="2416036" cy="701166"/>
          </a:xfrm>
          <a:prstGeom prst="rect">
            <a:avLst/>
          </a:prstGeom>
          <a:ln w="12700">
            <a:noFill/>
            <a:prstDash val="solid"/>
          </a:ln>
        </p:spPr>
      </p:pic>
      <p:grpSp>
        <p:nvGrpSpPr>
          <p:cNvPr id="25" name="Group 25"/>
          <p:cNvGrpSpPr/>
          <p:nvPr/>
        </p:nvGrpSpPr>
        <p:grpSpPr>
          <a:xfrm>
            <a:off x="6308177" y="5266059"/>
            <a:ext cx="2284189" cy="584775"/>
            <a:chOff x="6308177" y="5266059"/>
            <a:chExt cx="2284189" cy="584775"/>
          </a:xfrm>
        </p:grpSpPr>
        <p:grpSp>
          <p:nvGrpSpPr>
            <p:cNvPr id="26" name="Group 26"/>
            <p:cNvGrpSpPr/>
            <p:nvPr/>
          </p:nvGrpSpPr>
          <p:grpSpPr>
            <a:xfrm>
              <a:off x="6308177" y="5266059"/>
              <a:ext cx="2284189" cy="584775"/>
              <a:chOff x="6308177" y="5266059"/>
              <a:chExt cx="2284189" cy="584775"/>
            </a:xfrm>
          </p:grpSpPr>
          <p:sp>
            <p:nvSpPr>
              <p:cNvPr id="27" name="AutoShape 27"/>
              <p:cNvSpPr/>
              <p:nvPr/>
            </p:nvSpPr>
            <p:spPr>
              <a:xfrm>
                <a:off x="6308177" y="5266059"/>
                <a:ext cx="1020724" cy="584775"/>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200" b="1" i="0" u="none" strike="noStrike">
                    <a:solidFill>
                      <a:srgbClr val="0A3760"/>
                    </a:solidFill>
                    <a:latin typeface="微软雅黑"/>
                    <a:ea typeface="微软雅黑"/>
                    <a:cs typeface="微软雅黑"/>
                    <a:sym typeface="微软雅黑"/>
                  </a:rPr>
                  <a:t>05</a:t>
                </a:r>
                <a:endParaRPr lang="en-US" sz="1100"/>
              </a:p>
            </p:txBody>
          </p:sp>
          <p:sp>
            <p:nvSpPr>
              <p:cNvPr id="28" name="AutoShape 28"/>
              <p:cNvSpPr/>
              <p:nvPr/>
            </p:nvSpPr>
            <p:spPr>
              <a:xfrm>
                <a:off x="7187746" y="5316982"/>
                <a:ext cx="1404620" cy="460375"/>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2400" b="1" i="0" u="none" strike="noStrike">
                    <a:solidFill>
                      <a:srgbClr val="000000"/>
                    </a:solidFill>
                    <a:latin typeface="微软雅黑"/>
                    <a:ea typeface="微软雅黑"/>
                    <a:cs typeface="微软雅黑"/>
                    <a:sym typeface="微软雅黑"/>
                  </a:rPr>
                  <a:t>写作计划</a:t>
                </a:r>
                <a:endParaRPr lang="en-US" sz="1100"/>
              </a:p>
            </p:txBody>
          </p:sp>
        </p:grpSp>
        <p:cxnSp>
          <p:nvCxnSpPr>
            <p:cNvPr id="29" name="Connector 29"/>
            <p:cNvCxnSpPr/>
            <p:nvPr/>
          </p:nvCxnSpPr>
          <p:spPr>
            <a:xfrm>
              <a:off x="7166481" y="5348881"/>
              <a:ext cx="0" cy="396000"/>
            </a:xfrm>
            <a:prstGeom prst="line">
              <a:avLst/>
            </a:prstGeom>
            <a:noFill/>
            <a:ln w="12700" cap="flat">
              <a:solidFill>
                <a:srgbClr val="808080">
                  <a:alpha val="100000"/>
                </a:srgbClr>
              </a:solidFill>
              <a:prstDash val="solid"/>
              <a:headEnd type="none" w="med" len="med"/>
              <a:tailEnd type="none" w="med" len="med"/>
            </a:ln>
          </p:spPr>
        </p:cxnSp>
      </p:grpSp>
      <p:pic>
        <p:nvPicPr>
          <p:cNvPr id="30" name="Picture 30"/>
          <p:cNvPicPr>
            <a:picLocks noChangeAspect="1"/>
          </p:cNvPicPr>
          <p:nvPr/>
        </p:nvPicPr>
        <p:blipFill>
          <a:blip r:embed="rId4"/>
          <a:srcRect/>
          <a:stretch>
            <a:fillRect/>
          </a:stretch>
        </p:blipFill>
        <p:spPr>
          <a:xfrm>
            <a:off x="1235490" y="2077686"/>
            <a:ext cx="1905000" cy="1905000"/>
          </a:xfrm>
          <a:prstGeom prst="rect">
            <a:avLst/>
          </a:prstGeom>
          <a:ln w="12700">
            <a:noFill/>
            <a:prstDash val="soli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934" y="0"/>
            <a:ext cx="12214934" cy="3616960"/>
          </a:xfrm>
          <a:prstGeom prst="rect">
            <a:avLst/>
          </a:prstGeom>
          <a:solidFill>
            <a:srgbClr val="0A3760">
              <a:alpha val="100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pic>
        <p:nvPicPr>
          <p:cNvPr id="3" name="Picture 3"/>
          <p:cNvPicPr>
            <a:picLocks noChangeAspect="1"/>
          </p:cNvPicPr>
          <p:nvPr/>
        </p:nvPicPr>
        <p:blipFill>
          <a:blip r:embed="rId3"/>
          <a:srcRect/>
          <a:stretch>
            <a:fillRect/>
          </a:stretch>
        </p:blipFill>
        <p:spPr>
          <a:xfrm>
            <a:off x="4179656" y="602203"/>
            <a:ext cx="3832687" cy="1112297"/>
          </a:xfrm>
          <a:prstGeom prst="rect">
            <a:avLst/>
          </a:prstGeom>
          <a:ln w="12700">
            <a:noFill/>
            <a:prstDash val="solid"/>
          </a:ln>
        </p:spPr>
      </p:pic>
      <p:sp>
        <p:nvSpPr>
          <p:cNvPr id="4" name="Freeform 4"/>
          <p:cNvSpPr/>
          <p:nvPr/>
        </p:nvSpPr>
        <p:spPr>
          <a:xfrm>
            <a:off x="2965450" y="2922270"/>
            <a:ext cx="5464810" cy="1324610"/>
          </a:xfrm>
          <a:custGeom>
            <a:avLst/>
            <a:gdLst/>
            <a:ahLst/>
            <a:cxnLst/>
            <a:rect l="l" t="t" r="r" b="b"/>
            <a:pathLst>
              <a:path w="5464810" h="1324610">
                <a:moveTo>
                  <a:pt x="588503" y="0"/>
                </a:moveTo>
                <a:lnTo>
                  <a:pt x="588512" y="1"/>
                </a:lnTo>
                <a:lnTo>
                  <a:pt x="4851343" y="1"/>
                </a:lnTo>
                <a:lnTo>
                  <a:pt x="4851343" y="2833"/>
                </a:lnTo>
                <a:lnTo>
                  <a:pt x="4876307" y="1"/>
                </a:lnTo>
                <a:cubicBezTo>
                  <a:pt x="5201328" y="1"/>
                  <a:pt x="5464810" y="296525"/>
                  <a:pt x="5464810" y="662305"/>
                </a:cubicBezTo>
                <a:cubicBezTo>
                  <a:pt x="5464810" y="1028087"/>
                  <a:pt x="5201328" y="1324610"/>
                  <a:pt x="4876307" y="1324610"/>
                </a:cubicBezTo>
                <a:lnTo>
                  <a:pt x="4851343" y="1321778"/>
                </a:lnTo>
                <a:lnTo>
                  <a:pt x="4851343" y="1324609"/>
                </a:lnTo>
                <a:lnTo>
                  <a:pt x="588503" y="1324609"/>
                </a:lnTo>
                <a:cubicBezTo>
                  <a:pt x="263482" y="1324609"/>
                  <a:pt x="0" y="1028085"/>
                  <a:pt x="0" y="662305"/>
                </a:cubicBezTo>
                <a:cubicBezTo>
                  <a:pt x="0" y="296523"/>
                  <a:pt x="263482" y="0"/>
                  <a:pt x="588503" y="0"/>
                </a:cubicBezTo>
                <a:close/>
              </a:path>
            </a:pathLst>
          </a:custGeom>
          <a:solidFill>
            <a:srgbClr val="FFFFFF">
              <a:alpha val="100000"/>
            </a:srgbClr>
          </a:solidFill>
          <a:ln w="38100" cap="flat">
            <a:solidFill>
              <a:srgbClr val="0A3760">
                <a:alpha val="100000"/>
              </a:srgbClr>
            </a:solidFill>
            <a:prstDash val="solid"/>
          </a:ln>
          <a:effectLst>
            <a:outerShdw blurRad="63500" sx="102000" sy="102000" algn="ctr" rotWithShape="0">
              <a:srgbClr val="000000">
                <a:alpha val="40000"/>
              </a:srgbClr>
            </a:outerShdw>
          </a:effectLst>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5" name="AutoShape 5"/>
          <p:cNvSpPr/>
          <p:nvPr/>
        </p:nvSpPr>
        <p:spPr>
          <a:xfrm>
            <a:off x="4161570" y="3271730"/>
            <a:ext cx="2719070" cy="1198880"/>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3600" b="1" i="0" u="none" strike="noStrike">
                <a:solidFill>
                  <a:srgbClr val="000000"/>
                </a:solidFill>
                <a:latin typeface="微软雅黑"/>
                <a:ea typeface="微软雅黑"/>
                <a:cs typeface="微软雅黑"/>
                <a:sym typeface="微软雅黑"/>
              </a:rPr>
              <a:t>1.  研究背景</a:t>
            </a:r>
            <a:endParaRPr lang="en-US" sz="1100"/>
          </a:p>
          <a:p>
            <a:pPr marL="0" indent="0" algn="l" defTabSz="914400">
              <a:lnSpc>
                <a:spcPct val="100000"/>
              </a:lnSpc>
            </a:pPr>
            <a:r>
              <a:rPr lang="en-US" sz="3600" b="0" i="0" u="none" strike="noStrike">
                <a:solidFill>
                  <a:srgbClr val="000000"/>
                </a:solidFill>
                <a:latin typeface="等线"/>
                <a:ea typeface="等线"/>
                <a:cs typeface="等线"/>
                <a:sym typeface="等线"/>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AutoShape 2"/>
          <p:cNvSpPr/>
          <p:nvPr/>
        </p:nvSpPr>
        <p:spPr>
          <a:xfrm>
            <a:off x="0" y="127000"/>
            <a:ext cx="3263900" cy="609600"/>
          </a:xfrm>
          <a:prstGeom prst="roundRect">
            <a:avLst>
              <a:gd name="adj" fmla="val 41665"/>
            </a:avLst>
          </a:prstGeom>
          <a:solidFill>
            <a:srgbClr val="0A3760">
              <a:alpha val="100000"/>
            </a:srgbClr>
          </a:solidFill>
          <a:ln w="25400" cap="flat" cmpd="sng">
            <a:noFill/>
            <a:prstDash val="solid"/>
            <a:round/>
          </a:ln>
        </p:spPr>
        <p:txBody>
          <a:bodyPr vert="horz" wrap="square" lIns="0" tIns="0" rIns="0" bIns="0" rtlCol="0" anchor="ctr" anchorCtr="0"/>
          <a:lstStyle/>
          <a:p>
            <a:pPr algn="l">
              <a:defRPr/>
            </a:pPr>
            <a:endParaRPr/>
          </a:p>
        </p:txBody>
      </p:sp>
      <p:pic>
        <p:nvPicPr>
          <p:cNvPr id="3" name="Picture 3"/>
          <p:cNvPicPr>
            <a:picLocks noChangeAspect="1"/>
          </p:cNvPicPr>
          <p:nvPr/>
        </p:nvPicPr>
        <p:blipFill>
          <a:blip r:embed="rId4"/>
          <a:srcRect/>
          <a:stretch>
            <a:fillRect/>
          </a:stretch>
        </p:blipFill>
        <p:spPr>
          <a:xfrm>
            <a:off x="177800" y="152400"/>
            <a:ext cx="558800" cy="558800"/>
          </a:xfrm>
          <a:prstGeom prst="rect">
            <a:avLst/>
          </a:prstGeom>
          <a:noFill/>
          <a:ln w="25400" cap="flat" cmpd="sng">
            <a:noFill/>
            <a:prstDash val="solid"/>
            <a:round/>
          </a:ln>
        </p:spPr>
      </p:pic>
      <p:sp>
        <p:nvSpPr>
          <p:cNvPr id="4" name="AutoShape 4"/>
          <p:cNvSpPr/>
          <p:nvPr/>
        </p:nvSpPr>
        <p:spPr>
          <a:xfrm>
            <a:off x="812800" y="190500"/>
            <a:ext cx="2501900" cy="508000"/>
          </a:xfrm>
          <a:prstGeom prst="roundRect">
            <a:avLst>
              <a:gd name="adj" fmla="val 0"/>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2200" b="1" i="0" u="none" strike="noStrike">
                <a:solidFill>
                  <a:srgbClr val="FFFFFF"/>
                </a:solidFill>
                <a:latin typeface="微软雅黑"/>
                <a:ea typeface="微软雅黑"/>
                <a:cs typeface="微软雅黑"/>
                <a:sym typeface="微软雅黑"/>
              </a:rPr>
              <a:t>研究背景与动机</a:t>
            </a:r>
            <a:endParaRPr lang="en-US" sz="1100"/>
          </a:p>
        </p:txBody>
      </p:sp>
      <p:pic>
        <p:nvPicPr>
          <p:cNvPr id="6" name="Picture 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1968500"/>
            <a:ext cx="508000" cy="508000"/>
          </a:xfrm>
          <a:prstGeom prst="rect">
            <a:avLst/>
          </a:prstGeom>
        </p:spPr>
      </p:pic>
      <p:sp>
        <p:nvSpPr>
          <p:cNvPr id="7" name="AutoShape 7"/>
          <p:cNvSpPr/>
          <p:nvPr/>
        </p:nvSpPr>
        <p:spPr>
          <a:xfrm>
            <a:off x="1397000" y="1968500"/>
            <a:ext cx="44450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800" b="1" i="0" u="none" strike="noStrike" dirty="0">
                <a:solidFill>
                  <a:srgbClr val="1E3A8A"/>
                </a:solidFill>
                <a:latin typeface="微软雅黑"/>
                <a:ea typeface="微软雅黑"/>
                <a:cs typeface="微软雅黑"/>
                <a:sym typeface="微软雅黑"/>
              </a:rPr>
              <a:t>01 </a:t>
            </a:r>
            <a:r>
              <a:rPr lang="en-US" sz="1800" b="1" i="0" u="none" strike="noStrike" dirty="0" err="1">
                <a:solidFill>
                  <a:srgbClr val="1E3A8A"/>
                </a:solidFill>
                <a:latin typeface="微软雅黑"/>
                <a:ea typeface="微软雅黑"/>
                <a:cs typeface="微软雅黑"/>
                <a:sym typeface="微软雅黑"/>
              </a:rPr>
              <a:t>智能监控迫切需求</a:t>
            </a:r>
            <a:endParaRPr lang="en-US" sz="1100" dirty="0"/>
          </a:p>
        </p:txBody>
      </p:sp>
      <p:sp>
        <p:nvSpPr>
          <p:cNvPr id="8" name="AutoShape 8"/>
          <p:cNvSpPr/>
          <p:nvPr/>
        </p:nvSpPr>
        <p:spPr>
          <a:xfrm>
            <a:off x="762000" y="2540000"/>
            <a:ext cx="4953000" cy="10795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08333"/>
              </a:lnSpc>
              <a:defRPr/>
            </a:pP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微软雅黑"/>
                <a:sym typeface="微软雅黑"/>
              </a:rPr>
              <a:t>在森林火灾、危化园区等高危场景中，智能监控是安防预警的核心。计算机视觉技术是实现目标精准识别与实时响应的关键支撑，对高效、准确的火情监测系统需求持续攀升</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pic>
        <p:nvPicPr>
          <p:cNvPr id="10" name="Picture 1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1968500"/>
            <a:ext cx="508000" cy="508000"/>
          </a:xfrm>
          <a:prstGeom prst="rect">
            <a:avLst/>
          </a:prstGeom>
        </p:spPr>
      </p:pic>
      <p:sp>
        <p:nvSpPr>
          <p:cNvPr id="11" name="AutoShape 11"/>
          <p:cNvSpPr/>
          <p:nvPr/>
        </p:nvSpPr>
        <p:spPr>
          <a:xfrm>
            <a:off x="7112000" y="1968500"/>
            <a:ext cx="44450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800" b="1" i="0" u="none" strike="noStrike" dirty="0">
                <a:solidFill>
                  <a:srgbClr val="9A3412"/>
                </a:solidFill>
                <a:latin typeface="微软雅黑"/>
                <a:ea typeface="微软雅黑"/>
                <a:cs typeface="微软雅黑"/>
                <a:sym typeface="微软雅黑"/>
              </a:rPr>
              <a:t>02 </a:t>
            </a:r>
            <a:r>
              <a:rPr lang="en-US" sz="1800" b="1" i="0" u="none" strike="noStrike" dirty="0" err="1">
                <a:solidFill>
                  <a:srgbClr val="9A3412"/>
                </a:solidFill>
                <a:latin typeface="微软雅黑"/>
                <a:ea typeface="微软雅黑"/>
                <a:cs typeface="微软雅黑"/>
                <a:sym typeface="微软雅黑"/>
              </a:rPr>
              <a:t>人工标注痛点凸显</a:t>
            </a:r>
            <a:endParaRPr lang="en-US" sz="1100" dirty="0"/>
          </a:p>
        </p:txBody>
      </p:sp>
      <p:sp>
        <p:nvSpPr>
          <p:cNvPr id="12" name="AutoShape 12"/>
          <p:cNvSpPr/>
          <p:nvPr/>
        </p:nvSpPr>
        <p:spPr>
          <a:xfrm>
            <a:off x="6477000" y="2540000"/>
            <a:ext cx="4953000" cy="1079500"/>
          </a:xfrm>
          <a:prstGeom prst="rect">
            <a:avLst/>
          </a:prstGeom>
          <a:noFill/>
          <a:ln w="12700" cap="flat" cmpd="sng">
            <a:noFill/>
            <a:prstDash val="solid"/>
            <a:round/>
          </a:ln>
        </p:spPr>
        <p:txBody>
          <a:bodyPr vert="horz" wrap="square" lIns="0" tIns="0" rIns="0" bIns="0" rtlCol="0" anchor="ctr">
            <a:noAutofit/>
          </a:bodyPr>
          <a:lstStyle/>
          <a:p>
            <a:pPr>
              <a:lnSpc>
                <a:spcPct val="108333"/>
              </a:lnSpc>
            </a:pPr>
            <a:r>
              <a:rPr lang="en-US">
                <a:solidFill>
                  <a:schemeClr val="tx1">
                    <a:lumMod val="85000"/>
                    <a:lumOff val="15000"/>
                  </a:schemeClr>
                </a:solidFill>
                <a:latin typeface="Microsoft YaHei" panose="020B0503020204020204" pitchFamily="34" charset="-122"/>
                <a:ea typeface="Microsoft YaHei" panose="020B0503020204020204" pitchFamily="34" charset="-122"/>
                <a:sym typeface="微软雅黑"/>
              </a:rPr>
              <a:t>主流检测算法依赖全监督学习，</a:t>
            </a:r>
            <a:r>
              <a:rPr lang="en-US" dirty="0">
                <a:solidFill>
                  <a:schemeClr val="tx1">
                    <a:lumMod val="85000"/>
                    <a:lumOff val="15000"/>
                  </a:schemeClr>
                </a:solidFill>
                <a:latin typeface="Microsoft YaHei" panose="020B0503020204020204" pitchFamily="34" charset="-122"/>
                <a:ea typeface="Microsoft YaHei" panose="020B0503020204020204" pitchFamily="34" charset="-122"/>
                <a:sym typeface="微软雅黑"/>
              </a:rPr>
              <a:t>需海量高质量人工标注。火烟作为非刚性目标，形态弥散且边界模糊，导致标注成本高、周期长，且易因主观判断引入偏差</a:t>
            </a:r>
            <a:r>
              <a:rPr lang="en-US">
                <a:solidFill>
                  <a:schemeClr val="tx1">
                    <a:lumMod val="85000"/>
                    <a:lumOff val="15000"/>
                  </a:schemeClr>
                </a:solidFill>
                <a:latin typeface="Microsoft YaHei" panose="020B0503020204020204" pitchFamily="34" charset="-122"/>
                <a:ea typeface="Microsoft YaHei" panose="020B0503020204020204" pitchFamily="34" charset="-122"/>
                <a:sym typeface="微软雅黑"/>
              </a:rPr>
              <a:t>，成为模型落地的瓶颈</a:t>
            </a:r>
            <a:r>
              <a:rPr lang="en-US">
                <a:solidFill>
                  <a:schemeClr val="tx1">
                    <a:lumMod val="85000"/>
                    <a:lumOff val="15000"/>
                  </a:schemeClr>
                </a:solidFill>
                <a:latin typeface="Microsoft YaHei" panose="020B0503020204020204" pitchFamily="34" charset="-122"/>
                <a:ea typeface="Microsoft YaHei" panose="020B0503020204020204" pitchFamily="34" charset="-122"/>
                <a:sym typeface="Noto Sans SC"/>
              </a:rPr>
              <a:t>。</a:t>
            </a:r>
            <a:endParaRPr lang="en-US"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pic>
        <p:nvPicPr>
          <p:cNvPr id="14" name="Picture 1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62000" y="4254500"/>
            <a:ext cx="508000" cy="508000"/>
          </a:xfrm>
          <a:prstGeom prst="rect">
            <a:avLst/>
          </a:prstGeom>
        </p:spPr>
      </p:pic>
      <p:sp>
        <p:nvSpPr>
          <p:cNvPr id="15" name="AutoShape 15"/>
          <p:cNvSpPr/>
          <p:nvPr/>
        </p:nvSpPr>
        <p:spPr>
          <a:xfrm>
            <a:off x="1397000" y="4254500"/>
            <a:ext cx="44450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800" b="1" i="0" u="none" strike="noStrike">
                <a:solidFill>
                  <a:srgbClr val="064E3B"/>
                </a:solidFill>
                <a:latin typeface="微软雅黑"/>
                <a:ea typeface="微软雅黑"/>
                <a:cs typeface="微软雅黑"/>
                <a:sym typeface="微软雅黑"/>
              </a:rPr>
              <a:t>03 视觉大模型带来新契机</a:t>
            </a:r>
            <a:endParaRPr lang="en-US" sz="1100"/>
          </a:p>
        </p:txBody>
      </p:sp>
      <p:sp>
        <p:nvSpPr>
          <p:cNvPr id="16" name="AutoShape 16"/>
          <p:cNvSpPr/>
          <p:nvPr/>
        </p:nvSpPr>
        <p:spPr>
          <a:xfrm>
            <a:off x="762000" y="4826000"/>
            <a:ext cx="4953000" cy="1079500"/>
          </a:xfrm>
          <a:prstGeom prst="roundRect">
            <a:avLst>
              <a:gd name="adj" fmla="val 0"/>
            </a:avLst>
          </a:prstGeom>
          <a:noFill/>
          <a:ln w="12700" cap="flat" cmpd="sng">
            <a:noFill/>
            <a:prstDash val="solid"/>
            <a:round/>
          </a:ln>
        </p:spPr>
        <p:txBody>
          <a:bodyPr vert="horz" wrap="square" lIns="0" tIns="0" rIns="0" bIns="0" rtlCol="0" anchor="ctr">
            <a:noAutofit/>
          </a:bodyPr>
          <a:lstStyle/>
          <a:p>
            <a:pPr>
              <a:lnSpc>
                <a:spcPct val="108333"/>
              </a:lnSpc>
            </a:pPr>
            <a:r>
              <a:rPr lang="en-US" dirty="0">
                <a:solidFill>
                  <a:schemeClr val="tx1">
                    <a:lumMod val="85000"/>
                    <a:lumOff val="15000"/>
                  </a:schemeClr>
                </a:solidFill>
                <a:latin typeface="Microsoft YaHei" panose="020B0503020204020204" pitchFamily="34" charset="-122"/>
                <a:ea typeface="Microsoft YaHei" panose="020B0503020204020204" pitchFamily="34" charset="-122"/>
                <a:sym typeface="微软雅黑"/>
              </a:rPr>
              <a:t>Grounding DINO 与 SAM 等视觉大模型的问世，凭借强大的零样本定位与通用分割能力，为自动化生成高质量训练标签提供了技术可能，为自动化生成训练标签提供了新的技术路径。</a:t>
            </a:r>
            <a:endParaRPr lang="en-US"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pic>
        <p:nvPicPr>
          <p:cNvPr id="18" name="Picture 18"/>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477000" y="4254500"/>
            <a:ext cx="508000" cy="508000"/>
          </a:xfrm>
          <a:prstGeom prst="rect">
            <a:avLst/>
          </a:prstGeom>
        </p:spPr>
      </p:pic>
      <p:sp>
        <p:nvSpPr>
          <p:cNvPr id="19" name="AutoShape 19"/>
          <p:cNvSpPr/>
          <p:nvPr/>
        </p:nvSpPr>
        <p:spPr>
          <a:xfrm>
            <a:off x="7112000" y="4254500"/>
            <a:ext cx="44450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800" b="1" i="0" u="none" strike="noStrike">
                <a:solidFill>
                  <a:srgbClr val="4C1D95"/>
                </a:solidFill>
                <a:latin typeface="微软雅黑"/>
                <a:ea typeface="微软雅黑"/>
                <a:cs typeface="微软雅黑"/>
                <a:sym typeface="微软雅黑"/>
              </a:rPr>
              <a:t>04 研究核心聚焦与突破</a:t>
            </a:r>
            <a:endParaRPr lang="en-US" sz="1100"/>
          </a:p>
        </p:txBody>
      </p:sp>
      <p:sp>
        <p:nvSpPr>
          <p:cNvPr id="20" name="AutoShape 20"/>
          <p:cNvSpPr/>
          <p:nvPr/>
        </p:nvSpPr>
        <p:spPr>
          <a:xfrm>
            <a:off x="6477000" y="4826000"/>
            <a:ext cx="49530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08333"/>
              </a:lnSpc>
              <a:defRPr/>
            </a:pPr>
            <a:r>
              <a:rPr lang="en-US" sz="1400" b="0" i="0" u="none" strike="noStrike" dirty="0">
                <a:solidFill>
                  <a:schemeClr val="tx1">
                    <a:lumMod val="85000"/>
                    <a:lumOff val="15000"/>
                  </a:schemeClr>
                </a:solidFill>
                <a:latin typeface="微软雅黑"/>
                <a:ea typeface="微软雅黑"/>
                <a:cs typeface="微软雅黑"/>
                <a:sym typeface="微软雅黑"/>
              </a:rPr>
              <a:t>研究不追求新网络架构创新，</a:t>
            </a:r>
            <a:r>
              <a:rPr lang="en-US" dirty="0">
                <a:solidFill>
                  <a:schemeClr val="tx1">
                    <a:lumMod val="85000"/>
                    <a:lumOff val="15000"/>
                  </a:schemeClr>
                </a:solidFill>
                <a:latin typeface="Microsoft YaHei" panose="020B0503020204020204" pitchFamily="34" charset="-122"/>
                <a:ea typeface="Microsoft YaHei" panose="020B0503020204020204" pitchFamily="34" charset="-122"/>
                <a:sym typeface="微软雅黑"/>
              </a:rPr>
              <a:t>重点构建稳定</a:t>
            </a:r>
            <a:r>
              <a:rPr lang="en-US" sz="1400" b="0" i="0" u="none" strike="noStrike" dirty="0">
                <a:solidFill>
                  <a:schemeClr val="tx1">
                    <a:lumMod val="85000"/>
                    <a:lumOff val="15000"/>
                  </a:schemeClr>
                </a:solidFill>
                <a:latin typeface="微软雅黑"/>
                <a:ea typeface="微软雅黑"/>
                <a:cs typeface="微软雅黑"/>
                <a:sym typeface="微软雅黑"/>
              </a:rPr>
              <a:t>、可复现的伪标签生成与验证规范体系，量化后处理环节增益与成本，为同类非刚性目标的数据制备提供可复现的流程参考。</a:t>
            </a:r>
            <a:endParaRPr lang="en-US" sz="1100" dirty="0">
              <a:solidFill>
                <a:schemeClr val="tx1">
                  <a:lumMod val="85000"/>
                  <a:lumOff val="15000"/>
                </a:schemeClr>
              </a:solidFill>
            </a:endParaRPr>
          </a:p>
        </p:txBody>
      </p:sp>
      <p:cxnSp>
        <p:nvCxnSpPr>
          <p:cNvPr id="21" name="Connector 8">
            <a:extLst>
              <a:ext uri="{FF2B5EF4-FFF2-40B4-BE49-F238E27FC236}">
                <a16:creationId xmlns:a16="http://schemas.microsoft.com/office/drawing/2014/main" id="{DC63FCB9-A473-4B34-B4AA-5B9AABC6F109}"/>
              </a:ext>
            </a:extLst>
          </p:cNvPr>
          <p:cNvCxnSpPr>
            <a:cxnSpLocks/>
          </p:cNvCxnSpPr>
          <p:nvPr/>
        </p:nvCxnSpPr>
        <p:spPr>
          <a:xfrm>
            <a:off x="5974254" y="1541929"/>
            <a:ext cx="0" cy="4589930"/>
          </a:xfrm>
          <a:prstGeom prst="line">
            <a:avLst/>
          </a:prstGeom>
          <a:ln w="19050">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23" name="Connector 8">
            <a:extLst>
              <a:ext uri="{FF2B5EF4-FFF2-40B4-BE49-F238E27FC236}">
                <a16:creationId xmlns:a16="http://schemas.microsoft.com/office/drawing/2014/main" id="{4E7E6D87-53F6-4D71-B3BE-DE0ABD588878}"/>
              </a:ext>
            </a:extLst>
          </p:cNvPr>
          <p:cNvCxnSpPr>
            <a:cxnSpLocks/>
          </p:cNvCxnSpPr>
          <p:nvPr/>
        </p:nvCxnSpPr>
        <p:spPr>
          <a:xfrm>
            <a:off x="812800" y="3756212"/>
            <a:ext cx="10744200" cy="0"/>
          </a:xfrm>
          <a:prstGeom prst="line">
            <a:avLst/>
          </a:prstGeom>
          <a:ln w="19050">
            <a:headEnd type="none" w="med" len="med"/>
            <a:tailEnd type="none" w="med" len="med"/>
          </a:ln>
        </p:spPr>
        <p:style>
          <a:lnRef idx="1">
            <a:schemeClr val="accent3"/>
          </a:lnRef>
          <a:fillRef idx="0">
            <a:schemeClr val="accent3"/>
          </a:fillRef>
          <a:effectRef idx="0">
            <a:schemeClr val="accent3"/>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AutoShape 2"/>
          <p:cNvSpPr/>
          <p:nvPr/>
        </p:nvSpPr>
        <p:spPr>
          <a:xfrm>
            <a:off x="0" y="127000"/>
            <a:ext cx="2463800" cy="609600"/>
          </a:xfrm>
          <a:prstGeom prst="roundRect">
            <a:avLst>
              <a:gd name="adj" fmla="val 41665"/>
            </a:avLst>
          </a:prstGeom>
          <a:solidFill>
            <a:srgbClr val="0A3760">
              <a:alpha val="100000"/>
            </a:srgbClr>
          </a:solidFill>
          <a:ln w="25400" cap="flat" cmpd="sng">
            <a:noFill/>
            <a:prstDash val="solid"/>
            <a:round/>
          </a:ln>
        </p:spPr>
        <p:txBody>
          <a:bodyPr vert="horz" wrap="square" lIns="0" tIns="0" rIns="0" bIns="0" rtlCol="0" anchor="ctr" anchorCtr="0"/>
          <a:lstStyle/>
          <a:p>
            <a:pPr algn="l">
              <a:defRPr/>
            </a:pPr>
            <a:endParaRPr/>
          </a:p>
        </p:txBody>
      </p:sp>
      <p:pic>
        <p:nvPicPr>
          <p:cNvPr id="3" name="Picture 3"/>
          <p:cNvPicPr>
            <a:picLocks noChangeAspect="1"/>
          </p:cNvPicPr>
          <p:nvPr/>
        </p:nvPicPr>
        <p:blipFill>
          <a:blip r:embed="rId4"/>
          <a:srcRect/>
          <a:stretch>
            <a:fillRect/>
          </a:stretch>
        </p:blipFill>
        <p:spPr>
          <a:xfrm>
            <a:off x="177800" y="152400"/>
            <a:ext cx="558800" cy="558800"/>
          </a:xfrm>
          <a:prstGeom prst="rect">
            <a:avLst/>
          </a:prstGeom>
          <a:noFill/>
          <a:ln w="25400" cap="flat" cmpd="sng">
            <a:noFill/>
            <a:prstDash val="solid"/>
            <a:round/>
          </a:ln>
        </p:spPr>
      </p:pic>
      <p:sp>
        <p:nvSpPr>
          <p:cNvPr id="4" name="AutoShape 4"/>
          <p:cNvSpPr/>
          <p:nvPr/>
        </p:nvSpPr>
        <p:spPr>
          <a:xfrm>
            <a:off x="812800" y="190500"/>
            <a:ext cx="1701800" cy="508000"/>
          </a:xfrm>
          <a:prstGeom prst="roundRect">
            <a:avLst>
              <a:gd name="adj" fmla="val 0"/>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2200" b="1" i="0" u="none" strike="noStrike">
                <a:solidFill>
                  <a:srgbClr val="FFFFFF"/>
                </a:solidFill>
                <a:latin typeface="微软雅黑"/>
                <a:ea typeface="微软雅黑"/>
                <a:cs typeface="微软雅黑"/>
                <a:sym typeface="微软雅黑"/>
              </a:rPr>
              <a:t>研究目标</a:t>
            </a:r>
            <a:endParaRPr lang="en-US" sz="1100"/>
          </a:p>
        </p:txBody>
      </p:sp>
      <p:sp>
        <p:nvSpPr>
          <p:cNvPr id="5" name="AutoShape 5"/>
          <p:cNvSpPr/>
          <p:nvPr/>
        </p:nvSpPr>
        <p:spPr>
          <a:xfrm>
            <a:off x="762000" y="1397000"/>
            <a:ext cx="10668000" cy="762000"/>
          </a:xfrm>
          <a:prstGeom prst="rect">
            <a:avLst/>
          </a:prstGeom>
          <a:noFill/>
          <a:ln w="12700" cap="flat" cmpd="sng">
            <a:noFill/>
            <a:prstDash val="solid"/>
            <a:round/>
          </a:ln>
        </p:spPr>
        <p:txBody>
          <a:bodyPr vert="horz" wrap="square" lIns="0" tIns="0" rIns="0" bIns="0" rtlCol="0" anchor="ctr">
            <a:noAutofit/>
          </a:bodyPr>
          <a:lstStyle/>
          <a:p>
            <a:pPr marL="0" indent="0" algn="ctr" defTabSz="914400">
              <a:lnSpc>
                <a:spcPct val="116666"/>
              </a:lnSpc>
              <a:defRPr/>
            </a:pPr>
            <a:r>
              <a:rPr lang="en-US" sz="16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致力于减少对全量人工逐框标注的依赖，打破“重数量轻质量”的传统困境，构建兼顾效率与精度的智能标注体系</a:t>
            </a:r>
            <a:r>
              <a:rPr lang="en-US" sz="16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6" name="AutoShape 6"/>
          <p:cNvSpPr/>
          <p:nvPr/>
        </p:nvSpPr>
        <p:spPr>
          <a:xfrm>
            <a:off x="762000" y="2413000"/>
            <a:ext cx="3429000" cy="3175000"/>
          </a:xfrm>
          <a:prstGeom prst="roundRect">
            <a:avLst>
              <a:gd name="adj" fmla="val 0"/>
            </a:avLst>
          </a:prstGeom>
          <a:solidFill>
            <a:srgbClr val="EFF6FF">
              <a:alpha val="60000"/>
            </a:srgbClr>
          </a:solidFill>
          <a:ln w="12700" cap="flat" cmpd="sng">
            <a:solidFill>
              <a:srgbClr val="BFDBFE">
                <a:alpha val="100000"/>
              </a:srgbClr>
            </a:solidFill>
            <a:prstDash val="solid"/>
            <a:round/>
          </a:ln>
        </p:spPr>
        <p:txBody>
          <a:bodyPr vert="horz" wrap="square" lIns="0" tIns="0" rIns="0" bIns="0" rtlCol="0" anchor="ctr" anchorCtr="0"/>
          <a:lstStyle/>
          <a:p>
            <a:pPr algn="ctr">
              <a:defRPr/>
            </a:pPr>
            <a:endParaRPr/>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2667000"/>
            <a:ext cx="406400" cy="406400"/>
          </a:xfrm>
          <a:prstGeom prst="rect">
            <a:avLst/>
          </a:prstGeom>
        </p:spPr>
      </p:pic>
      <p:sp>
        <p:nvSpPr>
          <p:cNvPr id="8" name="AutoShape 8"/>
          <p:cNvSpPr/>
          <p:nvPr/>
        </p:nvSpPr>
        <p:spPr>
          <a:xfrm>
            <a:off x="1524000" y="2692400"/>
            <a:ext cx="254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25000"/>
              </a:lnSpc>
              <a:defRPr/>
            </a:pPr>
            <a:r>
              <a:rPr lang="en-US" sz="1800" b="1" i="0" u="none" strike="noStrike" dirty="0">
                <a:solidFill>
                  <a:srgbClr val="2563EB"/>
                </a:solidFill>
                <a:latin typeface="Noto Sans SC"/>
                <a:ea typeface="Noto Sans SC"/>
                <a:cs typeface="Noto Sans SC"/>
                <a:sym typeface="Noto Sans SC"/>
              </a:rPr>
              <a:t>01 </a:t>
            </a:r>
            <a:r>
              <a:rPr lang="en-US" sz="1800" b="1" i="0" u="none" strike="noStrike" dirty="0" err="1">
                <a:solidFill>
                  <a:srgbClr val="2563EB"/>
                </a:solidFill>
                <a:latin typeface="Noto Sans SC"/>
                <a:ea typeface="Noto Sans SC"/>
                <a:cs typeface="Noto Sans SC"/>
                <a:sym typeface="Noto Sans SC"/>
              </a:rPr>
              <a:t>方法创新：可复现的伪标签生</a:t>
            </a:r>
            <a:r>
              <a:rPr lang="zh-CN" altLang="en-US" sz="1800" b="1" i="0" u="none" strike="noStrike" dirty="0">
                <a:solidFill>
                  <a:srgbClr val="2563EB"/>
                </a:solidFill>
                <a:latin typeface="Noto Sans SC"/>
                <a:ea typeface="Noto Sans SC"/>
                <a:cs typeface="Noto Sans SC"/>
                <a:sym typeface="Noto Sans SC"/>
              </a:rPr>
              <a:t>成</a:t>
            </a:r>
            <a:r>
              <a:rPr lang="en-US" sz="1800" b="1" i="0" u="none" strike="noStrike" dirty="0" err="1">
                <a:solidFill>
                  <a:srgbClr val="2563EB"/>
                </a:solidFill>
                <a:latin typeface="Noto Sans SC"/>
                <a:ea typeface="Noto Sans SC"/>
                <a:cs typeface="Noto Sans SC"/>
                <a:sym typeface="Noto Sans SC"/>
              </a:rPr>
              <a:t>与验证流程</a:t>
            </a:r>
            <a:endParaRPr lang="en-US" sz="1100" dirty="0"/>
          </a:p>
        </p:txBody>
      </p:sp>
      <p:cxnSp>
        <p:nvCxnSpPr>
          <p:cNvPr id="9" name="Connector 9"/>
          <p:cNvCxnSpPr/>
          <p:nvPr/>
        </p:nvCxnSpPr>
        <p:spPr>
          <a:xfrm rot="-14946">
            <a:off x="1016014" y="3232150"/>
            <a:ext cx="2921000" cy="12700"/>
          </a:xfrm>
          <a:prstGeom prst="line">
            <a:avLst/>
          </a:prstGeom>
          <a:solidFill>
            <a:srgbClr val="DEE0E3">
              <a:alpha val="100000"/>
            </a:srgbClr>
          </a:solidFill>
          <a:ln w="12700" cap="flat" cmpd="sng">
            <a:solidFill>
              <a:srgbClr val="2563EB">
                <a:alpha val="20000"/>
              </a:srgbClr>
            </a:solidFill>
            <a:prstDash val="solid"/>
            <a:round/>
            <a:headEnd type="none" w="med" len="med"/>
            <a:tailEnd type="none" w="med" len="med"/>
          </a:ln>
        </p:spPr>
      </p:cxnSp>
      <p:sp>
        <p:nvSpPr>
          <p:cNvPr id="10" name="AutoShape 10"/>
          <p:cNvSpPr/>
          <p:nvPr/>
        </p:nvSpPr>
        <p:spPr>
          <a:xfrm>
            <a:off x="1016000" y="3429000"/>
            <a:ext cx="2921000" cy="2032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4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构建基于</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 </a:t>
            </a:r>
            <a:r>
              <a:rPr lang="en-US" sz="1400" b="1"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Grounding DINO</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 </a:t>
            </a:r>
            <a:r>
              <a:rPr lang="en-US" sz="14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的伪标签自动生成流程，针对火焰与烟雾场景设计</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 </a:t>
            </a:r>
            <a:r>
              <a:rPr lang="en-US" sz="1400" b="1"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SAM3</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 </a:t>
            </a:r>
            <a:r>
              <a:rPr lang="en-US" sz="14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后置校验与候选治理策略。对比不同数据规模下的投入产出比，平衡自动化效率与标注精准度</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11" name="AutoShape 11"/>
          <p:cNvSpPr/>
          <p:nvPr/>
        </p:nvSpPr>
        <p:spPr>
          <a:xfrm>
            <a:off x="4381500" y="2413000"/>
            <a:ext cx="3429000" cy="3175000"/>
          </a:xfrm>
          <a:prstGeom prst="roundRect">
            <a:avLst>
              <a:gd name="adj" fmla="val 0"/>
            </a:avLst>
          </a:prstGeom>
          <a:solidFill>
            <a:srgbClr val="FFF7ED">
              <a:alpha val="60000"/>
            </a:srgbClr>
          </a:solidFill>
          <a:ln w="12700" cap="flat" cmpd="sng">
            <a:solidFill>
              <a:srgbClr val="FDBA74">
                <a:alpha val="100000"/>
              </a:srgbClr>
            </a:solidFill>
            <a:prstDash val="solid"/>
            <a:round/>
          </a:ln>
        </p:spPr>
        <p:txBody>
          <a:bodyPr vert="horz" wrap="square" lIns="0" tIns="0" rIns="0" bIns="0" rtlCol="0" anchor="ctr" anchorCtr="0"/>
          <a:lstStyle/>
          <a:p>
            <a:pPr algn="ctr">
              <a:defRPr/>
            </a:pPr>
            <a:endParaRPr/>
          </a:p>
        </p:txBody>
      </p: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35500" y="2667000"/>
            <a:ext cx="406400" cy="406400"/>
          </a:xfrm>
          <a:prstGeom prst="rect">
            <a:avLst/>
          </a:prstGeom>
        </p:spPr>
      </p:pic>
      <p:sp>
        <p:nvSpPr>
          <p:cNvPr id="13" name="AutoShape 13"/>
          <p:cNvSpPr/>
          <p:nvPr/>
        </p:nvSpPr>
        <p:spPr>
          <a:xfrm>
            <a:off x="5143500" y="2692400"/>
            <a:ext cx="25400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800" b="1" i="0" u="none" strike="noStrike">
                <a:solidFill>
                  <a:srgbClr val="EA580C"/>
                </a:solidFill>
                <a:latin typeface="Noto Sans SC"/>
                <a:ea typeface="Noto Sans SC"/>
                <a:cs typeface="Noto Sans SC"/>
                <a:sym typeface="Noto Sans SC"/>
              </a:rPr>
              <a:t>02 评价体系：双重验证</a:t>
            </a:r>
            <a:endParaRPr lang="en-US" sz="1100"/>
          </a:p>
        </p:txBody>
      </p:sp>
      <p:cxnSp>
        <p:nvCxnSpPr>
          <p:cNvPr id="14" name="Connector 14"/>
          <p:cNvCxnSpPr/>
          <p:nvPr/>
        </p:nvCxnSpPr>
        <p:spPr>
          <a:xfrm rot="-14946">
            <a:off x="4635514" y="3232150"/>
            <a:ext cx="2921000" cy="12700"/>
          </a:xfrm>
          <a:prstGeom prst="line">
            <a:avLst/>
          </a:prstGeom>
          <a:solidFill>
            <a:srgbClr val="DEE0E3">
              <a:alpha val="100000"/>
            </a:srgbClr>
          </a:solidFill>
          <a:ln w="12700" cap="flat" cmpd="sng">
            <a:solidFill>
              <a:srgbClr val="EA580C">
                <a:alpha val="20000"/>
              </a:srgbClr>
            </a:solidFill>
            <a:prstDash val="solid"/>
            <a:round/>
            <a:headEnd type="none" w="med" len="med"/>
            <a:tailEnd type="none" w="med" len="med"/>
          </a:ln>
        </p:spPr>
      </p:cxnSp>
      <p:sp>
        <p:nvSpPr>
          <p:cNvPr id="15" name="AutoShape 15"/>
          <p:cNvSpPr/>
          <p:nvPr/>
        </p:nvSpPr>
        <p:spPr>
          <a:xfrm>
            <a:off x="4635500" y="3429000"/>
            <a:ext cx="2921000" cy="2032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4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建立“</a:t>
            </a:r>
            <a:r>
              <a:rPr lang="en-US" sz="1400" b="1"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标签层诊断</a:t>
            </a:r>
            <a:r>
              <a:rPr lang="en-US" sz="1400" b="1"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 + </a:t>
            </a:r>
            <a:r>
              <a:rPr lang="en-US" sz="1400" b="1"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下游效用评估</a:t>
            </a:r>
            <a:r>
              <a:rPr lang="en-US" sz="14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”的双层体系。通过指标量化标签质量以定位问题，利用统一训练协议下的</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 YOLO </a:t>
            </a:r>
            <a:r>
              <a:rPr lang="en-US" sz="14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模型性能，客观判断标注流程的实际应用价值</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16" name="AutoShape 16"/>
          <p:cNvSpPr/>
          <p:nvPr/>
        </p:nvSpPr>
        <p:spPr>
          <a:xfrm>
            <a:off x="8001000" y="2413000"/>
            <a:ext cx="3429000" cy="3175000"/>
          </a:xfrm>
          <a:prstGeom prst="roundRect">
            <a:avLst>
              <a:gd name="adj" fmla="val 0"/>
            </a:avLst>
          </a:prstGeom>
          <a:solidFill>
            <a:srgbClr val="ECFDF5">
              <a:alpha val="60000"/>
            </a:srgbClr>
          </a:solidFill>
          <a:ln w="12700" cap="flat" cmpd="sng">
            <a:solidFill>
              <a:srgbClr val="6EE7B7">
                <a:alpha val="100000"/>
              </a:srgbClr>
            </a:solidFill>
            <a:prstDash val="solid"/>
            <a:round/>
          </a:ln>
        </p:spPr>
        <p:txBody>
          <a:bodyPr vert="horz" wrap="square" lIns="0" tIns="0" rIns="0" bIns="0" rtlCol="0" anchor="ctr" anchorCtr="0"/>
          <a:lstStyle/>
          <a:p>
            <a:pPr algn="ctr">
              <a:defRPr/>
            </a:pPr>
            <a:endParaRPr/>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255000" y="2667000"/>
            <a:ext cx="406400" cy="406400"/>
          </a:xfrm>
          <a:prstGeom prst="rect">
            <a:avLst/>
          </a:prstGeom>
        </p:spPr>
      </p:pic>
      <p:sp>
        <p:nvSpPr>
          <p:cNvPr id="18" name="AutoShape 18"/>
          <p:cNvSpPr/>
          <p:nvPr/>
        </p:nvSpPr>
        <p:spPr>
          <a:xfrm>
            <a:off x="8763000" y="2692400"/>
            <a:ext cx="25400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800" b="1" i="0" u="none" strike="noStrike">
                <a:solidFill>
                  <a:srgbClr val="059669"/>
                </a:solidFill>
                <a:latin typeface="Noto Sans SC"/>
                <a:ea typeface="Noto Sans SC"/>
                <a:cs typeface="Noto Sans SC"/>
                <a:sym typeface="Noto Sans SC"/>
              </a:rPr>
              <a:t>03 工程落地：全链路保障</a:t>
            </a:r>
            <a:endParaRPr lang="en-US" sz="1100"/>
          </a:p>
        </p:txBody>
      </p:sp>
      <p:cxnSp>
        <p:nvCxnSpPr>
          <p:cNvPr id="19" name="Connector 19"/>
          <p:cNvCxnSpPr/>
          <p:nvPr/>
        </p:nvCxnSpPr>
        <p:spPr>
          <a:xfrm rot="-14946">
            <a:off x="8255014" y="3232150"/>
            <a:ext cx="2921000" cy="12700"/>
          </a:xfrm>
          <a:prstGeom prst="line">
            <a:avLst/>
          </a:prstGeom>
          <a:solidFill>
            <a:srgbClr val="DEE0E3">
              <a:alpha val="100000"/>
            </a:srgbClr>
          </a:solidFill>
          <a:ln w="12700" cap="flat" cmpd="sng">
            <a:solidFill>
              <a:srgbClr val="059669">
                <a:alpha val="20000"/>
              </a:srgbClr>
            </a:solidFill>
            <a:prstDash val="solid"/>
            <a:round/>
            <a:headEnd type="none" w="med" len="med"/>
            <a:tailEnd type="none" w="med" len="med"/>
          </a:ln>
        </p:spPr>
      </p:cxnSp>
      <p:sp>
        <p:nvSpPr>
          <p:cNvPr id="20" name="AutoShape 20"/>
          <p:cNvSpPr/>
          <p:nvPr/>
        </p:nvSpPr>
        <p:spPr>
          <a:xfrm>
            <a:off x="8255000" y="3429000"/>
            <a:ext cx="2921000" cy="2032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4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引入</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 </a:t>
            </a:r>
            <a:r>
              <a:rPr lang="en-US" sz="1400" b="1"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Stage-Gate </a:t>
            </a:r>
            <a:r>
              <a:rPr lang="en-US" sz="1400" b="1"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阶段门控</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 与 Pareto </a:t>
            </a:r>
            <a:r>
              <a:rPr lang="en-US" sz="14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非支配分析，确保流程可控。建立全链路可复现机制，关注标注生产的稳定性、可扩展性及综合效益，实现技术向生产力的转化</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21" name="AutoShape 21"/>
          <p:cNvSpPr/>
          <p:nvPr/>
        </p:nvSpPr>
        <p:spPr>
          <a:xfrm>
            <a:off x="762000" y="5905500"/>
            <a:ext cx="10668000" cy="508000"/>
          </a:xfrm>
          <a:prstGeom prst="roundRect">
            <a:avLst>
              <a:gd name="adj" fmla="val 0"/>
            </a:avLst>
          </a:prstGeom>
          <a:solidFill>
            <a:srgbClr val="374151">
              <a:alpha val="5000"/>
            </a:srgbClr>
          </a:solidFill>
          <a:ln w="25400" cap="flat" cmpd="sng">
            <a:noFill/>
            <a:prstDash val="solid"/>
            <a:round/>
          </a:ln>
        </p:spPr>
        <p:txBody>
          <a:bodyPr vert="horz" wrap="square" lIns="0" tIns="0" rIns="0" bIns="0" rtlCol="0" anchor="ctr" anchorCtr="0"/>
          <a:lstStyle/>
          <a:p>
            <a:pPr algn="ctr">
              <a:defRPr/>
            </a:pPr>
            <a:endParaRPr/>
          </a:p>
        </p:txBody>
      </p:sp>
      <p:sp>
        <p:nvSpPr>
          <p:cNvPr id="22" name="AutoShape 22"/>
          <p:cNvSpPr/>
          <p:nvPr/>
        </p:nvSpPr>
        <p:spPr>
          <a:xfrm>
            <a:off x="762000" y="5994400"/>
            <a:ext cx="10668000" cy="381000"/>
          </a:xfrm>
          <a:prstGeom prst="rect">
            <a:avLst/>
          </a:prstGeom>
          <a:no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400" b="1" i="0" u="none" strike="noStrike" dirty="0" err="1">
                <a:solidFill>
                  <a:srgbClr val="4B5563"/>
                </a:solidFill>
                <a:latin typeface="Microsoft YaHei" panose="020B0503020204020204" pitchFamily="34" charset="-122"/>
                <a:ea typeface="Microsoft YaHei" panose="020B0503020204020204" pitchFamily="34" charset="-122"/>
                <a:cs typeface="Noto Sans SC"/>
                <a:sym typeface="Noto Sans SC"/>
              </a:rPr>
              <a:t>核心愿景：以技术创新驱动标注流程升级，实现从“人工主导”向“智能驱动”的转变</a:t>
            </a:r>
            <a:r>
              <a:rPr lang="en-US" sz="1400" b="1" i="0" u="none" strike="noStrike" dirty="0">
                <a:solidFill>
                  <a:srgbClr val="4B5563"/>
                </a:solidFill>
                <a:latin typeface="Microsoft YaHei" panose="020B0503020204020204" pitchFamily="34" charset="-122"/>
                <a:ea typeface="Microsoft YaHei" panose="020B0503020204020204" pitchFamily="34" charset="-122"/>
                <a:cs typeface="Noto Sans SC"/>
                <a:sym typeface="Noto Sans SC"/>
              </a:rPr>
              <a:t>。</a:t>
            </a:r>
            <a:endParaRPr lang="en-US" sz="1100" dirty="0">
              <a:latin typeface="Microsoft YaHei" panose="020B0503020204020204" pitchFamily="34" charset="-122"/>
              <a:ea typeface="Microsoft YaHei"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AutoShape 2"/>
          <p:cNvSpPr/>
          <p:nvPr/>
        </p:nvSpPr>
        <p:spPr>
          <a:xfrm>
            <a:off x="0" y="127000"/>
            <a:ext cx="4330700" cy="609600"/>
          </a:xfrm>
          <a:prstGeom prst="roundRect">
            <a:avLst>
              <a:gd name="adj" fmla="val 41665"/>
            </a:avLst>
          </a:prstGeom>
          <a:solidFill>
            <a:srgbClr val="0A3760">
              <a:alpha val="100000"/>
            </a:srgbClr>
          </a:solidFill>
          <a:ln w="25400" cap="flat" cmpd="sng">
            <a:noFill/>
            <a:prstDash val="solid"/>
            <a:round/>
          </a:ln>
        </p:spPr>
        <p:txBody>
          <a:bodyPr vert="horz" wrap="square" lIns="0" tIns="0" rIns="0" bIns="0" rtlCol="0" anchor="ctr" anchorCtr="0"/>
          <a:lstStyle/>
          <a:p>
            <a:pPr algn="l">
              <a:defRPr/>
            </a:pPr>
            <a:endParaRPr dirty="0"/>
          </a:p>
        </p:txBody>
      </p:sp>
      <p:pic>
        <p:nvPicPr>
          <p:cNvPr id="3" name="Picture 3"/>
          <p:cNvPicPr>
            <a:picLocks noChangeAspect="1"/>
          </p:cNvPicPr>
          <p:nvPr/>
        </p:nvPicPr>
        <p:blipFill>
          <a:blip r:embed="rId4"/>
          <a:srcRect/>
          <a:stretch>
            <a:fillRect/>
          </a:stretch>
        </p:blipFill>
        <p:spPr>
          <a:xfrm>
            <a:off x="177800" y="152400"/>
            <a:ext cx="558800" cy="558800"/>
          </a:xfrm>
          <a:prstGeom prst="rect">
            <a:avLst/>
          </a:prstGeom>
          <a:noFill/>
          <a:ln w="25400" cap="flat" cmpd="sng">
            <a:noFill/>
            <a:prstDash val="solid"/>
            <a:round/>
          </a:ln>
        </p:spPr>
      </p:pic>
      <p:sp>
        <p:nvSpPr>
          <p:cNvPr id="4" name="AutoShape 4"/>
          <p:cNvSpPr/>
          <p:nvPr/>
        </p:nvSpPr>
        <p:spPr>
          <a:xfrm>
            <a:off x="812800" y="190500"/>
            <a:ext cx="3568700" cy="508000"/>
          </a:xfrm>
          <a:prstGeom prst="roundRect">
            <a:avLst>
              <a:gd name="adj" fmla="val 0"/>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2200" b="1" i="0" u="none" strike="noStrike" dirty="0" err="1">
                <a:solidFill>
                  <a:srgbClr val="FFFFFF"/>
                </a:solidFill>
                <a:latin typeface="微软雅黑"/>
                <a:ea typeface="微软雅黑"/>
                <a:cs typeface="微软雅黑"/>
                <a:sym typeface="微软雅黑"/>
              </a:rPr>
              <a:t>三大</a:t>
            </a:r>
            <a:r>
              <a:rPr lang="zh-CN" altLang="en-US" sz="2200" b="1" i="0" u="none" strike="noStrike" dirty="0">
                <a:solidFill>
                  <a:srgbClr val="FFFFFF"/>
                </a:solidFill>
                <a:latin typeface="微软雅黑"/>
                <a:ea typeface="微软雅黑"/>
                <a:cs typeface="微软雅黑"/>
                <a:sym typeface="微软雅黑"/>
              </a:rPr>
              <a:t>研究问题</a:t>
            </a:r>
            <a:endParaRPr lang="en-US" sz="1100" dirty="0"/>
          </a:p>
        </p:txBody>
      </p:sp>
      <p:pic>
        <p:nvPicPr>
          <p:cNvPr id="6" name="Picture 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1968500"/>
            <a:ext cx="406400" cy="406400"/>
          </a:xfrm>
          <a:prstGeom prst="rect">
            <a:avLst/>
          </a:prstGeom>
        </p:spPr>
      </p:pic>
      <p:sp>
        <p:nvSpPr>
          <p:cNvPr id="7" name="AutoShape 7"/>
          <p:cNvSpPr/>
          <p:nvPr/>
        </p:nvSpPr>
        <p:spPr>
          <a:xfrm>
            <a:off x="1270000" y="1968500"/>
            <a:ext cx="2667000" cy="4064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800" b="1" i="0" u="none" strike="noStrike">
                <a:solidFill>
                  <a:srgbClr val="1E3A8A"/>
                </a:solidFill>
                <a:latin typeface="微软雅黑"/>
                <a:ea typeface="微软雅黑"/>
                <a:cs typeface="微软雅黑"/>
                <a:sym typeface="微软雅黑"/>
              </a:rPr>
              <a:t>01 稳定生成可用伪标签</a:t>
            </a:r>
            <a:endParaRPr lang="en-US" sz="1100"/>
          </a:p>
        </p:txBody>
      </p:sp>
      <p:cxnSp>
        <p:nvCxnSpPr>
          <p:cNvPr id="8" name="Connector 8"/>
          <p:cNvCxnSpPr/>
          <p:nvPr/>
        </p:nvCxnSpPr>
        <p:spPr>
          <a:xfrm rot="-14322">
            <a:off x="762013" y="2533650"/>
            <a:ext cx="3048000" cy="12700"/>
          </a:xfrm>
          <a:prstGeom prst="straightConnector1">
            <a:avLst/>
          </a:prstGeom>
          <a:solidFill>
            <a:srgbClr val="DEE0E3">
              <a:alpha val="100000"/>
            </a:srgbClr>
          </a:solidFill>
          <a:ln w="12700" cap="flat" cmpd="sng">
            <a:solidFill>
              <a:srgbClr val="3B82F6">
                <a:alpha val="20000"/>
              </a:srgbClr>
            </a:solidFill>
            <a:prstDash val="solid"/>
            <a:round/>
            <a:headEnd type="none" w="med" len="med"/>
            <a:tailEnd type="none" w="med" len="med"/>
          </a:ln>
        </p:spPr>
      </p:cxnSp>
      <p:sp>
        <p:nvSpPr>
          <p:cNvPr id="9" name="AutoShape 9"/>
          <p:cNvSpPr/>
          <p:nvPr/>
        </p:nvSpPr>
        <p:spPr>
          <a:xfrm>
            <a:off x="762000" y="2730500"/>
            <a:ext cx="3048000" cy="222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16666"/>
              </a:lnSpc>
              <a:defRPr/>
            </a:pPr>
            <a:r>
              <a:rPr lang="en-US" sz="1300" b="0" i="0" u="none" strike="noStrike" dirty="0">
                <a:solidFill>
                  <a:schemeClr val="tx1">
                    <a:lumMod val="85000"/>
                    <a:lumOff val="15000"/>
                  </a:schemeClr>
                </a:solidFill>
                <a:latin typeface="微软雅黑"/>
                <a:ea typeface="微软雅黑"/>
                <a:cs typeface="微软雅黑"/>
                <a:sym typeface="微软雅黑"/>
              </a:rPr>
              <a:t>受文本提示词、置信度阈值及数据分布影响，火烟的非刚性、边界模糊特性易导致漏检与误检。需在低预算候选空间内筛选并冻结提示词与阈值参数，批量生成高质量基准伪标签V1，并验证其对下游检测任务的实际效用，夯实数据基础。</a:t>
            </a:r>
            <a:endParaRPr lang="en-US" sz="1100" dirty="0">
              <a:solidFill>
                <a:schemeClr val="tx1">
                  <a:lumMod val="85000"/>
                  <a:lumOff val="15000"/>
                </a:schemeClr>
              </a:solidFill>
            </a:endParaRPr>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572000" y="1968500"/>
            <a:ext cx="406400" cy="406400"/>
          </a:xfrm>
          <a:prstGeom prst="rect">
            <a:avLst/>
          </a:prstGeom>
        </p:spPr>
      </p:pic>
      <p:sp>
        <p:nvSpPr>
          <p:cNvPr id="12" name="AutoShape 12"/>
          <p:cNvSpPr/>
          <p:nvPr/>
        </p:nvSpPr>
        <p:spPr>
          <a:xfrm>
            <a:off x="5080000" y="1968500"/>
            <a:ext cx="2667000" cy="4064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800" b="1" i="0" u="none" strike="noStrike">
                <a:solidFill>
                  <a:srgbClr val="0C4A6E"/>
                </a:solidFill>
                <a:latin typeface="微软雅黑"/>
                <a:ea typeface="微软雅黑"/>
                <a:cs typeface="微软雅黑"/>
                <a:sym typeface="微软雅黑"/>
              </a:rPr>
              <a:t>02 后置处理策略设计</a:t>
            </a:r>
            <a:endParaRPr lang="en-US" sz="1100"/>
          </a:p>
        </p:txBody>
      </p:sp>
      <p:cxnSp>
        <p:nvCxnSpPr>
          <p:cNvPr id="13" name="Connector 13"/>
          <p:cNvCxnSpPr/>
          <p:nvPr/>
        </p:nvCxnSpPr>
        <p:spPr>
          <a:xfrm rot="-14322">
            <a:off x="4572013" y="2533650"/>
            <a:ext cx="3048000" cy="12700"/>
          </a:xfrm>
          <a:prstGeom prst="straightConnector1">
            <a:avLst/>
          </a:prstGeom>
          <a:solidFill>
            <a:srgbClr val="DEE0E3">
              <a:alpha val="100000"/>
            </a:srgbClr>
          </a:solidFill>
          <a:ln w="12700" cap="flat" cmpd="sng">
            <a:solidFill>
              <a:srgbClr val="0EA5E9">
                <a:alpha val="20000"/>
              </a:srgbClr>
            </a:solidFill>
            <a:prstDash val="solid"/>
            <a:round/>
            <a:headEnd type="none" w="med" len="med"/>
            <a:tailEnd type="none" w="med" len="med"/>
          </a:ln>
        </p:spPr>
      </p:cxnSp>
      <p:sp>
        <p:nvSpPr>
          <p:cNvPr id="14" name="AutoShape 14"/>
          <p:cNvSpPr/>
          <p:nvPr/>
        </p:nvSpPr>
        <p:spPr>
          <a:xfrm>
            <a:off x="4572000" y="2730500"/>
            <a:ext cx="3048000" cy="22225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16666"/>
              </a:lnSpc>
              <a:defRPr/>
            </a:pPr>
            <a:r>
              <a:rPr lang="en-US" sz="1300" b="0" i="0" u="none" strike="noStrike" dirty="0">
                <a:solidFill>
                  <a:schemeClr val="tx1">
                    <a:lumMod val="85000"/>
                    <a:lumOff val="15000"/>
                  </a:schemeClr>
                </a:solidFill>
                <a:latin typeface="微软雅黑"/>
                <a:ea typeface="微软雅黑"/>
                <a:cs typeface="微软雅黑"/>
                <a:sym typeface="微软雅黑"/>
              </a:rPr>
              <a:t>SAM3的细粒度分割边界未必直接适配检测训练需求。需针对火烟特性定制专属提示词与审核门槛，建立补漏规则与去重策略，严格限制重定位权限，重点验证其在标签审核、漏检补全及边界优化中的实际增量价值。</a:t>
            </a:r>
            <a:endParaRPr lang="en-US" sz="1100" dirty="0">
              <a:solidFill>
                <a:schemeClr val="tx1">
                  <a:lumMod val="85000"/>
                  <a:lumOff val="15000"/>
                </a:schemeClr>
              </a:solidFill>
            </a:endParaRPr>
          </a:p>
        </p:txBody>
      </p:sp>
      <p:pic>
        <p:nvPicPr>
          <p:cNvPr id="16" name="Picture 1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382000" y="1968500"/>
            <a:ext cx="406400" cy="406400"/>
          </a:xfrm>
          <a:prstGeom prst="rect">
            <a:avLst/>
          </a:prstGeom>
        </p:spPr>
      </p:pic>
      <p:sp>
        <p:nvSpPr>
          <p:cNvPr id="17" name="AutoShape 17"/>
          <p:cNvSpPr/>
          <p:nvPr/>
        </p:nvSpPr>
        <p:spPr>
          <a:xfrm>
            <a:off x="8890000" y="1968500"/>
            <a:ext cx="2667000" cy="4064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800" b="1" i="0" u="none" strike="noStrike">
                <a:solidFill>
                  <a:srgbClr val="4C1D95"/>
                </a:solidFill>
                <a:latin typeface="微软雅黑"/>
                <a:ea typeface="微软雅黑"/>
                <a:cs typeface="微软雅黑"/>
                <a:sym typeface="微软雅黑"/>
              </a:rPr>
              <a:t>03 多规模流程选型与权衡</a:t>
            </a:r>
            <a:endParaRPr lang="en-US" sz="1100"/>
          </a:p>
        </p:txBody>
      </p:sp>
      <p:cxnSp>
        <p:nvCxnSpPr>
          <p:cNvPr id="18" name="Connector 18"/>
          <p:cNvCxnSpPr/>
          <p:nvPr/>
        </p:nvCxnSpPr>
        <p:spPr>
          <a:xfrm rot="-14322">
            <a:off x="8382013" y="2533650"/>
            <a:ext cx="3048000" cy="12700"/>
          </a:xfrm>
          <a:prstGeom prst="straightConnector1">
            <a:avLst/>
          </a:prstGeom>
          <a:solidFill>
            <a:srgbClr val="DEE0E3">
              <a:alpha val="100000"/>
            </a:srgbClr>
          </a:solidFill>
          <a:ln w="12700" cap="flat" cmpd="sng">
            <a:solidFill>
              <a:srgbClr val="7C3AED">
                <a:alpha val="20000"/>
              </a:srgbClr>
            </a:solidFill>
            <a:prstDash val="solid"/>
            <a:round/>
            <a:headEnd type="none" w="med" len="med"/>
            <a:tailEnd type="none" w="med" len="med"/>
          </a:ln>
        </p:spPr>
      </p:cxnSp>
      <p:sp>
        <p:nvSpPr>
          <p:cNvPr id="19" name="AutoShape 19"/>
          <p:cNvSpPr/>
          <p:nvPr/>
        </p:nvSpPr>
        <p:spPr>
          <a:xfrm>
            <a:off x="8382000" y="2730500"/>
            <a:ext cx="3048000" cy="222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16666"/>
              </a:lnSpc>
              <a:defRPr/>
            </a:pPr>
            <a:r>
              <a:rPr lang="en-US" sz="1300" b="0" i="0" u="none" strike="noStrike" dirty="0">
                <a:solidFill>
                  <a:schemeClr val="tx1">
                    <a:lumMod val="85000"/>
                    <a:lumOff val="15000"/>
                  </a:schemeClr>
                </a:solidFill>
                <a:latin typeface="微软雅黑"/>
                <a:ea typeface="微软雅黑"/>
                <a:cs typeface="微软雅黑"/>
                <a:sym typeface="微软雅黑"/>
              </a:rPr>
              <a:t>人工标注与自动化方案在质量、效率与成本间存在博弈。需在千级、万级及十万级三种数据规模下，对比单级自动化、级联后处理等方案的综合效益，分析标签制备时间与实际交付周期及人工复审成本，在质量、成本和周期约束下提供流程选择建议。</a:t>
            </a:r>
            <a:endParaRPr lang="en-US" sz="1100" dirty="0">
              <a:solidFill>
                <a:schemeClr val="tx1">
                  <a:lumMod val="85000"/>
                  <a:lumOff val="15000"/>
                </a:schemeClr>
              </a:solidFill>
            </a:endParaRPr>
          </a:p>
        </p:txBody>
      </p:sp>
      <p:sp>
        <p:nvSpPr>
          <p:cNvPr id="20" name="AutoShape 20"/>
          <p:cNvSpPr/>
          <p:nvPr/>
        </p:nvSpPr>
        <p:spPr>
          <a:xfrm>
            <a:off x="508000" y="5461000"/>
            <a:ext cx="11176000" cy="825500"/>
          </a:xfrm>
          <a:prstGeom prst="roundRect">
            <a:avLst>
              <a:gd name="adj" fmla="val 0"/>
            </a:avLst>
          </a:prstGeom>
          <a:solidFill>
            <a:srgbClr val="1E293B">
              <a:alpha val="5000"/>
            </a:srgbClr>
          </a:solidFill>
          <a:ln w="25400" cap="flat" cmpd="sng">
            <a:noFill/>
            <a:prstDash val="solid"/>
            <a:round/>
          </a:ln>
        </p:spPr>
        <p:txBody>
          <a:bodyPr vert="horz" wrap="square" lIns="0" tIns="0" rIns="0" bIns="0" rtlCol="0" anchor="ctr" anchorCtr="0"/>
          <a:lstStyle/>
          <a:p>
            <a:pPr algn="ctr">
              <a:defRPr/>
            </a:pPr>
            <a:endParaRPr/>
          </a:p>
        </p:txBody>
      </p:sp>
      <p:sp>
        <p:nvSpPr>
          <p:cNvPr id="21" name="AutoShape 21"/>
          <p:cNvSpPr/>
          <p:nvPr/>
        </p:nvSpPr>
        <p:spPr>
          <a:xfrm>
            <a:off x="762000" y="5613400"/>
            <a:ext cx="10668000" cy="635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400" b="1" i="0" u="none" strike="noStrike" dirty="0">
                <a:solidFill>
                  <a:srgbClr val="334155"/>
                </a:solidFill>
                <a:latin typeface="微软雅黑"/>
                <a:ea typeface="微软雅黑"/>
                <a:cs typeface="微软雅黑"/>
                <a:sym typeface="微软雅黑"/>
              </a:rPr>
              <a:t>核心目标：</a:t>
            </a:r>
            <a:r>
              <a:rPr lang="en-US" sz="1400" b="0" i="0" u="none" strike="noStrike" dirty="0">
                <a:solidFill>
                  <a:srgbClr val="475569"/>
                </a:solidFill>
                <a:latin typeface="微软雅黑"/>
                <a:ea typeface="微软雅黑"/>
                <a:cs typeface="微软雅黑"/>
                <a:sym typeface="微软雅黑"/>
              </a:rPr>
              <a:t>通过系统性的参数优化、策略定制与多维度评估，构建兼顾精度与效率的自动化标注体系，为大规模模型训练提供高质量、低成本的数据支撑。</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934" y="0"/>
            <a:ext cx="12214934" cy="3616960"/>
          </a:xfrm>
          <a:prstGeom prst="rect">
            <a:avLst/>
          </a:prstGeom>
          <a:solidFill>
            <a:srgbClr val="0A3760">
              <a:alpha val="100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pic>
        <p:nvPicPr>
          <p:cNvPr id="3" name="Picture 3"/>
          <p:cNvPicPr>
            <a:picLocks noChangeAspect="1"/>
          </p:cNvPicPr>
          <p:nvPr/>
        </p:nvPicPr>
        <p:blipFill>
          <a:blip r:embed="rId3"/>
          <a:srcRect/>
          <a:stretch>
            <a:fillRect/>
          </a:stretch>
        </p:blipFill>
        <p:spPr>
          <a:xfrm>
            <a:off x="4179656" y="602203"/>
            <a:ext cx="3832687" cy="1112297"/>
          </a:xfrm>
          <a:prstGeom prst="rect">
            <a:avLst/>
          </a:prstGeom>
          <a:ln w="12700">
            <a:noFill/>
            <a:prstDash val="solid"/>
          </a:ln>
        </p:spPr>
      </p:pic>
      <p:sp>
        <p:nvSpPr>
          <p:cNvPr id="4" name="Freeform 4"/>
          <p:cNvSpPr/>
          <p:nvPr/>
        </p:nvSpPr>
        <p:spPr>
          <a:xfrm>
            <a:off x="2965450" y="2922270"/>
            <a:ext cx="6012180" cy="1212215"/>
          </a:xfrm>
          <a:custGeom>
            <a:avLst/>
            <a:gdLst/>
            <a:ahLst/>
            <a:cxnLst/>
            <a:rect l="l" t="t" r="r" b="b"/>
            <a:pathLst>
              <a:path w="6012180" h="1212215">
                <a:moveTo>
                  <a:pt x="647450" y="0"/>
                </a:moveTo>
                <a:lnTo>
                  <a:pt x="647459" y="1"/>
                </a:lnTo>
                <a:lnTo>
                  <a:pt x="5337266" y="1"/>
                </a:lnTo>
                <a:lnTo>
                  <a:pt x="5337266" y="2593"/>
                </a:lnTo>
                <a:lnTo>
                  <a:pt x="5364730" y="1"/>
                </a:lnTo>
                <a:cubicBezTo>
                  <a:pt x="5722308" y="1"/>
                  <a:pt x="6012180" y="271365"/>
                  <a:pt x="6012180" y="606108"/>
                </a:cubicBezTo>
                <a:cubicBezTo>
                  <a:pt x="6012180" y="940852"/>
                  <a:pt x="5722308" y="1212215"/>
                  <a:pt x="5364730" y="1212215"/>
                </a:cubicBezTo>
                <a:lnTo>
                  <a:pt x="5337266" y="1209624"/>
                </a:lnTo>
                <a:lnTo>
                  <a:pt x="5337266" y="1212214"/>
                </a:lnTo>
                <a:lnTo>
                  <a:pt x="647450" y="1212214"/>
                </a:lnTo>
                <a:cubicBezTo>
                  <a:pt x="289872" y="1212214"/>
                  <a:pt x="0" y="940850"/>
                  <a:pt x="0" y="606108"/>
                </a:cubicBezTo>
                <a:cubicBezTo>
                  <a:pt x="0" y="271363"/>
                  <a:pt x="289872" y="0"/>
                  <a:pt x="647450" y="0"/>
                </a:cubicBezTo>
                <a:close/>
              </a:path>
            </a:pathLst>
          </a:custGeom>
          <a:solidFill>
            <a:srgbClr val="FFFFFF">
              <a:alpha val="100000"/>
            </a:srgbClr>
          </a:solidFill>
          <a:ln w="38100" cap="flat">
            <a:solidFill>
              <a:srgbClr val="0A3760">
                <a:alpha val="100000"/>
              </a:srgbClr>
            </a:solidFill>
            <a:prstDash val="solid"/>
          </a:ln>
          <a:effectLst>
            <a:outerShdw blurRad="63500" sx="102000" sy="102000" algn="ctr" rotWithShape="0">
              <a:srgbClr val="000000">
                <a:alpha val="40000"/>
              </a:srgbClr>
            </a:outerShdw>
          </a:effectLst>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5" name="AutoShape 5"/>
          <p:cNvSpPr/>
          <p:nvPr/>
        </p:nvSpPr>
        <p:spPr>
          <a:xfrm>
            <a:off x="4179570" y="3271520"/>
            <a:ext cx="6261100" cy="645160"/>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600" b="1" i="0" u="none" strike="noStrike">
                <a:solidFill>
                  <a:srgbClr val="000000"/>
                </a:solidFill>
                <a:latin typeface="微软雅黑"/>
                <a:ea typeface="微软雅黑"/>
                <a:cs typeface="微软雅黑"/>
                <a:sym typeface="微软雅黑"/>
              </a:rPr>
              <a:t>2. 国内外研究现状</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AutoShape 2"/>
          <p:cNvSpPr/>
          <p:nvPr/>
        </p:nvSpPr>
        <p:spPr>
          <a:xfrm>
            <a:off x="0" y="0"/>
            <a:ext cx="4474451" cy="6858000"/>
          </a:xfrm>
          <a:prstGeom prst="roundRect">
            <a:avLst>
              <a:gd name="adj" fmla="val 0"/>
            </a:avLst>
          </a:prstGeom>
          <a:solidFill>
            <a:srgbClr val="0A3760">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3" name="AutoShape 3"/>
          <p:cNvSpPr/>
          <p:nvPr/>
        </p:nvSpPr>
        <p:spPr>
          <a:xfrm>
            <a:off x="609600" y="74295"/>
            <a:ext cx="3261360" cy="1813560"/>
          </a:xfrm>
          <a:prstGeom prst="rect">
            <a:avLst/>
          </a:prstGeom>
          <a:noFill/>
          <a:ln w="12700" cap="flat" cmpd="sng">
            <a:noFill/>
            <a:prstDash val="solid"/>
            <a:round/>
          </a:ln>
        </p:spPr>
        <p:txBody>
          <a:bodyPr vert="horz" wrap="square" lIns="63500" tIns="25400" rIns="63500" bIns="25400" rtlCol="0" anchor="b">
            <a:noAutofit/>
          </a:bodyPr>
          <a:lstStyle/>
          <a:p>
            <a:pPr marL="0" indent="0" algn="l" defTabSz="914400">
              <a:lnSpc>
                <a:spcPct val="108333"/>
              </a:lnSpc>
              <a:defRPr/>
            </a:pPr>
            <a:r>
              <a:rPr lang="en-US" sz="3600" b="1" i="0" u="none" strike="noStrike" spc="260">
                <a:solidFill>
                  <a:srgbClr val="FFFFFF"/>
                </a:solidFill>
                <a:latin typeface="微软雅黑"/>
                <a:ea typeface="微软雅黑"/>
                <a:cs typeface="微软雅黑"/>
                <a:sym typeface="微软雅黑"/>
              </a:rPr>
              <a:t>2.1 研究综述</a:t>
            </a:r>
            <a:endParaRPr lang="en-US" sz="1100"/>
          </a:p>
        </p:txBody>
      </p:sp>
      <p:sp>
        <p:nvSpPr>
          <p:cNvPr id="4" name="AutoShape 4"/>
          <p:cNvSpPr/>
          <p:nvPr/>
        </p:nvSpPr>
        <p:spPr>
          <a:xfrm>
            <a:off x="5083931" y="1142937"/>
            <a:ext cx="6498577" cy="530225"/>
          </a:xfrm>
          <a:prstGeom prst="rect">
            <a:avLst/>
          </a:prstGeom>
          <a:noFill/>
          <a:ln w="12700">
            <a:noFill/>
            <a:prstDash val="dash"/>
          </a:ln>
        </p:spPr>
        <p:txBody>
          <a:bodyPr wrap="square" lIns="63500" tIns="25400" rIns="63500" bIns="25400" rtlCol="0" anchor="b">
            <a:normAutofit/>
          </a:bodyPr>
          <a:lstStyle/>
          <a:p>
            <a:pPr marL="0" indent="0" algn="ctr" defTabSz="913765">
              <a:lnSpc>
                <a:spcPct val="100000"/>
              </a:lnSpc>
              <a:defRPr/>
            </a:pPr>
            <a:r>
              <a:rPr lang="en-US" sz="2800" b="1" i="0" u="none" strike="noStrike" spc="200">
                <a:solidFill>
                  <a:srgbClr val="000000"/>
                </a:solidFill>
                <a:latin typeface="微软雅黑"/>
                <a:ea typeface="微软雅黑"/>
                <a:cs typeface="微软雅黑"/>
                <a:sym typeface="微软雅黑"/>
              </a:rPr>
              <a:t>综述要点：</a:t>
            </a:r>
            <a:endParaRPr lang="en-US" sz="1100"/>
          </a:p>
        </p:txBody>
      </p:sp>
      <p:sp>
        <p:nvSpPr>
          <p:cNvPr id="5" name="AutoShape 5"/>
          <p:cNvSpPr/>
          <p:nvPr/>
        </p:nvSpPr>
        <p:spPr>
          <a:xfrm>
            <a:off x="4823460" y="1743710"/>
            <a:ext cx="7194550" cy="3971290"/>
          </a:xfrm>
          <a:prstGeom prst="roundRect">
            <a:avLst>
              <a:gd name="adj" fmla="val 0"/>
            </a:avLst>
          </a:prstGeom>
          <a:noFill/>
          <a:ln w="25400" cap="flat" cmpd="sng">
            <a:noFill/>
            <a:prstDash val="solid"/>
            <a:round/>
          </a:ln>
        </p:spPr>
        <p:txBody>
          <a:bodyPr vert="horz" wrap="square" lIns="0" tIns="25400" rIns="0" bIns="25400" rtlCol="0" anchor="t" anchorCtr="0"/>
          <a:lstStyle/>
          <a:p>
            <a:pPr marL="0" indent="0" algn="l" defTabSz="913765">
              <a:lnSpc>
                <a:spcPct val="83333"/>
              </a:lnSpc>
              <a:spcAft>
                <a:spcPts val="800"/>
              </a:spcAft>
              <a:defRPr/>
            </a:pPr>
            <a:r>
              <a:rPr lang="en-US" sz="1800" b="1" i="0" u="none" strike="noStrike" spc="120" dirty="0">
                <a:solidFill>
                  <a:srgbClr val="404040"/>
                </a:solidFill>
                <a:latin typeface="微软雅黑"/>
                <a:ea typeface="微软雅黑"/>
                <a:cs typeface="微软雅黑"/>
                <a:sym typeface="微软雅黑"/>
              </a:rPr>
              <a:t>1、转化不稳定：</a:t>
            </a:r>
            <a:endParaRPr lang="en-US" sz="1100" dirty="0"/>
          </a:p>
          <a:p>
            <a:pPr marL="0" indent="0" algn="l" defTabSz="913765">
              <a:lnSpc>
                <a:spcPct val="100000"/>
              </a:lnSpc>
              <a:spcAft>
                <a:spcPts val="800"/>
              </a:spcAft>
            </a:pPr>
            <a:r>
              <a:rPr lang="zh-CN" altLang="en-US" sz="1800" b="0" i="0" u="none" strike="noStrike" spc="120" dirty="0">
                <a:solidFill>
                  <a:schemeClr val="tx1">
                    <a:lumMod val="85000"/>
                    <a:lumOff val="15000"/>
                  </a:schemeClr>
                </a:solidFill>
                <a:latin typeface="微软雅黑"/>
                <a:ea typeface="微软雅黑"/>
                <a:cs typeface="微软雅黑"/>
                <a:sym typeface="微软雅黑"/>
              </a:rPr>
              <a:t>     现有文献多关注零样本直接感知，或像 </a:t>
            </a:r>
            <a:r>
              <a:rPr lang="en-US" altLang="zh-CN" sz="1800" b="0" i="0" u="none" strike="noStrike" spc="120" dirty="0">
                <a:solidFill>
                  <a:schemeClr val="tx1">
                    <a:lumMod val="85000"/>
                    <a:lumOff val="15000"/>
                  </a:schemeClr>
                </a:solidFill>
                <a:latin typeface="微软雅黑"/>
                <a:ea typeface="微软雅黑"/>
                <a:cs typeface="微软雅黑"/>
                <a:sym typeface="微软雅黑"/>
              </a:rPr>
              <a:t>DART </a:t>
            </a:r>
            <a:r>
              <a:rPr lang="zh-CN" altLang="en-US" sz="1800" b="0" i="0" u="none" strike="noStrike" spc="120" dirty="0">
                <a:solidFill>
                  <a:schemeClr val="tx1">
                    <a:lumMod val="85000"/>
                    <a:lumOff val="15000"/>
                  </a:schemeClr>
                </a:solidFill>
                <a:latin typeface="微软雅黑"/>
                <a:ea typeface="微软雅黑"/>
                <a:cs typeface="微软雅黑"/>
                <a:sym typeface="微软雅黑"/>
              </a:rPr>
              <a:t>等将开放词汇检出结果直接作为伪标签训练下游检测器，但较少系统评估这一转化过程的稳定性与伪标签驱动下游模型的泛化效能</a:t>
            </a:r>
            <a:r>
              <a:rPr lang="en-US" sz="1800" b="0" i="0" u="none" strike="noStrike" spc="120" dirty="0">
                <a:solidFill>
                  <a:schemeClr val="tx1">
                    <a:lumMod val="85000"/>
                    <a:lumOff val="15000"/>
                  </a:schemeClr>
                </a:solidFill>
                <a:latin typeface="微软雅黑"/>
                <a:ea typeface="微软雅黑"/>
                <a:cs typeface="微软雅黑"/>
                <a:sym typeface="微软雅黑"/>
              </a:rPr>
              <a:t>。</a:t>
            </a:r>
          </a:p>
          <a:p>
            <a:pPr marL="0" indent="0" algn="l" defTabSz="913765">
              <a:lnSpc>
                <a:spcPct val="83333"/>
              </a:lnSpc>
              <a:spcAft>
                <a:spcPts val="800"/>
              </a:spcAft>
            </a:pPr>
            <a:r>
              <a:rPr lang="en-US" sz="1800" b="1" i="0" u="none" strike="noStrike" spc="120" dirty="0">
                <a:solidFill>
                  <a:srgbClr val="404040"/>
                </a:solidFill>
                <a:latin typeface="微软雅黑"/>
                <a:ea typeface="微软雅黑"/>
                <a:cs typeface="微软雅黑"/>
                <a:sym typeface="微软雅黑"/>
              </a:rPr>
              <a:t>2、后置规则不明：</a:t>
            </a:r>
          </a:p>
          <a:p>
            <a:pPr marL="0" indent="457200" algn="l" defTabSz="913765">
              <a:lnSpc>
                <a:spcPct val="83333"/>
              </a:lnSpc>
              <a:spcAft>
                <a:spcPts val="800"/>
              </a:spcAft>
            </a:pPr>
            <a:r>
              <a:rPr lang="en-US" sz="1800" b="0" i="0" u="none" strike="noStrike" spc="120" dirty="0" err="1">
                <a:solidFill>
                  <a:schemeClr val="tx1">
                    <a:lumMod val="85000"/>
                    <a:lumOff val="15000"/>
                  </a:schemeClr>
                </a:solidFill>
                <a:latin typeface="微软雅黑"/>
                <a:ea typeface="微软雅黑"/>
                <a:cs typeface="微软雅黑"/>
                <a:sym typeface="微软雅黑"/>
              </a:rPr>
              <a:t>分割边界更细并不一定更适合检测训练，火和烟</a:t>
            </a:r>
            <a:r>
              <a:rPr lang="zh-CN" altLang="en-US" sz="1800" spc="120" dirty="0">
                <a:solidFill>
                  <a:schemeClr val="tx1">
                    <a:lumMod val="85000"/>
                    <a:lumOff val="15000"/>
                  </a:schemeClr>
                </a:solidFill>
                <a:latin typeface="微软雅黑"/>
                <a:ea typeface="微软雅黑"/>
                <a:cs typeface="微软雅黑"/>
                <a:sym typeface="微软雅黑"/>
              </a:rPr>
              <a:t>类似的非刚性物体</a:t>
            </a:r>
            <a:r>
              <a:rPr lang="en-US" sz="1800" b="0" i="0" u="none" strike="noStrike" spc="120" dirty="0" err="1">
                <a:solidFill>
                  <a:schemeClr val="tx1">
                    <a:lumMod val="85000"/>
                    <a:lumOff val="15000"/>
                  </a:schemeClr>
                </a:solidFill>
                <a:latin typeface="微软雅黑"/>
                <a:ea typeface="微软雅黑"/>
                <a:cs typeface="微软雅黑"/>
                <a:sym typeface="微软雅黑"/>
              </a:rPr>
              <a:t>是否需要不同后置规则尚缺分别验证</a:t>
            </a:r>
            <a:r>
              <a:rPr lang="en-US" sz="1800" b="0" i="0" u="none" strike="noStrike" spc="120" dirty="0">
                <a:solidFill>
                  <a:schemeClr val="tx1">
                    <a:lumMod val="85000"/>
                    <a:lumOff val="15000"/>
                  </a:schemeClr>
                </a:solidFill>
                <a:latin typeface="微软雅黑"/>
                <a:ea typeface="微软雅黑"/>
                <a:cs typeface="微软雅黑"/>
                <a:sym typeface="微软雅黑"/>
              </a:rPr>
              <a:t>。</a:t>
            </a:r>
          </a:p>
          <a:p>
            <a:pPr marL="0" indent="0" algn="l" defTabSz="913765">
              <a:lnSpc>
                <a:spcPct val="83333"/>
              </a:lnSpc>
              <a:spcAft>
                <a:spcPts val="800"/>
              </a:spcAft>
            </a:pPr>
            <a:r>
              <a:rPr lang="en-US" sz="1800" b="1" i="0" u="none" strike="noStrike" spc="120" dirty="0">
                <a:solidFill>
                  <a:srgbClr val="404040"/>
                </a:solidFill>
                <a:latin typeface="微软雅黑"/>
                <a:ea typeface="微软雅黑"/>
                <a:cs typeface="微软雅黑"/>
                <a:sym typeface="微软雅黑"/>
              </a:rPr>
              <a:t>3、选型缺失：</a:t>
            </a:r>
          </a:p>
          <a:p>
            <a:pPr marL="0" indent="0" algn="l" defTabSz="913765">
              <a:lnSpc>
                <a:spcPct val="83333"/>
              </a:lnSpc>
              <a:spcAft>
                <a:spcPts val="800"/>
              </a:spcAft>
            </a:pPr>
            <a:r>
              <a:rPr lang="en-US" sz="1800" b="0" i="0" u="none" strike="noStrike" spc="120" dirty="0" err="1">
                <a:solidFill>
                  <a:schemeClr val="tx1">
                    <a:lumMod val="85000"/>
                    <a:lumOff val="15000"/>
                  </a:schemeClr>
                </a:solidFill>
                <a:latin typeface="微软雅黑"/>
                <a:ea typeface="微软雅黑"/>
                <a:cs typeface="微软雅黑"/>
                <a:sym typeface="微软雅黑"/>
              </a:rPr>
              <a:t>现有研究较少从系统工程角度，讨论不同数据规模下人工标注、单模型伪标签和级联流程的</a:t>
            </a:r>
            <a:r>
              <a:rPr lang="en-US" sz="1800" b="1" i="0" u="none" strike="noStrike" spc="120" dirty="0" err="1">
                <a:solidFill>
                  <a:schemeClr val="tx1">
                    <a:lumMod val="85000"/>
                    <a:lumOff val="15000"/>
                  </a:schemeClr>
                </a:solidFill>
                <a:latin typeface="微软雅黑"/>
                <a:ea typeface="微软雅黑"/>
                <a:cs typeface="微软雅黑"/>
                <a:sym typeface="微软雅黑"/>
              </a:rPr>
              <a:t>动态选择</a:t>
            </a:r>
            <a:r>
              <a:rPr lang="en-US" sz="1800" b="0" i="0" u="none" strike="noStrike" spc="120" dirty="0" err="1">
                <a:solidFill>
                  <a:schemeClr val="tx1">
                    <a:lumMod val="85000"/>
                    <a:lumOff val="15000"/>
                  </a:schemeClr>
                </a:solidFill>
                <a:latin typeface="微软雅黑"/>
                <a:ea typeface="微软雅黑"/>
                <a:cs typeface="微软雅黑"/>
                <a:sym typeface="微软雅黑"/>
              </a:rPr>
              <a:t>。本文围绕这三个问题展开研究</a:t>
            </a:r>
            <a:r>
              <a:rPr lang="en-US" sz="1800" b="0" i="0" u="none" strike="noStrike" spc="120" dirty="0">
                <a:solidFill>
                  <a:schemeClr val="tx1">
                    <a:lumMod val="85000"/>
                    <a:lumOff val="15000"/>
                  </a:schemeClr>
                </a:solidFill>
                <a:latin typeface="微软雅黑"/>
                <a:ea typeface="微软雅黑"/>
                <a:cs typeface="微软雅黑"/>
                <a:sym typeface="微软雅黑"/>
              </a:rPr>
              <a:t>。</a:t>
            </a:r>
          </a:p>
        </p:txBody>
      </p:sp>
      <p:pic>
        <p:nvPicPr>
          <p:cNvPr id="6" name="Picture 6"/>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05883" y="1142302"/>
            <a:ext cx="530860" cy="5308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Freeform 2"/>
          <p:cNvSpPr/>
          <p:nvPr/>
        </p:nvSpPr>
        <p:spPr>
          <a:xfrm>
            <a:off x="0" y="0"/>
            <a:ext cx="6347012" cy="683895"/>
          </a:xfrm>
          <a:custGeom>
            <a:avLst/>
            <a:gdLst/>
            <a:ahLst/>
            <a:cxnLst/>
            <a:rect l="l" t="t" r="r" b="b"/>
            <a:pathLst>
              <a:path w="5035550" h="749935">
                <a:moveTo>
                  <a:pt x="542276" y="0"/>
                </a:moveTo>
                <a:lnTo>
                  <a:pt x="542285" y="0"/>
                </a:lnTo>
                <a:lnTo>
                  <a:pt x="4470270" y="0"/>
                </a:lnTo>
                <a:lnTo>
                  <a:pt x="4470270" y="1604"/>
                </a:lnTo>
                <a:lnTo>
                  <a:pt x="4493274" y="0"/>
                </a:lnTo>
                <a:cubicBezTo>
                  <a:pt x="4792764" y="0"/>
                  <a:pt x="5035550" y="167879"/>
                  <a:pt x="5035550" y="374968"/>
                </a:cubicBezTo>
                <a:cubicBezTo>
                  <a:pt x="5035550" y="582056"/>
                  <a:pt x="4792764" y="749935"/>
                  <a:pt x="4493274" y="749935"/>
                </a:cubicBezTo>
                <a:lnTo>
                  <a:pt x="4470270" y="748332"/>
                </a:lnTo>
                <a:lnTo>
                  <a:pt x="4470270" y="749935"/>
                </a:lnTo>
                <a:lnTo>
                  <a:pt x="542276" y="749935"/>
                </a:lnTo>
                <a:cubicBezTo>
                  <a:pt x="242786" y="749935"/>
                  <a:pt x="0" y="582056"/>
                  <a:pt x="0" y="374968"/>
                </a:cubicBezTo>
                <a:cubicBezTo>
                  <a:pt x="0" y="167879"/>
                  <a:pt x="242786" y="0"/>
                  <a:pt x="542276"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oAutofit/>
          </a:bodyPr>
          <a:lstStyle/>
          <a:p>
            <a:pPr marL="0" indent="0" algn="l">
              <a:lnSpc>
                <a:spcPct val="100000"/>
              </a:lnSpc>
              <a:defRPr/>
            </a:pPr>
            <a:r>
              <a:rPr lang="en-US" sz="1400" b="0" i="0" u="none" strike="noStrike">
                <a:solidFill>
                  <a:srgbClr val="000000"/>
                </a:solidFill>
                <a:latin typeface="Arial"/>
                <a:ea typeface="Arial"/>
                <a:cs typeface="Arial"/>
                <a:sym typeface="Arial"/>
              </a:rPr>
              <a:t> </a:t>
            </a:r>
            <a:endParaRPr lang="en-US" sz="1100"/>
          </a:p>
        </p:txBody>
      </p:sp>
      <p:pic>
        <p:nvPicPr>
          <p:cNvPr id="3" name="Picture 3"/>
          <p:cNvPicPr>
            <a:picLocks noChangeAspect="1"/>
          </p:cNvPicPr>
          <p:nvPr/>
        </p:nvPicPr>
        <p:blipFill>
          <a:blip r:embed="rId4"/>
          <a:srcRect/>
          <a:stretch>
            <a:fillRect/>
          </a:stretch>
        </p:blipFill>
        <p:spPr>
          <a:xfrm>
            <a:off x="163195" y="66040"/>
            <a:ext cx="617855" cy="617855"/>
          </a:xfrm>
          <a:prstGeom prst="rect">
            <a:avLst/>
          </a:prstGeom>
          <a:ln w="12700" cap="flat" cmpd="sng">
            <a:noFill/>
            <a:prstDash val="solid"/>
            <a:round/>
          </a:ln>
        </p:spPr>
      </p:pic>
      <p:sp>
        <p:nvSpPr>
          <p:cNvPr id="4" name="AutoShape 4"/>
          <p:cNvSpPr/>
          <p:nvPr/>
        </p:nvSpPr>
        <p:spPr>
          <a:xfrm>
            <a:off x="781685" y="144780"/>
            <a:ext cx="4049395" cy="460375"/>
          </a:xfrm>
          <a:prstGeom prst="roundRect">
            <a:avLst>
              <a:gd name="adj" fmla="val 0"/>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2400" b="1" i="0" u="none" strike="noStrike" dirty="0">
                <a:solidFill>
                  <a:srgbClr val="FFFFFF"/>
                </a:solidFill>
                <a:latin typeface="微软雅黑"/>
                <a:ea typeface="微软雅黑"/>
                <a:cs typeface="微软雅黑"/>
                <a:sym typeface="微软雅黑"/>
              </a:rPr>
              <a:t>2.2 </a:t>
            </a:r>
            <a:r>
              <a:rPr lang="en-US" sz="2400" b="1" i="0" u="none" strike="noStrike" dirty="0" err="1">
                <a:solidFill>
                  <a:srgbClr val="FFFFFF"/>
                </a:solidFill>
                <a:latin typeface="微软雅黑"/>
                <a:ea typeface="微软雅黑"/>
                <a:cs typeface="微软雅黑"/>
                <a:sym typeface="微软雅黑"/>
              </a:rPr>
              <a:t>基础模型：开放词汇检测与提示分割</a:t>
            </a:r>
            <a:endParaRPr lang="en-US" sz="1100" dirty="0"/>
          </a:p>
        </p:txBody>
      </p:sp>
      <p:graphicFrame>
        <p:nvGraphicFramePr>
          <p:cNvPr id="5" name="Table 5"/>
          <p:cNvGraphicFramePr>
            <a:graphicFrameLocks noGrp="1"/>
          </p:cNvGraphicFramePr>
          <p:nvPr>
            <p:extLst>
              <p:ext uri="{D42A27DB-BD31-4B8C-83A1-F6EECF244321}">
                <p14:modId xmlns:p14="http://schemas.microsoft.com/office/powerpoint/2010/main" val="1888135326"/>
              </p:ext>
            </p:extLst>
          </p:nvPr>
        </p:nvGraphicFramePr>
        <p:xfrm>
          <a:off x="0" y="948056"/>
          <a:ext cx="12005105" cy="4890690"/>
        </p:xfrm>
        <a:graphic>
          <a:graphicData uri="http://schemas.openxmlformats.org/drawingml/2006/table">
            <a:tbl>
              <a:tblPr>
                <a:effectLst/>
              </a:tblPr>
              <a:tblGrid>
                <a:gridCol w="1109527">
                  <a:extLst>
                    <a:ext uri="{9D8B030D-6E8A-4147-A177-3AD203B41FA5}">
                      <a16:colId xmlns:a16="http://schemas.microsoft.com/office/drawing/2014/main" val="20000"/>
                    </a:ext>
                  </a:extLst>
                </a:gridCol>
                <a:gridCol w="1427476">
                  <a:extLst>
                    <a:ext uri="{9D8B030D-6E8A-4147-A177-3AD203B41FA5}">
                      <a16:colId xmlns:a16="http://schemas.microsoft.com/office/drawing/2014/main" val="20001"/>
                    </a:ext>
                  </a:extLst>
                </a:gridCol>
                <a:gridCol w="891982">
                  <a:extLst>
                    <a:ext uri="{9D8B030D-6E8A-4147-A177-3AD203B41FA5}">
                      <a16:colId xmlns:a16="http://schemas.microsoft.com/office/drawing/2014/main" val="20002"/>
                    </a:ext>
                  </a:extLst>
                </a:gridCol>
                <a:gridCol w="3286156">
                  <a:extLst>
                    <a:ext uri="{9D8B030D-6E8A-4147-A177-3AD203B41FA5}">
                      <a16:colId xmlns:a16="http://schemas.microsoft.com/office/drawing/2014/main" val="20003"/>
                    </a:ext>
                  </a:extLst>
                </a:gridCol>
                <a:gridCol w="3341810">
                  <a:extLst>
                    <a:ext uri="{9D8B030D-6E8A-4147-A177-3AD203B41FA5}">
                      <a16:colId xmlns:a16="http://schemas.microsoft.com/office/drawing/2014/main" val="20004"/>
                    </a:ext>
                  </a:extLst>
                </a:gridCol>
                <a:gridCol w="1948154">
                  <a:extLst>
                    <a:ext uri="{9D8B030D-6E8A-4147-A177-3AD203B41FA5}">
                      <a16:colId xmlns:a16="http://schemas.microsoft.com/office/drawing/2014/main" val="20005"/>
                    </a:ext>
                  </a:extLst>
                </a:gridCol>
              </a:tblGrid>
              <a:tr h="526589">
                <a:tc>
                  <a:txBody>
                    <a:bodyPr/>
                    <a:lstStyle/>
                    <a:p>
                      <a:pPr marL="0" indent="0" algn="ctr" defTabSz="914400">
                        <a:lnSpc>
                          <a:spcPct val="100000"/>
                        </a:lnSpc>
                        <a:defRPr/>
                      </a:pPr>
                      <a:r>
                        <a:rPr lang="en-US" sz="1600" b="1" i="0" u="none" strike="noStrike" dirty="0" err="1">
                          <a:solidFill>
                            <a:srgbClr val="FFFFFF"/>
                          </a:solidFill>
                          <a:latin typeface="微软雅黑"/>
                          <a:ea typeface="微软雅黑"/>
                          <a:cs typeface="微软雅黑"/>
                          <a:sym typeface="微软雅黑"/>
                        </a:rPr>
                        <a:t>类别</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600" b="1" i="0" u="none" strike="noStrike" dirty="0" err="1">
                          <a:solidFill>
                            <a:srgbClr val="FFFFFF"/>
                          </a:solidFill>
                          <a:latin typeface="微软雅黑"/>
                          <a:ea typeface="微软雅黑"/>
                          <a:cs typeface="微软雅黑"/>
                          <a:sym typeface="微软雅黑"/>
                        </a:rPr>
                        <a:t>作者</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600" b="1" i="0" u="none" strike="noStrike" dirty="0" err="1">
                          <a:solidFill>
                            <a:srgbClr val="FFFFFF"/>
                          </a:solidFill>
                          <a:latin typeface="微软雅黑"/>
                          <a:ea typeface="微软雅黑"/>
                          <a:cs typeface="微软雅黑"/>
                          <a:sym typeface="微软雅黑"/>
                        </a:rPr>
                        <a:t>年份</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600" b="1" i="0" u="none" strike="noStrike" dirty="0" err="1">
                          <a:solidFill>
                            <a:srgbClr val="FFFFFF"/>
                          </a:solidFill>
                          <a:latin typeface="微软雅黑"/>
                          <a:ea typeface="微软雅黑"/>
                          <a:cs typeface="微软雅黑"/>
                          <a:sym typeface="微软雅黑"/>
                        </a:rPr>
                        <a:t>方法</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gridSpan="2">
                  <a:txBody>
                    <a:bodyPr/>
                    <a:lstStyle/>
                    <a:p>
                      <a:pPr marL="0" indent="0" algn="ctr" defTabSz="914400">
                        <a:lnSpc>
                          <a:spcPct val="100000"/>
                        </a:lnSpc>
                        <a:defRPr/>
                      </a:pPr>
                      <a:r>
                        <a:rPr lang="en-US" sz="1600" b="1" i="0" u="none" strike="noStrike" dirty="0" err="1">
                          <a:solidFill>
                            <a:srgbClr val="FFFFFF"/>
                          </a:solidFill>
                          <a:latin typeface="微软雅黑"/>
                          <a:ea typeface="微软雅黑"/>
                          <a:cs typeface="微软雅黑"/>
                          <a:sym typeface="微软雅黑"/>
                        </a:rPr>
                        <a:t>特点</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h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0"/>
                  </a:ext>
                </a:extLst>
              </a:tr>
              <a:tr h="916497">
                <a:tc rowSpan="6">
                  <a:txBody>
                    <a:bodyPr/>
                    <a:lstStyle/>
                    <a:p>
                      <a:pPr marL="0" indent="0" algn="ctr" defTabSz="914400">
                        <a:lnSpc>
                          <a:spcPct val="100000"/>
                        </a:lnSpc>
                        <a:defRPr/>
                      </a:pPr>
                      <a:r>
                        <a:rPr lang="en-US" sz="1600" b="0" i="0" u="none" strike="noStrike" dirty="0" err="1">
                          <a:solidFill>
                            <a:srgbClr val="000000"/>
                          </a:solidFill>
                          <a:latin typeface="微软雅黑"/>
                          <a:ea typeface="微软雅黑"/>
                          <a:cs typeface="微软雅黑"/>
                          <a:sym typeface="微软雅黑"/>
                        </a:rPr>
                        <a:t>开放词汇与</a:t>
                      </a:r>
                      <a:endParaRPr lang="en-US" sz="1600" dirty="0"/>
                    </a:p>
                    <a:p>
                      <a:pPr marL="0" indent="0" algn="ctr" defTabSz="914400">
                        <a:lnSpc>
                          <a:spcPct val="100000"/>
                        </a:lnSpc>
                      </a:pPr>
                      <a:r>
                        <a:rPr lang="en-US" sz="1600" b="0" i="0" u="none" strike="noStrike" dirty="0" err="1">
                          <a:solidFill>
                            <a:srgbClr val="000000"/>
                          </a:solidFill>
                          <a:latin typeface="微软雅黑"/>
                          <a:ea typeface="微软雅黑"/>
                          <a:cs typeface="微软雅黑"/>
                          <a:sym typeface="微软雅黑"/>
                        </a:rPr>
                        <a:t>分割基础模型</a:t>
                      </a:r>
                      <a:endParaRPr lang="en-US" sz="1600" b="0" i="0" u="none" strike="noStrike" dirty="0">
                        <a:solidFill>
                          <a:srgbClr val="000000"/>
                        </a:solidFill>
                        <a:latin typeface="微软雅黑"/>
                        <a:ea typeface="微软雅黑"/>
                        <a:cs typeface="微软雅黑"/>
                        <a:sym typeface="微软雅黑"/>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Liu 等</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2024</a:t>
                      </a:r>
                      <a:endParaRPr lang="en-US" sz="16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Grounding </a:t>
                      </a:r>
                      <a:r>
                        <a:rPr lang="en-US" sz="1600" b="0" i="0" u="none" strike="noStrike" dirty="0" err="1">
                          <a:solidFill>
                            <a:srgbClr val="000000"/>
                          </a:solidFill>
                          <a:latin typeface="微软雅黑"/>
                          <a:ea typeface="微软雅黑"/>
                          <a:cs typeface="微软雅黑"/>
                          <a:sym typeface="微软雅黑"/>
                        </a:rPr>
                        <a:t>DINO：语言表征与检测架构结合，文本短语开放世界定位</a:t>
                      </a:r>
                      <a:r>
                        <a:rPr lang="en-US" sz="1600" b="0" i="0" u="none" strike="noStrike" dirty="0">
                          <a:solidFill>
                            <a:srgbClr val="000000"/>
                          </a:solidFill>
                          <a:latin typeface="微软雅黑"/>
                          <a:ea typeface="微软雅黑"/>
                          <a:cs typeface="微软雅黑"/>
                          <a:sym typeface="微软雅黑"/>
                        </a:rPr>
                        <a:t>。</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err="1">
                          <a:solidFill>
                            <a:srgbClr val="000000"/>
                          </a:solidFill>
                          <a:latin typeface="微软雅黑"/>
                          <a:ea typeface="微软雅黑"/>
                          <a:cs typeface="微软雅黑"/>
                          <a:sym typeface="微软雅黑"/>
                        </a:rPr>
                        <a:t>零样本定位，为低人工干预的数据初始化提供路径</a:t>
                      </a:r>
                      <a:r>
                        <a:rPr lang="en-US" sz="1600" b="0" i="0" u="none" strike="noStrike" dirty="0">
                          <a:solidFill>
                            <a:srgbClr val="000000"/>
                          </a:solidFill>
                          <a:latin typeface="微软雅黑"/>
                          <a:ea typeface="微软雅黑"/>
                          <a:cs typeface="微软雅黑"/>
                          <a:sym typeface="微软雅黑"/>
                        </a:rPr>
                        <a:t>。</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rowSpan="6">
                  <a:txBody>
                    <a:bodyPr/>
                    <a:lstStyle/>
                    <a:p>
                      <a:pPr marL="0" indent="0" algn="ctr" defTabSz="914400">
                        <a:lnSpc>
                          <a:spcPct val="100000"/>
                        </a:lnSpc>
                        <a:defRPr/>
                      </a:pPr>
                      <a:r>
                        <a:rPr lang="en-US" sz="1600" b="1" i="0" u="none" strike="noStrike">
                          <a:solidFill>
                            <a:srgbClr val="C00000"/>
                          </a:solidFill>
                          <a:latin typeface="微软雅黑"/>
                          <a:ea typeface="微软雅黑"/>
                          <a:cs typeface="微软雅黑"/>
                          <a:sym typeface="微软雅黑"/>
                        </a:rPr>
                        <a:t>现有文献多关注零样本直接感知，较少研究其预测结果如何稳定转化为大规模闭集训练标签。</a:t>
                      </a:r>
                      <a:endParaRPr lang="en-US" sz="16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extLst>
                  <a:ext uri="{0D108BD9-81ED-4DB2-BD59-A6C34878D82A}">
                    <a16:rowId xmlns:a16="http://schemas.microsoft.com/office/drawing/2014/main" val="10001"/>
                  </a:ext>
                </a:extLst>
              </a:tr>
              <a:tr h="625435">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Fu 等</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2026</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err="1">
                          <a:solidFill>
                            <a:srgbClr val="000000"/>
                          </a:solidFill>
                          <a:latin typeface="微软雅黑"/>
                          <a:ea typeface="微软雅黑"/>
                          <a:cs typeface="微软雅黑"/>
                          <a:sym typeface="微软雅黑"/>
                        </a:rPr>
                        <a:t>PET-DINO：统一视觉线索增强</a:t>
                      </a:r>
                      <a:r>
                        <a:rPr lang="en-US" sz="1600" b="0" i="0" u="none" strike="noStrike" dirty="0">
                          <a:solidFill>
                            <a:srgbClr val="000000"/>
                          </a:solidFill>
                          <a:latin typeface="微软雅黑"/>
                          <a:ea typeface="微软雅黑"/>
                          <a:cs typeface="微软雅黑"/>
                          <a:sym typeface="微软雅黑"/>
                        </a:rPr>
                        <a:t> Grounding DINO。</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zh-CN" altLang="en-US" sz="1600" b="0" i="0" u="none" strike="noStrike" dirty="0">
                          <a:solidFill>
                            <a:srgbClr val="000000"/>
                          </a:solidFill>
                          <a:latin typeface="微软雅黑"/>
                          <a:ea typeface="微软雅黑"/>
                          <a:cs typeface="微软雅黑"/>
                          <a:sym typeface="微软雅黑"/>
                        </a:rPr>
                        <a:t>复杂视觉概念下文本</a:t>
                      </a:r>
                      <a:r>
                        <a:rPr lang="en-US" altLang="zh-CN" sz="1600" b="0" i="0" u="none" strike="noStrike" dirty="0">
                          <a:solidFill>
                            <a:srgbClr val="000000"/>
                          </a:solidFill>
                          <a:latin typeface="微软雅黑"/>
                          <a:ea typeface="微软雅黑"/>
                          <a:cs typeface="微软雅黑"/>
                          <a:sym typeface="微软雅黑"/>
                        </a:rPr>
                        <a:t>—</a:t>
                      </a:r>
                      <a:r>
                        <a:rPr lang="zh-CN" altLang="en-US" sz="1600" b="0" i="0" u="none" strike="noStrike" dirty="0">
                          <a:solidFill>
                            <a:srgbClr val="000000"/>
                          </a:solidFill>
                          <a:latin typeface="微软雅黑"/>
                          <a:ea typeface="微软雅黑"/>
                          <a:cs typeface="微软雅黑"/>
                          <a:sym typeface="微软雅黑"/>
                        </a:rPr>
                        <a:t>视觉提示对齐仍是开放集检测的重要问题</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2"/>
                  </a:ext>
                </a:extLst>
              </a:tr>
              <a:tr h="625435">
                <a:tc vMerge="1">
                  <a:txBody>
                    <a:bodyPr/>
                    <a:lstStyle/>
                    <a:p>
                      <a:endParaRPr lang="zh-CN" altLang="en-US"/>
                    </a:p>
                  </a:txBody>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Kirillov 等</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2023</a:t>
                      </a:r>
                      <a:endParaRPr lang="en-US" sz="16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altLang="zh-CN" sz="1600" b="0" i="0" u="none" strike="noStrike" dirty="0">
                          <a:solidFill>
                            <a:srgbClr val="000000"/>
                          </a:solidFill>
                          <a:latin typeface="微软雅黑"/>
                          <a:ea typeface="微软雅黑"/>
                          <a:cs typeface="微软雅黑"/>
                          <a:sym typeface="微软雅黑"/>
                        </a:rPr>
                        <a:t>SAM</a:t>
                      </a:r>
                      <a:r>
                        <a:rPr lang="zh-CN" altLang="en-US" sz="1600" b="0" i="0" u="none" strike="noStrike" dirty="0">
                          <a:solidFill>
                            <a:srgbClr val="000000"/>
                          </a:solidFill>
                          <a:latin typeface="微软雅黑"/>
                          <a:ea typeface="微软雅黑"/>
                          <a:cs typeface="微软雅黑"/>
                          <a:sym typeface="微软雅黑"/>
                        </a:rPr>
                        <a:t>：通用提示驱动分割范式</a:t>
                      </a:r>
                      <a:r>
                        <a:rPr lang="en-US" sz="1600" b="0" i="0" u="none" strike="noStrike" dirty="0">
                          <a:solidFill>
                            <a:srgbClr val="000000"/>
                          </a:solidFill>
                          <a:latin typeface="微软雅黑"/>
                          <a:ea typeface="微软雅黑"/>
                          <a:cs typeface="微软雅黑"/>
                          <a:sym typeface="微软雅黑"/>
                        </a:rPr>
                        <a:t>。</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zh-CN" altLang="en-US" sz="1600" b="0" i="0" u="none" strike="noStrike" dirty="0">
                          <a:solidFill>
                            <a:srgbClr val="000000"/>
                          </a:solidFill>
                          <a:latin typeface="微软雅黑"/>
                          <a:ea typeface="微软雅黑"/>
                          <a:cs typeface="微软雅黑"/>
                          <a:sym typeface="微软雅黑"/>
                        </a:rPr>
                        <a:t>为精细边界提取和未知目标发现提供补充</a:t>
                      </a:r>
                      <a:r>
                        <a:rPr lang="en-US" sz="1600" b="0" i="0" u="none" strike="noStrike" dirty="0">
                          <a:solidFill>
                            <a:srgbClr val="000000"/>
                          </a:solidFill>
                          <a:latin typeface="微软雅黑"/>
                          <a:ea typeface="微软雅黑"/>
                          <a:cs typeface="微软雅黑"/>
                          <a:sym typeface="微软雅黑"/>
                        </a:rPr>
                        <a:t>。</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vMerge="1">
                  <a:txBody>
                    <a:bodyPr/>
                    <a:lstStyle/>
                    <a:p>
                      <a:endParaRPr lang="zh-CN" altLang="en-US"/>
                    </a:p>
                  </a:txBody>
                  <a:tcPr/>
                </a:tc>
                <a:extLst>
                  <a:ext uri="{0D108BD9-81ED-4DB2-BD59-A6C34878D82A}">
                    <a16:rowId xmlns:a16="http://schemas.microsoft.com/office/drawing/2014/main" val="2329189027"/>
                  </a:ext>
                </a:extLst>
              </a:tr>
              <a:tr h="760290">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l" defTabSz="914400">
                        <a:lnSpc>
                          <a:spcPct val="100000"/>
                        </a:lnSpc>
                        <a:defRPr/>
                      </a:pPr>
                      <a:r>
                        <a:rPr lang="en-US" sz="1600" b="0" i="0" u="none" strike="noStrike">
                          <a:solidFill>
                            <a:srgbClr val="000000"/>
                          </a:solidFill>
                          <a:latin typeface="微软雅黑"/>
                          <a:ea typeface="微软雅黑"/>
                          <a:cs typeface="微软雅黑"/>
                          <a:sym typeface="微软雅黑"/>
                        </a:rPr>
                        <a:t>Ravi 等</a:t>
                      </a:r>
                      <a:endParaRPr lang="en-US" sz="16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a:solidFill>
                            <a:srgbClr val="000000"/>
                          </a:solidFill>
                          <a:latin typeface="微软雅黑"/>
                          <a:ea typeface="微软雅黑"/>
                          <a:cs typeface="微软雅黑"/>
                          <a:sym typeface="微软雅黑"/>
                        </a:rPr>
                        <a:t>2025</a:t>
                      </a:r>
                      <a:endParaRPr lang="en-US" sz="16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a:solidFill>
                            <a:srgbClr val="000000"/>
                          </a:solidFill>
                          <a:latin typeface="微软雅黑"/>
                          <a:ea typeface="微软雅黑"/>
                          <a:cs typeface="微软雅黑"/>
                          <a:sym typeface="微软雅黑"/>
                        </a:rPr>
                        <a:t>SAM2 将分割范式扩展到时序视频。</a:t>
                      </a:r>
                      <a:endParaRPr lang="en-US" sz="16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err="1">
                          <a:solidFill>
                            <a:srgbClr val="000000"/>
                          </a:solidFill>
                          <a:latin typeface="微软雅黑"/>
                          <a:ea typeface="微软雅黑"/>
                          <a:cs typeface="微软雅黑"/>
                          <a:sym typeface="微软雅黑"/>
                        </a:rPr>
                        <a:t>支持视频时序分割与跟踪</a:t>
                      </a:r>
                      <a:r>
                        <a:rPr lang="en-US" sz="1600" b="0" i="0" u="none" strike="noStrike" dirty="0">
                          <a:solidFill>
                            <a:srgbClr val="000000"/>
                          </a:solidFill>
                          <a:latin typeface="微软雅黑"/>
                          <a:ea typeface="微软雅黑"/>
                          <a:cs typeface="微软雅黑"/>
                          <a:sym typeface="微软雅黑"/>
                        </a:rPr>
                        <a:t>。</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3"/>
                  </a:ext>
                </a:extLst>
              </a:tr>
              <a:tr h="631611">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Carion 等</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2026</a:t>
                      </a:r>
                      <a:endParaRPr lang="en-US" sz="16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SAM3 </a:t>
                      </a:r>
                      <a:r>
                        <a:rPr lang="en-US" sz="1600" b="0" i="0" u="none" strike="noStrike" dirty="0" err="1">
                          <a:solidFill>
                            <a:srgbClr val="000000"/>
                          </a:solidFill>
                          <a:latin typeface="微软雅黑"/>
                          <a:ea typeface="微软雅黑"/>
                          <a:cs typeface="微软雅黑"/>
                          <a:sym typeface="微软雅黑"/>
                        </a:rPr>
                        <a:t>进一步支持概念提示驱动的检测、分割和跟踪</a:t>
                      </a:r>
                      <a:r>
                        <a:rPr lang="en-US" sz="1600" b="0" i="0" u="none" strike="noStrike" dirty="0">
                          <a:solidFill>
                            <a:srgbClr val="000000"/>
                          </a:solidFill>
                          <a:latin typeface="微软雅黑"/>
                          <a:ea typeface="微软雅黑"/>
                          <a:cs typeface="微软雅黑"/>
                          <a:sym typeface="微软雅黑"/>
                        </a:rPr>
                        <a:t>。</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err="1">
                          <a:solidFill>
                            <a:srgbClr val="000000"/>
                          </a:solidFill>
                          <a:latin typeface="微软雅黑"/>
                          <a:ea typeface="微软雅黑"/>
                          <a:cs typeface="微软雅黑"/>
                          <a:sym typeface="微软雅黑"/>
                        </a:rPr>
                        <a:t>本文将其定义为</a:t>
                      </a:r>
                      <a:r>
                        <a:rPr lang="en-US" sz="1600" b="0" i="0" u="none" strike="noStrike" dirty="0">
                          <a:solidFill>
                            <a:srgbClr val="000000"/>
                          </a:solidFill>
                          <a:latin typeface="微软雅黑"/>
                          <a:ea typeface="微软雅黑"/>
                          <a:cs typeface="微软雅黑"/>
                          <a:sym typeface="微软雅黑"/>
                        </a:rPr>
                        <a:t> V1 </a:t>
                      </a:r>
                      <a:r>
                        <a:rPr lang="en-US" sz="1600" b="0" i="0" u="none" strike="noStrike" dirty="0" err="1">
                          <a:solidFill>
                            <a:srgbClr val="000000"/>
                          </a:solidFill>
                          <a:latin typeface="微软雅黑"/>
                          <a:ea typeface="微软雅黑"/>
                          <a:cs typeface="微软雅黑"/>
                          <a:sym typeface="微软雅黑"/>
                        </a:rPr>
                        <a:t>之后的可选后置校验模块</a:t>
                      </a:r>
                      <a:r>
                        <a:rPr lang="en-US" sz="1600" b="0" i="0" u="none" strike="noStrike" dirty="0">
                          <a:solidFill>
                            <a:srgbClr val="000000"/>
                          </a:solidFill>
                          <a:latin typeface="微软雅黑"/>
                          <a:ea typeface="微软雅黑"/>
                          <a:cs typeface="微软雅黑"/>
                          <a:sym typeface="微软雅黑"/>
                        </a:rPr>
                        <a:t>。</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4"/>
                  </a:ext>
                </a:extLst>
              </a:tr>
              <a:tr h="804833">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marR="0" indent="0" algn="l" defTabSz="914400" rtl="0">
                        <a:lnSpc>
                          <a:spcPct val="100000"/>
                        </a:lnSpc>
                        <a:spcBef>
                          <a:spcPts val="0"/>
                        </a:spcBef>
                        <a:spcAft>
                          <a:spcPts val="0"/>
                        </a:spcAft>
                        <a:buClr>
                          <a:srgbClr val="000000"/>
                        </a:buClr>
                        <a:buFont typeface="Arial"/>
                        <a:buNone/>
                        <a:defRPr/>
                      </a:pPr>
                      <a:r>
                        <a:rPr lang="en-US" altLang="zh-CN" sz="1600" b="0" i="0" u="none" strike="noStrike" cap="none" dirty="0">
                          <a:solidFill>
                            <a:srgbClr val="000000"/>
                          </a:solidFill>
                          <a:latin typeface="微软雅黑"/>
                          <a:ea typeface="微软雅黑"/>
                          <a:cs typeface="Times New Roman" panose="02020603050405020304" pitchFamily="18" charset="0"/>
                          <a:sym typeface="Arial"/>
                        </a:rPr>
                        <a:t>Huseljic </a:t>
                      </a:r>
                      <a:r>
                        <a:rPr lang="zh-CN" altLang="en-US" sz="1600" b="0" i="0" u="none" strike="noStrike" cap="none" dirty="0">
                          <a:solidFill>
                            <a:srgbClr val="000000"/>
                          </a:solidFill>
                          <a:latin typeface="微软雅黑"/>
                          <a:ea typeface="微软雅黑"/>
                          <a:cs typeface="Times New Roman" panose="02020603050405020304" pitchFamily="18" charset="0"/>
                          <a:sym typeface="Arial"/>
                        </a:rPr>
                        <a:t>等</a:t>
                      </a:r>
                    </a:p>
                  </a:txBody>
                  <a:tcPr marL="68580" marR="6858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marR="0" indent="0" algn="l" defTabSz="914400" rtl="0">
                        <a:lnSpc>
                          <a:spcPct val="100000"/>
                        </a:lnSpc>
                        <a:spcBef>
                          <a:spcPts val="0"/>
                        </a:spcBef>
                        <a:spcAft>
                          <a:spcPts val="0"/>
                        </a:spcAft>
                        <a:buClr>
                          <a:srgbClr val="000000"/>
                        </a:buClr>
                        <a:buFont typeface="Arial"/>
                        <a:buNone/>
                        <a:defRPr/>
                      </a:pPr>
                      <a:r>
                        <a:rPr lang="en-US" altLang="zh-CN" sz="1600" b="0" i="0" u="none" strike="noStrike" cap="none">
                          <a:solidFill>
                            <a:srgbClr val="000000"/>
                          </a:solidFill>
                          <a:latin typeface="微软雅黑"/>
                          <a:ea typeface="微软雅黑"/>
                          <a:cs typeface="Times New Roman" panose="02020603050405020304" pitchFamily="18" charset="0"/>
                          <a:sym typeface="Arial"/>
                        </a:rPr>
                        <a:t>2025</a:t>
                      </a:r>
                      <a:endParaRPr lang="zh-CN" altLang="en-US" sz="1600" b="0" i="0" u="none" strike="noStrike" cap="none">
                        <a:solidFill>
                          <a:srgbClr val="000000"/>
                        </a:solidFill>
                        <a:latin typeface="微软雅黑"/>
                        <a:ea typeface="微软雅黑"/>
                        <a:cs typeface="Times New Roman" panose="02020603050405020304" pitchFamily="18" charset="0"/>
                        <a:sym typeface="Arial"/>
                      </a:endParaRPr>
                    </a:p>
                  </a:txBody>
                  <a:tcPr marL="68580" marR="6858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marR="0" indent="0" algn="l" defTabSz="914400" rtl="0">
                        <a:lnSpc>
                          <a:spcPct val="100000"/>
                        </a:lnSpc>
                        <a:spcBef>
                          <a:spcPts val="0"/>
                        </a:spcBef>
                        <a:spcAft>
                          <a:spcPts val="0"/>
                        </a:spcAft>
                        <a:buClr>
                          <a:srgbClr val="000000"/>
                        </a:buClr>
                        <a:buFont typeface="Arial"/>
                        <a:buNone/>
                        <a:defRPr/>
                      </a:pPr>
                      <a:r>
                        <a:rPr lang="zh-CN" altLang="en-US" sz="1600" b="0" i="0" u="none" strike="noStrike" cap="none" dirty="0">
                          <a:solidFill>
                            <a:srgbClr val="000000"/>
                          </a:solidFill>
                          <a:latin typeface="微软雅黑"/>
                          <a:ea typeface="微软雅黑"/>
                          <a:cs typeface="Times New Roman" panose="02020603050405020304" pitchFamily="18" charset="0"/>
                          <a:sym typeface="Arial"/>
                        </a:rPr>
                        <a:t>预训练检测器置信度校准系统评估</a:t>
                      </a:r>
                    </a:p>
                  </a:txBody>
                  <a:tcPr marL="68580" marR="6858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marR="0" indent="0" algn="l" defTabSz="914400" rtl="0">
                        <a:lnSpc>
                          <a:spcPct val="100000"/>
                        </a:lnSpc>
                        <a:spcBef>
                          <a:spcPts val="0"/>
                        </a:spcBef>
                        <a:spcAft>
                          <a:spcPts val="0"/>
                        </a:spcAft>
                        <a:buClr>
                          <a:srgbClr val="000000"/>
                        </a:buClr>
                        <a:buFont typeface="Arial"/>
                        <a:buNone/>
                        <a:defRPr/>
                      </a:pPr>
                      <a:r>
                        <a:rPr lang="zh-CN" altLang="en-US" sz="1600" b="0" i="0" u="none" strike="noStrike" cap="none" dirty="0">
                          <a:solidFill>
                            <a:srgbClr val="000000"/>
                          </a:solidFill>
                          <a:latin typeface="微软雅黑"/>
                          <a:ea typeface="微软雅黑"/>
                          <a:cs typeface="Times New Roman" panose="02020603050405020304" pitchFamily="18" charset="0"/>
                          <a:sym typeface="Arial"/>
                        </a:rPr>
                        <a:t>置信度输出未必天然校准良好</a:t>
                      </a:r>
                    </a:p>
                  </a:txBody>
                  <a:tcPr marL="68580" marR="6858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Freeform 2"/>
          <p:cNvSpPr/>
          <p:nvPr/>
        </p:nvSpPr>
        <p:spPr>
          <a:xfrm>
            <a:off x="0" y="0"/>
            <a:ext cx="4942840" cy="749935"/>
          </a:xfrm>
          <a:custGeom>
            <a:avLst/>
            <a:gdLst/>
            <a:ahLst/>
            <a:cxnLst/>
            <a:rect l="l" t="t" r="r" b="b"/>
            <a:pathLst>
              <a:path w="4942840" h="749935">
                <a:moveTo>
                  <a:pt x="532293" y="0"/>
                </a:moveTo>
                <a:lnTo>
                  <a:pt x="532300" y="0"/>
                </a:lnTo>
                <a:lnTo>
                  <a:pt x="4387968" y="0"/>
                </a:lnTo>
                <a:lnTo>
                  <a:pt x="4387968" y="1604"/>
                </a:lnTo>
                <a:lnTo>
                  <a:pt x="4410547" y="0"/>
                </a:lnTo>
                <a:cubicBezTo>
                  <a:pt x="4704524" y="0"/>
                  <a:pt x="4942840" y="167879"/>
                  <a:pt x="4942840" y="374968"/>
                </a:cubicBezTo>
                <a:cubicBezTo>
                  <a:pt x="4942840" y="582056"/>
                  <a:pt x="4704524" y="749935"/>
                  <a:pt x="4410547" y="749935"/>
                </a:cubicBezTo>
                <a:lnTo>
                  <a:pt x="4387968" y="748332"/>
                </a:lnTo>
                <a:lnTo>
                  <a:pt x="4387968" y="749935"/>
                </a:lnTo>
                <a:lnTo>
                  <a:pt x="532293" y="749935"/>
                </a:lnTo>
                <a:cubicBezTo>
                  <a:pt x="238316" y="749935"/>
                  <a:pt x="0" y="582056"/>
                  <a:pt x="0" y="374968"/>
                </a:cubicBezTo>
                <a:cubicBezTo>
                  <a:pt x="0" y="167879"/>
                  <a:pt x="238316" y="0"/>
                  <a:pt x="532293"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oAutofit/>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p:txBody>
      </p:sp>
      <p:pic>
        <p:nvPicPr>
          <p:cNvPr id="3" name="Picture 3"/>
          <p:cNvPicPr>
            <a:picLocks noChangeAspect="1"/>
          </p:cNvPicPr>
          <p:nvPr/>
        </p:nvPicPr>
        <p:blipFill>
          <a:blip r:embed="rId4"/>
          <a:srcRect/>
          <a:stretch>
            <a:fillRect/>
          </a:stretch>
        </p:blipFill>
        <p:spPr>
          <a:xfrm>
            <a:off x="163195" y="66040"/>
            <a:ext cx="617855" cy="617855"/>
          </a:xfrm>
          <a:prstGeom prst="rect">
            <a:avLst/>
          </a:prstGeom>
          <a:ln w="12700" cap="flat" cmpd="sng">
            <a:noFill/>
            <a:prstDash val="solid"/>
            <a:round/>
          </a:ln>
        </p:spPr>
      </p:pic>
      <p:sp>
        <p:nvSpPr>
          <p:cNvPr id="4" name="AutoShape 4"/>
          <p:cNvSpPr/>
          <p:nvPr/>
        </p:nvSpPr>
        <p:spPr>
          <a:xfrm>
            <a:off x="779780" y="144780"/>
            <a:ext cx="4049395" cy="460375"/>
          </a:xfrm>
          <a:prstGeom prst="roundRect">
            <a:avLst>
              <a:gd name="adj" fmla="val 0"/>
            </a:avLst>
          </a:prstGeom>
          <a:noFill/>
          <a:ln w="12700" cap="flat" cmpd="sng">
            <a:noFill/>
            <a:prstDash val="solid"/>
            <a:round/>
          </a:ln>
        </p:spPr>
        <p:txBody>
          <a:bodyPr vert="horz" wrap="none" lIns="91440" tIns="45720" rIns="91440" bIns="45720" rtlCol="0" anchor="t">
            <a:noAutofit/>
          </a:bodyPr>
          <a:lstStyle/>
          <a:p>
            <a:pPr marL="0" indent="0" algn="ctr" defTabSz="914400">
              <a:lnSpc>
                <a:spcPct val="100000"/>
              </a:lnSpc>
              <a:defRPr/>
            </a:pPr>
            <a:r>
              <a:rPr lang="en-US" sz="2400" b="1" i="0" u="none" strike="noStrike" dirty="0">
                <a:solidFill>
                  <a:srgbClr val="FFFFFF"/>
                </a:solidFill>
                <a:latin typeface="微软雅黑"/>
                <a:ea typeface="微软雅黑"/>
                <a:cs typeface="微软雅黑"/>
                <a:sym typeface="微软雅黑"/>
              </a:rPr>
              <a:t>2.3 </a:t>
            </a:r>
            <a:r>
              <a:rPr lang="en-US" sz="2400" b="1" i="0" u="none" strike="noStrike" dirty="0" err="1">
                <a:solidFill>
                  <a:srgbClr val="FFFFFF"/>
                </a:solidFill>
                <a:latin typeface="微软雅黑"/>
                <a:ea typeface="微软雅黑"/>
                <a:cs typeface="微软雅黑"/>
                <a:sym typeface="微软雅黑"/>
              </a:rPr>
              <a:t>标签噪声与伪标签评价</a:t>
            </a:r>
            <a:endParaRPr lang="en-US" sz="1100" dirty="0"/>
          </a:p>
        </p:txBody>
      </p:sp>
      <p:graphicFrame>
        <p:nvGraphicFramePr>
          <p:cNvPr id="5" name="Table 5"/>
          <p:cNvGraphicFramePr>
            <a:graphicFrameLocks noGrp="1"/>
          </p:cNvGraphicFramePr>
          <p:nvPr>
            <p:extLst>
              <p:ext uri="{D42A27DB-BD31-4B8C-83A1-F6EECF244321}">
                <p14:modId xmlns:p14="http://schemas.microsoft.com/office/powerpoint/2010/main" val="584319064"/>
              </p:ext>
            </p:extLst>
          </p:nvPr>
        </p:nvGraphicFramePr>
        <p:xfrm>
          <a:off x="163196" y="894715"/>
          <a:ext cx="11642724" cy="5901549"/>
        </p:xfrm>
        <a:graphic>
          <a:graphicData uri="http://schemas.openxmlformats.org/drawingml/2006/table">
            <a:tbl>
              <a:tblPr>
                <a:effectLst/>
              </a:tblPr>
              <a:tblGrid>
                <a:gridCol w="1554071">
                  <a:extLst>
                    <a:ext uri="{9D8B030D-6E8A-4147-A177-3AD203B41FA5}">
                      <a16:colId xmlns:a16="http://schemas.microsoft.com/office/drawing/2014/main" val="20000"/>
                    </a:ext>
                  </a:extLst>
                </a:gridCol>
                <a:gridCol w="1217214">
                  <a:extLst>
                    <a:ext uri="{9D8B030D-6E8A-4147-A177-3AD203B41FA5}">
                      <a16:colId xmlns:a16="http://schemas.microsoft.com/office/drawing/2014/main" val="20001"/>
                    </a:ext>
                  </a:extLst>
                </a:gridCol>
                <a:gridCol w="855029">
                  <a:extLst>
                    <a:ext uri="{9D8B030D-6E8A-4147-A177-3AD203B41FA5}">
                      <a16:colId xmlns:a16="http://schemas.microsoft.com/office/drawing/2014/main" val="20002"/>
                    </a:ext>
                  </a:extLst>
                </a:gridCol>
                <a:gridCol w="4223918">
                  <a:extLst>
                    <a:ext uri="{9D8B030D-6E8A-4147-A177-3AD203B41FA5}">
                      <a16:colId xmlns:a16="http://schemas.microsoft.com/office/drawing/2014/main" val="20003"/>
                    </a:ext>
                  </a:extLst>
                </a:gridCol>
                <a:gridCol w="3792492">
                  <a:extLst>
                    <a:ext uri="{9D8B030D-6E8A-4147-A177-3AD203B41FA5}">
                      <a16:colId xmlns:a16="http://schemas.microsoft.com/office/drawing/2014/main" val="20004"/>
                    </a:ext>
                  </a:extLst>
                </a:gridCol>
              </a:tblGrid>
              <a:tr h="500573">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类别</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作者</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年份</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dirty="0" err="1">
                          <a:solidFill>
                            <a:srgbClr val="FFFFFF"/>
                          </a:solidFill>
                          <a:latin typeface="微软雅黑"/>
                          <a:ea typeface="微软雅黑"/>
                          <a:cs typeface="微软雅黑"/>
                          <a:sym typeface="微软雅黑"/>
                        </a:rPr>
                        <a:t>方法</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特点</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extLst>
                  <a:ext uri="{0D108BD9-81ED-4DB2-BD59-A6C34878D82A}">
                    <a16:rowId xmlns:a16="http://schemas.microsoft.com/office/drawing/2014/main" val="10000"/>
                  </a:ext>
                </a:extLst>
              </a:tr>
              <a:tr h="957982">
                <a:tc rowSpan="2">
                  <a:txBody>
                    <a:bodyPr/>
                    <a:lstStyle/>
                    <a:p>
                      <a:pPr marL="0" indent="0" algn="ctr" defTabSz="914400">
                        <a:lnSpc>
                          <a:spcPct val="100000"/>
                        </a:lnSpc>
                        <a:defRPr/>
                      </a:pPr>
                      <a:r>
                        <a:rPr lang="en-US" sz="1800" b="0" i="0" u="none" strike="noStrike" dirty="0" err="1">
                          <a:solidFill>
                            <a:srgbClr val="000000"/>
                          </a:solidFill>
                          <a:latin typeface="微软雅黑"/>
                          <a:ea typeface="微软雅黑"/>
                          <a:cs typeface="微软雅黑"/>
                          <a:sym typeface="微软雅黑"/>
                        </a:rPr>
                        <a:t>标签噪声与数据质量</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alpha val="100000"/>
                      </a:srgbClr>
                    </a:solidFill>
                  </a:tcPr>
                </a:tc>
                <a:tc>
                  <a:txBody>
                    <a:bodyPr/>
                    <a:lstStyle/>
                    <a:p>
                      <a:pPr marL="0" indent="0" algn="ctr" defTabSz="914400">
                        <a:lnSpc>
                          <a:spcPct val="100000"/>
                        </a:lnSpc>
                        <a:defRPr/>
                      </a:pPr>
                      <a:r>
                        <a:rPr lang="en-US" sz="1600" b="0" i="0" u="none" strike="noStrike" dirty="0" err="1">
                          <a:solidFill>
                            <a:srgbClr val="000000"/>
                          </a:solidFill>
                          <a:latin typeface="微软雅黑"/>
                          <a:ea typeface="微软雅黑"/>
                          <a:cs typeface="微软雅黑"/>
                          <a:sym typeface="微软雅黑"/>
                        </a:rPr>
                        <a:t>Frénay</a:t>
                      </a:r>
                      <a:r>
                        <a:rPr lang="en-US" sz="1600" b="0" i="0" u="none" strike="noStrike" dirty="0">
                          <a:solidFill>
                            <a:srgbClr val="000000"/>
                          </a:solidFill>
                          <a:latin typeface="微软雅黑"/>
                          <a:ea typeface="微软雅黑"/>
                          <a:cs typeface="微软雅黑"/>
                          <a:sym typeface="微软雅黑"/>
                        </a:rPr>
                        <a:t> 等</a:t>
                      </a:r>
                      <a:endParaRPr lang="en-US" sz="1100" dirty="0"/>
                    </a:p>
                    <a:p>
                      <a:pPr marL="0" indent="0" algn="ctr" defTabSz="914400">
                        <a:lnSpc>
                          <a:spcPct val="100000"/>
                        </a:lnSpc>
                      </a:pPr>
                      <a:r>
                        <a:rPr lang="en-US" sz="1400" b="0" i="0" u="none" strike="noStrike" dirty="0">
                          <a:solidFill>
                            <a:srgbClr val="000000"/>
                          </a:solidFill>
                          <a:latin typeface="Arial"/>
                          <a:ea typeface="Arial"/>
                          <a:cs typeface="Arial"/>
                          <a:sym typeface="Arial"/>
                        </a:rPr>
                        <a:t> </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alpha val="100000"/>
                      </a:srgbClr>
                    </a:solidFill>
                  </a:tcPr>
                </a:tc>
                <a:tc>
                  <a:txBody>
                    <a:bodyPr/>
                    <a:lstStyle/>
                    <a:p>
                      <a:pPr marL="0" indent="0" algn="ctr" defTabSz="914400">
                        <a:lnSpc>
                          <a:spcPct val="100000"/>
                        </a:lnSpc>
                        <a:defRPr/>
                      </a:pPr>
                      <a:r>
                        <a:rPr lang="en-US" sz="1600" b="0" i="0" u="none" strike="noStrike">
                          <a:solidFill>
                            <a:srgbClr val="000000"/>
                          </a:solidFill>
                          <a:latin typeface="微软雅黑"/>
                          <a:ea typeface="微软雅黑"/>
                          <a:cs typeface="微软雅黑"/>
                          <a:sym typeface="微软雅黑"/>
                        </a:rPr>
                        <a:t>2014</a:t>
                      </a:r>
                      <a:endParaRPr lang="en-US"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alpha val="100000"/>
                      </a:srgbClr>
                    </a:solidFill>
                  </a:tcPr>
                </a:tc>
                <a:tc>
                  <a:txBody>
                    <a:bodyPr/>
                    <a:lstStyle/>
                    <a:p>
                      <a:pPr marL="0" indent="0" algn="ctr" defTabSz="914400">
                        <a:lnSpc>
                          <a:spcPct val="100000"/>
                        </a:lnSpc>
                        <a:defRPr/>
                      </a:pPr>
                      <a:r>
                        <a:rPr lang="en-US" sz="1600" b="0" i="0" u="none" strike="noStrike" dirty="0" err="1">
                          <a:solidFill>
                            <a:srgbClr val="000000"/>
                          </a:solidFill>
                          <a:latin typeface="微软雅黑"/>
                          <a:ea typeface="微软雅黑"/>
                          <a:cs typeface="微软雅黑"/>
                          <a:sym typeface="微软雅黑"/>
                        </a:rPr>
                        <a:t>标签噪声分类综述：类别错误、漏标和定位噪声会干扰深度模型特征学习与泛化</a:t>
                      </a:r>
                      <a:r>
                        <a:rPr lang="en-US" sz="1600" b="0" i="0" u="none" strike="noStrike" dirty="0">
                          <a:solidFill>
                            <a:srgbClr val="000000"/>
                          </a:solidFill>
                          <a:latin typeface="微软雅黑"/>
                          <a:ea typeface="微软雅黑"/>
                          <a:cs typeface="微软雅黑"/>
                          <a:sym typeface="微软雅黑"/>
                        </a:rPr>
                        <a:t>。</a:t>
                      </a:r>
                      <a:endParaRPr lang="en-US" sz="1100" dirty="0"/>
                    </a:p>
                    <a:p>
                      <a:pPr marL="0" indent="0" algn="ctr" defTabSz="914400">
                        <a:lnSpc>
                          <a:spcPct val="100000"/>
                        </a:lnSpc>
                      </a:pPr>
                      <a:r>
                        <a:rPr lang="en-US" sz="1400" b="0" i="0" u="none" strike="noStrike" dirty="0">
                          <a:solidFill>
                            <a:srgbClr val="000000"/>
                          </a:solidFill>
                          <a:latin typeface="Arial"/>
                          <a:ea typeface="Arial"/>
                          <a:cs typeface="Arial"/>
                          <a:sym typeface="Arial"/>
                        </a:rPr>
                        <a:t> </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alpha val="100000"/>
                      </a:srgbClr>
                    </a:solidFill>
                  </a:tcPr>
                </a:tc>
                <a:tc>
                  <a:txBody>
                    <a:bodyPr/>
                    <a:lstStyle/>
                    <a:p>
                      <a:pPr marL="0" indent="0" algn="l" defTabSz="914400">
                        <a:lnSpc>
                          <a:spcPct val="100000"/>
                        </a:lnSpc>
                        <a:defRPr/>
                      </a:pPr>
                      <a:r>
                        <a:rPr lang="en-US" sz="1600" b="1" i="0" u="none" strike="noStrike" dirty="0" err="1">
                          <a:solidFill>
                            <a:srgbClr val="000000"/>
                          </a:solidFill>
                          <a:latin typeface="微软雅黑"/>
                          <a:ea typeface="微软雅黑"/>
                          <a:cs typeface="微软雅黑"/>
                          <a:sym typeface="微软雅黑"/>
                        </a:rPr>
                        <a:t>只靠标准</a:t>
                      </a:r>
                      <a:r>
                        <a:rPr lang="en-US" sz="1600" b="1" i="0" u="none" strike="noStrike" dirty="0">
                          <a:solidFill>
                            <a:srgbClr val="000000"/>
                          </a:solidFill>
                          <a:latin typeface="微软雅黑"/>
                          <a:ea typeface="微软雅黑"/>
                          <a:cs typeface="微软雅黑"/>
                          <a:sym typeface="微软雅黑"/>
                        </a:rPr>
                        <a:t> </a:t>
                      </a:r>
                      <a:r>
                        <a:rPr lang="en-US" sz="1600" b="1" i="0" u="none" strike="noStrike" dirty="0" err="1">
                          <a:solidFill>
                            <a:srgbClr val="000000"/>
                          </a:solidFill>
                          <a:latin typeface="微软雅黑"/>
                          <a:ea typeface="微软雅黑"/>
                          <a:cs typeface="微软雅黑"/>
                          <a:sym typeface="微软雅黑"/>
                        </a:rPr>
                        <a:t>IoU</a:t>
                      </a:r>
                      <a:r>
                        <a:rPr lang="en-US" sz="1600" b="1" i="0" u="none" strike="noStrike" dirty="0">
                          <a:solidFill>
                            <a:srgbClr val="000000"/>
                          </a:solidFill>
                          <a:latin typeface="微软雅黑"/>
                          <a:ea typeface="微软雅黑"/>
                          <a:cs typeface="微软雅黑"/>
                          <a:sym typeface="微软雅黑"/>
                        </a:rPr>
                        <a:t> </a:t>
                      </a:r>
                      <a:r>
                        <a:rPr lang="en-US" sz="1600" b="1" i="0" u="none" strike="noStrike" dirty="0" err="1">
                          <a:solidFill>
                            <a:srgbClr val="000000"/>
                          </a:solidFill>
                          <a:latin typeface="微软雅黑"/>
                          <a:ea typeface="微软雅黑"/>
                          <a:cs typeface="微软雅黑"/>
                          <a:sym typeface="微软雅黑"/>
                        </a:rPr>
                        <a:t>很难区分松紧风格与真实定位偏差，需结合边界敏感性与下游训练结果判断伪标签是否真正可用</a:t>
                      </a:r>
                      <a:r>
                        <a:rPr lang="zh-CN" altLang="en-US" sz="1600" b="1" i="0" u="none" strike="noStrike" dirty="0">
                          <a:solidFill>
                            <a:srgbClr val="000000"/>
                          </a:solidFill>
                          <a:latin typeface="微软雅黑"/>
                          <a:ea typeface="微软雅黑"/>
                          <a:cs typeface="微软雅黑"/>
                          <a:sym typeface="微软雅黑"/>
                        </a:rPr>
                        <a:t>。</a:t>
                      </a:r>
                      <a:endParaRPr lang="en-US" altLang="zh-CN" sz="1600" b="1" i="0" u="none" strike="noStrike" dirty="0">
                        <a:solidFill>
                          <a:srgbClr val="000000"/>
                        </a:solidFill>
                        <a:latin typeface="微软雅黑"/>
                        <a:ea typeface="微软雅黑"/>
                        <a:cs typeface="微软雅黑"/>
                        <a:sym typeface="微软雅黑"/>
                      </a:endParaRPr>
                    </a:p>
                    <a:p>
                      <a:pPr marL="0" indent="0" algn="l" defTabSz="914400">
                        <a:lnSpc>
                          <a:spcPct val="100000"/>
                        </a:lnSpc>
                        <a:defRPr/>
                      </a:pPr>
                      <a:endParaRPr lang="en-US" sz="1600" b="1" i="0" u="none" strike="noStrike" cap="none" dirty="0">
                        <a:solidFill>
                          <a:srgbClr val="000000"/>
                        </a:solidFill>
                        <a:latin typeface="微软雅黑"/>
                        <a:ea typeface="微软雅黑"/>
                        <a:sym typeface="微软雅黑"/>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alpha val="100000"/>
                      </a:srgbClr>
                    </a:solidFill>
                  </a:tcPr>
                </a:tc>
                <a:extLst>
                  <a:ext uri="{0D108BD9-81ED-4DB2-BD59-A6C34878D82A}">
                    <a16:rowId xmlns:a16="http://schemas.microsoft.com/office/drawing/2014/main" val="10001"/>
                  </a:ext>
                </a:extLst>
              </a:tr>
              <a:tr h="929950">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ctr" defTabSz="914400">
                        <a:lnSpc>
                          <a:spcPct val="100000"/>
                        </a:lnSpc>
                        <a:defRPr/>
                      </a:pPr>
                      <a:r>
                        <a:rPr lang="en-US" sz="1600" b="0" i="0" u="none" strike="noStrike" dirty="0">
                          <a:solidFill>
                            <a:srgbClr val="000000"/>
                          </a:solidFill>
                          <a:latin typeface="微软雅黑"/>
                          <a:ea typeface="微软雅黑"/>
                          <a:cs typeface="微软雅黑"/>
                          <a:sym typeface="微软雅黑"/>
                        </a:rPr>
                        <a:t>Northcutt 等</a:t>
                      </a:r>
                      <a:endParaRPr lang="en-US" sz="1100" dirty="0"/>
                    </a:p>
                    <a:p>
                      <a:pPr marL="0" indent="0" algn="ctr" defTabSz="914400">
                        <a:lnSpc>
                          <a:spcPct val="100000"/>
                        </a:lnSpc>
                      </a:pPr>
                      <a:r>
                        <a:rPr lang="en-US" sz="1400" b="0" i="0" u="none" strike="noStrike" dirty="0">
                          <a:solidFill>
                            <a:srgbClr val="000000"/>
                          </a:solidFill>
                          <a:latin typeface="Arial"/>
                          <a:ea typeface="Arial"/>
                          <a:cs typeface="Arial"/>
                          <a:sym typeface="Arial"/>
                        </a:rPr>
                        <a:t> </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alpha val="100000"/>
                      </a:srgbClr>
                    </a:solidFill>
                  </a:tcPr>
                </a:tc>
                <a:tc>
                  <a:txBody>
                    <a:bodyPr/>
                    <a:lstStyle/>
                    <a:p>
                      <a:pPr marL="0" indent="0" algn="ctr" defTabSz="914400">
                        <a:lnSpc>
                          <a:spcPct val="100000"/>
                        </a:lnSpc>
                        <a:defRPr/>
                      </a:pPr>
                      <a:r>
                        <a:rPr lang="en-US" sz="1600" b="0" i="0" u="none" strike="noStrike" dirty="0">
                          <a:solidFill>
                            <a:srgbClr val="000000"/>
                          </a:solidFill>
                          <a:latin typeface="微软雅黑"/>
                          <a:ea typeface="微软雅黑"/>
                          <a:cs typeface="微软雅黑"/>
                          <a:sym typeface="微软雅黑"/>
                        </a:rPr>
                        <a:t>2021</a:t>
                      </a:r>
                      <a:endParaRPr lang="en-US" sz="11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alpha val="100000"/>
                      </a:srgbClr>
                    </a:solidFill>
                  </a:tcPr>
                </a:tc>
                <a:tc>
                  <a:txBody>
                    <a:bodyPr/>
                    <a:lstStyle/>
                    <a:p>
                      <a:pPr marL="0" indent="0" algn="ctr" defTabSz="914400">
                        <a:lnSpc>
                          <a:spcPct val="100000"/>
                        </a:lnSpc>
                        <a:defRPr/>
                      </a:pPr>
                      <a:r>
                        <a:rPr lang="en-US" sz="1600" b="0" i="0" u="none" strike="noStrike" dirty="0" err="1">
                          <a:solidFill>
                            <a:srgbClr val="000000"/>
                          </a:solidFill>
                          <a:latin typeface="微软雅黑"/>
                          <a:ea typeface="微软雅黑"/>
                          <a:cs typeface="微软雅黑"/>
                          <a:sym typeface="微软雅黑"/>
                        </a:rPr>
                        <a:t>测试集标签错误普遍存在：现有数据集多存在漏标、标签混淆和包围框尺度不一致</a:t>
                      </a:r>
                      <a:r>
                        <a:rPr lang="en-US" sz="1600" b="0" i="0" u="none" strike="noStrike" dirty="0">
                          <a:solidFill>
                            <a:srgbClr val="000000"/>
                          </a:solidFill>
                          <a:latin typeface="微软雅黑"/>
                          <a:ea typeface="微软雅黑"/>
                          <a:cs typeface="微软雅黑"/>
                          <a:sym typeface="微软雅黑"/>
                        </a:rPr>
                        <a:t>。</a:t>
                      </a:r>
                      <a:endParaRPr lang="en-US" sz="1100" dirty="0"/>
                    </a:p>
                    <a:p>
                      <a:pPr marL="0" indent="0" algn="ctr" defTabSz="914400">
                        <a:lnSpc>
                          <a:spcPct val="100000"/>
                        </a:lnSpc>
                      </a:pPr>
                      <a:endParaRPr sz="1600" dirty="0"/>
                    </a:p>
                    <a:p>
                      <a:pPr marL="0" indent="0" algn="ctr" defTabSz="914400">
                        <a:lnSpc>
                          <a:spcPct val="100000"/>
                        </a:lnSpc>
                      </a:pPr>
                      <a:r>
                        <a:rPr lang="en-US" sz="1400" b="0" i="0" u="none" strike="noStrike" dirty="0">
                          <a:solidFill>
                            <a:srgbClr val="000000"/>
                          </a:solidFill>
                          <a:latin typeface="Arial"/>
                          <a:ea typeface="Arial"/>
                          <a:cs typeface="Arial"/>
                          <a:sym typeface="Arial"/>
                        </a:rPr>
                        <a:t> </a:t>
                      </a:r>
                    </a:p>
                  </a:txBody>
                  <a:tcPr marT="45352" marB="453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alpha val="100000"/>
                      </a:srgbClr>
                    </a:solidFill>
                  </a:tcPr>
                </a:tc>
                <a:tc>
                  <a:txBody>
                    <a:bodyPr/>
                    <a:lstStyle/>
                    <a:p>
                      <a:pPr marL="0" marR="0" indent="0" algn="l" defTabSz="914400" rtl="0">
                        <a:lnSpc>
                          <a:spcPct val="100000"/>
                        </a:lnSpc>
                        <a:spcBef>
                          <a:spcPts val="0"/>
                        </a:spcBef>
                        <a:spcAft>
                          <a:spcPts val="0"/>
                        </a:spcAft>
                        <a:buClr>
                          <a:srgbClr val="000000"/>
                        </a:buClr>
                        <a:buFont typeface="Arial"/>
                        <a:defRPr/>
                      </a:pPr>
                      <a:r>
                        <a:rPr lang="zh-CN" altLang="en-US" sz="1600" b="1" i="0" u="none" strike="noStrike" cap="none" dirty="0">
                          <a:solidFill>
                            <a:srgbClr val="000000"/>
                          </a:solidFill>
                          <a:latin typeface="微软雅黑"/>
                          <a:ea typeface="微软雅黑"/>
                          <a:sym typeface="Arial"/>
                        </a:rPr>
                        <a:t>标签错误会干扰模型学习与基准评估</a:t>
                      </a:r>
                    </a:p>
                    <a:p>
                      <a:pPr marL="0" indent="0" algn="l">
                        <a:lnSpc>
                          <a:spcPct val="100000"/>
                        </a:lnSpc>
                        <a:defRPr/>
                      </a:pP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alpha val="100000"/>
                      </a:srgbClr>
                    </a:solidFill>
                  </a:tcPr>
                </a:tc>
                <a:extLst>
                  <a:ext uri="{0D108BD9-81ED-4DB2-BD59-A6C34878D82A}">
                    <a16:rowId xmlns:a16="http://schemas.microsoft.com/office/drawing/2014/main" val="10002"/>
                  </a:ext>
                </a:extLst>
              </a:tr>
              <a:tr h="957982">
                <a:tc rowSpan="3">
                  <a:txBody>
                    <a:bodyPr/>
                    <a:lstStyle/>
                    <a:p>
                      <a:pPr marL="0" indent="0" algn="ctr" defTabSz="914400">
                        <a:lnSpc>
                          <a:spcPct val="100000"/>
                        </a:lnSpc>
                        <a:defRPr/>
                      </a:pPr>
                      <a:r>
                        <a:rPr lang="en-US" sz="1800" b="0" i="0" u="none" strike="noStrike">
                          <a:solidFill>
                            <a:srgbClr val="000000"/>
                          </a:solidFill>
                          <a:latin typeface="微软雅黑"/>
                          <a:ea typeface="微软雅黑"/>
                          <a:cs typeface="微软雅黑"/>
                          <a:sym typeface="微软雅黑"/>
                        </a:rPr>
                        <a:t>边界质量与下游效用</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ctr" defTabSz="914400">
                        <a:lnSpc>
                          <a:spcPct val="100000"/>
                        </a:lnSpc>
                        <a:defRPr/>
                      </a:pPr>
                      <a:r>
                        <a:rPr lang="en-US" sz="1600" b="0" i="0" u="none" strike="noStrike">
                          <a:solidFill>
                            <a:srgbClr val="000000"/>
                          </a:solidFill>
                          <a:latin typeface="微软雅黑"/>
                          <a:ea typeface="微软雅黑"/>
                          <a:cs typeface="微软雅黑"/>
                          <a:sym typeface="微软雅黑"/>
                        </a:rPr>
                        <a:t>Cheng 等</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ctr" defTabSz="914400">
                        <a:lnSpc>
                          <a:spcPct val="100000"/>
                        </a:lnSpc>
                        <a:defRPr/>
                      </a:pPr>
                      <a:r>
                        <a:rPr lang="en-US" sz="1600" b="0" i="0" u="none" strike="noStrike">
                          <a:solidFill>
                            <a:srgbClr val="000000"/>
                          </a:solidFill>
                          <a:latin typeface="微软雅黑"/>
                          <a:ea typeface="微软雅黑"/>
                          <a:cs typeface="微软雅黑"/>
                          <a:sym typeface="微软雅黑"/>
                        </a:rPr>
                        <a:t>2021</a:t>
                      </a:r>
                      <a:endParaRPr lang="en-US"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ctr" defTabSz="914400">
                        <a:lnSpc>
                          <a:spcPct val="100000"/>
                        </a:lnSpc>
                        <a:defRPr/>
                      </a:pPr>
                      <a:r>
                        <a:rPr lang="en-US" sz="1600" b="0" i="0" u="none" strike="noStrike" dirty="0">
                          <a:solidFill>
                            <a:srgbClr val="000000"/>
                          </a:solidFill>
                          <a:latin typeface="微软雅黑"/>
                          <a:ea typeface="微软雅黑"/>
                          <a:cs typeface="微软雅黑"/>
                          <a:sym typeface="微软雅黑"/>
                        </a:rPr>
                        <a:t>Boundary </a:t>
                      </a:r>
                      <a:r>
                        <a:rPr lang="en-US" sz="1600" b="0" i="0" u="none" strike="noStrike" dirty="0" err="1">
                          <a:solidFill>
                            <a:srgbClr val="000000"/>
                          </a:solidFill>
                          <a:latin typeface="微软雅黑"/>
                          <a:ea typeface="微软雅黑"/>
                          <a:cs typeface="微软雅黑"/>
                          <a:sym typeface="微软雅黑"/>
                        </a:rPr>
                        <a:t>IoU：改进以对象为中心的图像分割评价</a:t>
                      </a:r>
                      <a:r>
                        <a:rPr lang="en-US" sz="1600" b="0" i="0" u="none" strike="noStrike" dirty="0">
                          <a:solidFill>
                            <a:srgbClr val="000000"/>
                          </a:solidFill>
                          <a:latin typeface="微软雅黑"/>
                          <a:ea typeface="微软雅黑"/>
                          <a:cs typeface="微软雅黑"/>
                          <a:sym typeface="微软雅黑"/>
                        </a:rPr>
                        <a:t>。</a:t>
                      </a:r>
                      <a:endParaRPr lang="en-US" sz="1100" dirty="0"/>
                    </a:p>
                    <a:p>
                      <a:pPr marL="0" indent="0" algn="ctr" defTabSz="914400">
                        <a:lnSpc>
                          <a:spcPct val="100000"/>
                        </a:lnSpc>
                      </a:pPr>
                      <a:r>
                        <a:rPr lang="en-US" sz="1400" b="0" i="0" u="none" strike="noStrike" dirty="0">
                          <a:solidFill>
                            <a:srgbClr val="000000"/>
                          </a:solidFill>
                          <a:latin typeface="Arial"/>
                          <a:ea typeface="Arial"/>
                          <a:cs typeface="Arial"/>
                          <a:sym typeface="Arial"/>
                        </a:rPr>
                        <a:t> </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a:lnSpc>
                          <a:spcPct val="100000"/>
                        </a:lnSpc>
                        <a:defRPr/>
                      </a:pPr>
                      <a:r>
                        <a:rPr lang="zh-CN" altLang="en-US" sz="1600" b="1" i="0" u="none" strike="noStrike" dirty="0">
                          <a:solidFill>
                            <a:srgbClr val="000000"/>
                          </a:solidFill>
                          <a:latin typeface="Microsoft YaHei" panose="020B0503020204020204" pitchFamily="34" charset="-122"/>
                          <a:ea typeface="Microsoft YaHei" panose="020B0503020204020204" pitchFamily="34" charset="-122"/>
                          <a:cs typeface="Arial"/>
                          <a:sym typeface="Arial"/>
                        </a:rPr>
                        <a:t>传统区域重叠指标不能完全刻画边界质量</a:t>
                      </a:r>
                      <a:endParaRPr lang="en-US" altLang="zh-CN" sz="1600" b="1" i="0" u="none" strike="noStrike" dirty="0">
                        <a:solidFill>
                          <a:srgbClr val="000000"/>
                        </a:solidFill>
                        <a:latin typeface="Microsoft YaHei" panose="020B0503020204020204" pitchFamily="34" charset="-122"/>
                        <a:ea typeface="Microsoft YaHei" panose="020B0503020204020204" pitchFamily="34" charset="-122"/>
                        <a:cs typeface="Arial"/>
                        <a:sym typeface="Arial"/>
                      </a:endParaRPr>
                    </a:p>
                    <a:p>
                      <a:pPr marL="0" indent="0" algn="l">
                        <a:lnSpc>
                          <a:spcPct val="100000"/>
                        </a:lnSpc>
                        <a:defRPr/>
                      </a:pPr>
                      <a:endParaRPr lang="en-US" altLang="zh-CN" sz="1600" b="1" i="0" u="none" strike="noStrike" dirty="0">
                        <a:solidFill>
                          <a:srgbClr val="000000"/>
                        </a:solidFill>
                        <a:latin typeface="Microsoft YaHei" panose="020B0503020204020204" pitchFamily="34" charset="-122"/>
                        <a:ea typeface="Microsoft YaHei" panose="020B0503020204020204" pitchFamily="34" charset="-122"/>
                        <a:cs typeface="Arial"/>
                        <a:sym typeface="Arial"/>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extLst>
                  <a:ext uri="{0D108BD9-81ED-4DB2-BD59-A6C34878D82A}">
                    <a16:rowId xmlns:a16="http://schemas.microsoft.com/office/drawing/2014/main" val="10003"/>
                  </a:ext>
                </a:extLst>
              </a:tr>
              <a:tr h="705942">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ctr" defTabSz="914400">
                        <a:lnSpc>
                          <a:spcPct val="100000"/>
                        </a:lnSpc>
                        <a:defRPr/>
                      </a:pPr>
                      <a:r>
                        <a:rPr lang="en-US" sz="1600" b="0" i="0" u="none" strike="noStrike">
                          <a:solidFill>
                            <a:srgbClr val="000000"/>
                          </a:solidFill>
                          <a:latin typeface="微软雅黑"/>
                          <a:ea typeface="微软雅黑"/>
                          <a:cs typeface="微软雅黑"/>
                          <a:sym typeface="微软雅黑"/>
                        </a:rPr>
                        <a:t>Dinh 等</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ctr" defTabSz="914400">
                        <a:lnSpc>
                          <a:spcPct val="100000"/>
                        </a:lnSpc>
                        <a:defRPr/>
                      </a:pPr>
                      <a:r>
                        <a:rPr lang="en-US" sz="1600" b="0" i="0" u="none" strike="noStrike">
                          <a:solidFill>
                            <a:srgbClr val="000000"/>
                          </a:solidFill>
                          <a:latin typeface="微软雅黑"/>
                          <a:ea typeface="微软雅黑"/>
                          <a:cs typeface="微软雅黑"/>
                          <a:sym typeface="微软雅黑"/>
                        </a:rPr>
                        <a:t>2026</a:t>
                      </a:r>
                      <a:endParaRPr lang="en-US"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ctr" defTabSz="914400">
                        <a:lnSpc>
                          <a:spcPct val="100000"/>
                        </a:lnSpc>
                        <a:defRPr/>
                      </a:pPr>
                      <a:r>
                        <a:rPr lang="en-US" sz="1600" b="0" i="0" u="none" strike="noStrike" dirty="0" err="1">
                          <a:solidFill>
                            <a:srgbClr val="000000"/>
                          </a:solidFill>
                          <a:latin typeface="微软雅黑"/>
                          <a:ea typeface="微软雅黑"/>
                          <a:cs typeface="微软雅黑"/>
                          <a:sym typeface="微软雅黑"/>
                        </a:rPr>
                        <a:t>多尺度</a:t>
                      </a:r>
                      <a:r>
                        <a:rPr lang="en-US" sz="1600" b="0" i="0" u="none" strike="noStrike" dirty="0">
                          <a:solidFill>
                            <a:srgbClr val="000000"/>
                          </a:solidFill>
                          <a:latin typeface="微软雅黑"/>
                          <a:ea typeface="微软雅黑"/>
                          <a:cs typeface="微软雅黑"/>
                          <a:sym typeface="微软雅黑"/>
                        </a:rPr>
                        <a:t> tiling </a:t>
                      </a:r>
                      <a:r>
                        <a:rPr lang="en-US" sz="1600" b="0" i="0" u="none" strike="noStrike" dirty="0" err="1">
                          <a:solidFill>
                            <a:srgbClr val="000000"/>
                          </a:solidFill>
                          <a:latin typeface="微软雅黑"/>
                          <a:ea typeface="微软雅黑"/>
                          <a:cs typeface="微软雅黑"/>
                          <a:sym typeface="微软雅黑"/>
                        </a:rPr>
                        <a:t>伪标签用于密集场景目标检测</a:t>
                      </a:r>
                      <a:r>
                        <a:rPr lang="en-US" sz="1600" b="0" i="0" u="none" strike="noStrike" dirty="0">
                          <a:solidFill>
                            <a:srgbClr val="000000"/>
                          </a:solidFill>
                          <a:latin typeface="微软雅黑"/>
                          <a:ea typeface="微软雅黑"/>
                          <a:cs typeface="微软雅黑"/>
                          <a:sym typeface="微软雅黑"/>
                        </a:rPr>
                        <a:t>。</a:t>
                      </a:r>
                      <a:endParaRPr lang="en-US" sz="1100" dirty="0"/>
                    </a:p>
                    <a:p>
                      <a:pPr marL="0" indent="0" algn="ctr" defTabSz="914400">
                        <a:lnSpc>
                          <a:spcPct val="100000"/>
                        </a:lnSpc>
                      </a:pPr>
                      <a:r>
                        <a:rPr lang="en-US" sz="1400" b="0" i="0" u="none" strike="noStrike" dirty="0">
                          <a:solidFill>
                            <a:srgbClr val="000000"/>
                          </a:solidFill>
                          <a:latin typeface="Arial"/>
                          <a:ea typeface="Arial"/>
                          <a:cs typeface="Arial"/>
                          <a:sym typeface="Arial"/>
                        </a:rPr>
                        <a:t> </a:t>
                      </a:r>
                    </a:p>
                  </a:txBody>
                  <a:tcPr marT="42545" marB="4254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zh-CN" altLang="en-US" sz="1600" b="1" i="0" u="none" strike="noStrike" kern="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伪标签评估应挂钩下游实际学习效应</a:t>
                      </a:r>
                      <a:endParaRPr kumimoji="0" lang="en-US" altLang="zh-CN" sz="1600" b="1" i="0" u="none" strike="noStrike" kern="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endParaRPr>
                    </a:p>
                    <a:p>
                      <a:pPr marL="0" indent="0" algn="l">
                        <a:lnSpc>
                          <a:spcPct val="100000"/>
                        </a:lnSpc>
                        <a:defRPr/>
                      </a:pP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extLst>
                  <a:ext uri="{0D108BD9-81ED-4DB2-BD59-A6C34878D82A}">
                    <a16:rowId xmlns:a16="http://schemas.microsoft.com/office/drawing/2014/main" val="10004"/>
                  </a:ext>
                </a:extLst>
              </a:tr>
              <a:tr h="1382536">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ctr" defTabSz="914400">
                        <a:lnSpc>
                          <a:spcPct val="100000"/>
                        </a:lnSpc>
                        <a:defRPr/>
                      </a:pPr>
                      <a:r>
                        <a:rPr lang="en-US" sz="1600" b="0" i="0" u="none" strike="noStrike">
                          <a:solidFill>
                            <a:srgbClr val="000000"/>
                          </a:solidFill>
                          <a:latin typeface="微软雅黑"/>
                          <a:ea typeface="微软雅黑"/>
                          <a:cs typeface="微软雅黑"/>
                          <a:sym typeface="微软雅黑"/>
                        </a:rPr>
                        <a:t>Xin 等</a:t>
                      </a:r>
                      <a:endParaRPr lang="en-US" sz="110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ctr" defTabSz="914400">
                        <a:lnSpc>
                          <a:spcPct val="100000"/>
                        </a:lnSpc>
                        <a:defRPr/>
                      </a:pPr>
                      <a:r>
                        <a:rPr lang="en-US" sz="1600" b="0" i="0" u="none" strike="noStrike">
                          <a:solidFill>
                            <a:srgbClr val="000000"/>
                          </a:solidFill>
                          <a:latin typeface="微软雅黑"/>
                          <a:ea typeface="微软雅黑"/>
                          <a:cs typeface="微软雅黑"/>
                          <a:sym typeface="微软雅黑"/>
                        </a:rPr>
                        <a:t>2024</a:t>
                      </a:r>
                      <a:endParaRPr lang="en-US" sz="1100"/>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ctr" defTabSz="914400">
                        <a:lnSpc>
                          <a:spcPct val="100000"/>
                        </a:lnSpc>
                        <a:defRPr/>
                      </a:pPr>
                      <a:r>
                        <a:rPr lang="en-US" sz="1600" b="0" i="0" u="none" strike="noStrike" dirty="0" err="1">
                          <a:solidFill>
                            <a:srgbClr val="000000"/>
                          </a:solidFill>
                          <a:latin typeface="微软雅黑"/>
                          <a:ea typeface="微软雅黑"/>
                          <a:cs typeface="微软雅黑"/>
                          <a:sym typeface="微软雅黑"/>
                        </a:rPr>
                        <a:t>DART：端到端自动检测标注与模型训练管线</a:t>
                      </a:r>
                      <a:r>
                        <a:rPr lang="en-US" sz="1600" b="0" i="0" u="none" strike="noStrike" dirty="0">
                          <a:solidFill>
                            <a:srgbClr val="000000"/>
                          </a:solidFill>
                          <a:latin typeface="微软雅黑"/>
                          <a:ea typeface="微软雅黑"/>
                          <a:cs typeface="微软雅黑"/>
                          <a:sym typeface="微软雅黑"/>
                        </a:rPr>
                        <a:t>。</a:t>
                      </a:r>
                      <a:endParaRPr lang="en-US" sz="1100" dirty="0"/>
                    </a:p>
                    <a:p>
                      <a:pPr marL="0" indent="0" algn="ctr" defTabSz="914400">
                        <a:lnSpc>
                          <a:spcPct val="100000"/>
                        </a:lnSpc>
                      </a:pPr>
                      <a:r>
                        <a:rPr lang="en-US" sz="1400" b="0" i="0" u="none" strike="noStrike" dirty="0">
                          <a:solidFill>
                            <a:srgbClr val="000000"/>
                          </a:solidFill>
                          <a:latin typeface="Arial"/>
                          <a:ea typeface="Arial"/>
                          <a:cs typeface="Arial"/>
                          <a:sym typeface="Arial"/>
                        </a:rPr>
                        <a:t> </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a:lnSpc>
                          <a:spcPct val="100000"/>
                        </a:lnSpc>
                        <a:defRPr/>
                      </a:pPr>
                      <a:r>
                        <a:rPr kumimoji="0" lang="zh-CN" altLang="zh-CN"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整合数据扩增、开放词汇目标框生成、伪标签审核和模型训练，实现无需人工参与的端到端全自动标注</a:t>
                      </a:r>
                      <a:r>
                        <a:rPr kumimoji="0" lang="zh-CN" altLang="en-US"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a:t>
                      </a:r>
                      <a:r>
                        <a:rPr kumimoji="0" lang="en-US" altLang="zh-CN"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 </a:t>
                      </a:r>
                      <a:r>
                        <a:rPr kumimoji="0" lang="zh-CN" altLang="en-US"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证明了 </a:t>
                      </a:r>
                      <a:r>
                        <a:rPr kumimoji="0" lang="en-US" altLang="zh-CN"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a:t>
                      </a:r>
                      <a:r>
                        <a:rPr kumimoji="0" lang="zh-CN" altLang="en-US"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开放词汇打框 </a:t>
                      </a:r>
                      <a:r>
                        <a:rPr kumimoji="0" lang="en-US" altLang="zh-CN"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 </a:t>
                      </a:r>
                      <a:r>
                        <a:rPr kumimoji="0" lang="zh-CN" altLang="en-US"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大模型审核 </a:t>
                      </a:r>
                      <a:r>
                        <a:rPr kumimoji="0" lang="en-US" altLang="zh-CN"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 </a:t>
                      </a:r>
                      <a:r>
                        <a:rPr kumimoji="0" lang="zh-CN" altLang="en-US"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训练 </a:t>
                      </a:r>
                      <a:r>
                        <a:rPr kumimoji="0" lang="en-US" altLang="zh-CN"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YOLO" </a:t>
                      </a:r>
                      <a:r>
                        <a:rPr kumimoji="0" lang="zh-CN" altLang="en-US"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的全自动管线在刚性工业目标上的可行性</a:t>
                      </a:r>
                      <a:endParaRPr kumimoji="0" lang="en-US"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Freeform 2"/>
          <p:cNvSpPr/>
          <p:nvPr/>
        </p:nvSpPr>
        <p:spPr>
          <a:xfrm>
            <a:off x="0" y="0"/>
            <a:ext cx="6096000" cy="683895"/>
          </a:xfrm>
          <a:custGeom>
            <a:avLst/>
            <a:gdLst/>
            <a:ahLst/>
            <a:cxnLst/>
            <a:rect l="l" t="t" r="r" b="b"/>
            <a:pathLst>
              <a:path w="4942840" h="749935">
                <a:moveTo>
                  <a:pt x="532293" y="0"/>
                </a:moveTo>
                <a:lnTo>
                  <a:pt x="532300" y="0"/>
                </a:lnTo>
                <a:lnTo>
                  <a:pt x="4387968" y="0"/>
                </a:lnTo>
                <a:lnTo>
                  <a:pt x="4387968" y="1604"/>
                </a:lnTo>
                <a:lnTo>
                  <a:pt x="4410547" y="0"/>
                </a:lnTo>
                <a:cubicBezTo>
                  <a:pt x="4704524" y="0"/>
                  <a:pt x="4942840" y="167879"/>
                  <a:pt x="4942840" y="374968"/>
                </a:cubicBezTo>
                <a:cubicBezTo>
                  <a:pt x="4942840" y="582056"/>
                  <a:pt x="4704524" y="749935"/>
                  <a:pt x="4410547" y="749935"/>
                </a:cubicBezTo>
                <a:lnTo>
                  <a:pt x="4387968" y="748332"/>
                </a:lnTo>
                <a:lnTo>
                  <a:pt x="4387968" y="749935"/>
                </a:lnTo>
                <a:lnTo>
                  <a:pt x="532293" y="749935"/>
                </a:lnTo>
                <a:cubicBezTo>
                  <a:pt x="238316" y="749935"/>
                  <a:pt x="0" y="582056"/>
                  <a:pt x="0" y="374968"/>
                </a:cubicBezTo>
                <a:cubicBezTo>
                  <a:pt x="0" y="167879"/>
                  <a:pt x="238316" y="0"/>
                  <a:pt x="532293"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3" name="Picture 3"/>
          <p:cNvPicPr>
            <a:picLocks noChangeAspect="1"/>
          </p:cNvPicPr>
          <p:nvPr/>
        </p:nvPicPr>
        <p:blipFill>
          <a:blip r:embed="rId4"/>
          <a:srcRect/>
          <a:stretch>
            <a:fillRect/>
          </a:stretch>
        </p:blipFill>
        <p:spPr>
          <a:xfrm>
            <a:off x="163195" y="66040"/>
            <a:ext cx="617855" cy="617855"/>
          </a:xfrm>
          <a:prstGeom prst="rect">
            <a:avLst/>
          </a:prstGeom>
          <a:noFill/>
          <a:ln w="25400" cap="flat" cmpd="sng">
            <a:noFill/>
            <a:prstDash val="solid"/>
            <a:round/>
          </a:ln>
        </p:spPr>
      </p:pic>
      <p:sp>
        <p:nvSpPr>
          <p:cNvPr id="4" name="AutoShape 4"/>
          <p:cNvSpPr/>
          <p:nvPr/>
        </p:nvSpPr>
        <p:spPr>
          <a:xfrm>
            <a:off x="779780" y="144780"/>
            <a:ext cx="4049395" cy="460375"/>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just" defTabSz="914400">
              <a:lnSpc>
                <a:spcPct val="100000"/>
              </a:lnSpc>
              <a:defRPr/>
            </a:pPr>
            <a:r>
              <a:rPr lang="en-US" sz="2400" b="1" i="0" u="none" strike="noStrike" dirty="0">
                <a:solidFill>
                  <a:srgbClr val="FFFFFF"/>
                </a:solidFill>
                <a:latin typeface="微软雅黑"/>
                <a:ea typeface="微软雅黑"/>
                <a:cs typeface="微软雅黑"/>
                <a:sym typeface="微软雅黑"/>
              </a:rPr>
              <a:t>2.4 </a:t>
            </a:r>
            <a:r>
              <a:rPr lang="en-US" sz="2400" b="1" i="0" u="none" strike="noStrike" dirty="0" err="1">
                <a:solidFill>
                  <a:srgbClr val="FFFFFF"/>
                </a:solidFill>
                <a:latin typeface="微软雅黑"/>
                <a:ea typeface="微软雅黑"/>
                <a:cs typeface="微软雅黑"/>
                <a:sym typeface="微软雅黑"/>
              </a:rPr>
              <a:t>半监督</a:t>
            </a:r>
            <a:r>
              <a:rPr lang="zh-CN" altLang="en-US" sz="2400" b="1" i="0" u="none" strike="noStrike" dirty="0">
                <a:solidFill>
                  <a:srgbClr val="FFFFFF"/>
                </a:solidFill>
                <a:latin typeface="微软雅黑"/>
                <a:ea typeface="微软雅黑"/>
                <a:cs typeface="微软雅黑"/>
                <a:sym typeface="微软雅黑"/>
              </a:rPr>
              <a:t>弱监督</a:t>
            </a:r>
            <a:r>
              <a:rPr lang="en-US" sz="2400" b="1" i="0" u="none" strike="noStrike" dirty="0" err="1">
                <a:solidFill>
                  <a:srgbClr val="FFFFFF"/>
                </a:solidFill>
                <a:latin typeface="微软雅黑"/>
                <a:ea typeface="微软雅黑"/>
                <a:cs typeface="微软雅黑"/>
                <a:sym typeface="微软雅黑"/>
              </a:rPr>
              <a:t>与主动学习辅助标注</a:t>
            </a:r>
            <a:endParaRPr lang="en-US" sz="1100" dirty="0"/>
          </a:p>
        </p:txBody>
      </p:sp>
      <p:graphicFrame>
        <p:nvGraphicFramePr>
          <p:cNvPr id="5" name="Table 5"/>
          <p:cNvGraphicFramePr>
            <a:graphicFrameLocks noGrp="1"/>
          </p:cNvGraphicFramePr>
          <p:nvPr>
            <p:extLst>
              <p:ext uri="{D42A27DB-BD31-4B8C-83A1-F6EECF244321}">
                <p14:modId xmlns:p14="http://schemas.microsoft.com/office/powerpoint/2010/main" val="2767690719"/>
              </p:ext>
            </p:extLst>
          </p:nvPr>
        </p:nvGraphicFramePr>
        <p:xfrm>
          <a:off x="163196" y="904240"/>
          <a:ext cx="11563749" cy="5440001"/>
        </p:xfrm>
        <a:graphic>
          <a:graphicData uri="http://schemas.openxmlformats.org/drawingml/2006/table">
            <a:tbl>
              <a:tblPr>
                <a:effectLst/>
              </a:tblPr>
              <a:tblGrid>
                <a:gridCol w="890189">
                  <a:extLst>
                    <a:ext uri="{9D8B030D-6E8A-4147-A177-3AD203B41FA5}">
                      <a16:colId xmlns:a16="http://schemas.microsoft.com/office/drawing/2014/main" val="20000"/>
                    </a:ext>
                  </a:extLst>
                </a:gridCol>
                <a:gridCol w="1727734">
                  <a:extLst>
                    <a:ext uri="{9D8B030D-6E8A-4147-A177-3AD203B41FA5}">
                      <a16:colId xmlns:a16="http://schemas.microsoft.com/office/drawing/2014/main" val="20001"/>
                    </a:ext>
                  </a:extLst>
                </a:gridCol>
                <a:gridCol w="895862">
                  <a:extLst>
                    <a:ext uri="{9D8B030D-6E8A-4147-A177-3AD203B41FA5}">
                      <a16:colId xmlns:a16="http://schemas.microsoft.com/office/drawing/2014/main" val="20002"/>
                    </a:ext>
                  </a:extLst>
                </a:gridCol>
                <a:gridCol w="2710814">
                  <a:extLst>
                    <a:ext uri="{9D8B030D-6E8A-4147-A177-3AD203B41FA5}">
                      <a16:colId xmlns:a16="http://schemas.microsoft.com/office/drawing/2014/main" val="20003"/>
                    </a:ext>
                  </a:extLst>
                </a:gridCol>
                <a:gridCol w="2669575">
                  <a:extLst>
                    <a:ext uri="{9D8B030D-6E8A-4147-A177-3AD203B41FA5}">
                      <a16:colId xmlns:a16="http://schemas.microsoft.com/office/drawing/2014/main" val="61684881"/>
                    </a:ext>
                  </a:extLst>
                </a:gridCol>
                <a:gridCol w="2669575">
                  <a:extLst>
                    <a:ext uri="{9D8B030D-6E8A-4147-A177-3AD203B41FA5}">
                      <a16:colId xmlns:a16="http://schemas.microsoft.com/office/drawing/2014/main" val="20004"/>
                    </a:ext>
                  </a:extLst>
                </a:gridCol>
              </a:tblGrid>
              <a:tr h="751285">
                <a:tc>
                  <a:txBody>
                    <a:bodyPr/>
                    <a:lstStyle/>
                    <a:p>
                      <a:pPr marL="0" indent="0" algn="ctr" defTabSz="914400">
                        <a:lnSpc>
                          <a:spcPct val="100000"/>
                        </a:lnSpc>
                        <a:defRPr/>
                      </a:pPr>
                      <a:r>
                        <a:rPr lang="en-US" sz="1800" b="1" i="0" u="none" strike="noStrike" dirty="0" err="1">
                          <a:solidFill>
                            <a:srgbClr val="FFFFFF"/>
                          </a:solidFill>
                          <a:latin typeface="微软雅黑"/>
                          <a:ea typeface="微软雅黑"/>
                          <a:cs typeface="微软雅黑"/>
                          <a:sym typeface="微软雅黑"/>
                        </a:rPr>
                        <a:t>类别</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dirty="0" err="1">
                          <a:solidFill>
                            <a:srgbClr val="FFFFFF"/>
                          </a:solidFill>
                          <a:latin typeface="微软雅黑"/>
                          <a:ea typeface="微软雅黑"/>
                          <a:cs typeface="微软雅黑"/>
                          <a:sym typeface="微软雅黑"/>
                        </a:rPr>
                        <a:t>作者</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年份</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方法</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gridSpan="2">
                  <a:txBody>
                    <a:bodyPr/>
                    <a:lstStyle/>
                    <a:p>
                      <a:pPr marL="0" indent="0" algn="ctr" defTabSz="914400">
                        <a:lnSpc>
                          <a:spcPct val="100000"/>
                        </a:lnSpc>
                        <a:defRPr/>
                      </a:pPr>
                      <a:r>
                        <a:rPr lang="en-US" sz="1800" b="1" i="0" u="none" strike="noStrike" dirty="0" err="1">
                          <a:solidFill>
                            <a:srgbClr val="FFFFFF"/>
                          </a:solidFill>
                          <a:latin typeface="微软雅黑"/>
                          <a:ea typeface="微软雅黑"/>
                          <a:sym typeface="微软雅黑"/>
                        </a:rPr>
                        <a:t>特点</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hMerge="1">
                  <a:txBody>
                    <a:bodyPr/>
                    <a:lstStyle/>
                    <a:p>
                      <a:endParaRPr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extLst>
                  <a:ext uri="{0D108BD9-81ED-4DB2-BD59-A6C34878D82A}">
                    <a16:rowId xmlns:a16="http://schemas.microsoft.com/office/drawing/2014/main" val="10000"/>
                  </a:ext>
                </a:extLst>
              </a:tr>
              <a:tr h="1438735">
                <a:tc rowSpan="5">
                  <a:txBody>
                    <a:bodyPr/>
                    <a:lstStyle/>
                    <a:p>
                      <a:pPr marL="0" indent="0" algn="ctr" defTabSz="914400">
                        <a:lnSpc>
                          <a:spcPct val="100000"/>
                        </a:lnSpc>
                        <a:defRPr/>
                      </a:pPr>
                      <a:r>
                        <a:rPr lang="zh-CN" altLang="en-US" sz="1600" b="0" i="0" u="none" strike="noStrike" dirty="0">
                          <a:solidFill>
                            <a:srgbClr val="000000"/>
                          </a:solidFill>
                          <a:latin typeface="微软雅黑"/>
                          <a:ea typeface="微软雅黑"/>
                          <a:cs typeface="微软雅黑"/>
                          <a:sym typeface="微软雅黑"/>
                        </a:rPr>
                        <a:t>弱监督</a:t>
                      </a:r>
                      <a:r>
                        <a:rPr lang="en-US" sz="1600" b="0" i="0" u="none" strike="noStrike" dirty="0">
                          <a:solidFill>
                            <a:srgbClr val="000000"/>
                          </a:solidFill>
                          <a:latin typeface="微软雅黑"/>
                          <a:ea typeface="微软雅黑"/>
                          <a:cs typeface="微软雅黑"/>
                          <a:sym typeface="微软雅黑"/>
                        </a:rPr>
                        <a:t>/</a:t>
                      </a:r>
                      <a:r>
                        <a:rPr lang="en-US" sz="1600" b="0" i="0" u="none" strike="noStrike" dirty="0" err="1">
                          <a:solidFill>
                            <a:srgbClr val="000000"/>
                          </a:solidFill>
                          <a:latin typeface="微软雅黑"/>
                          <a:ea typeface="微软雅黑"/>
                          <a:cs typeface="微软雅黑"/>
                          <a:sym typeface="微软雅黑"/>
                        </a:rPr>
                        <a:t>半监督</a:t>
                      </a:r>
                      <a:r>
                        <a:rPr lang="en-US" sz="1600" b="0" i="0" u="none" strike="noStrike" dirty="0">
                          <a:solidFill>
                            <a:srgbClr val="000000"/>
                          </a:solidFill>
                          <a:latin typeface="微软雅黑"/>
                          <a:ea typeface="微软雅黑"/>
                          <a:cs typeface="微软雅黑"/>
                          <a:sym typeface="微软雅黑"/>
                        </a:rPr>
                        <a:t>/</a:t>
                      </a:r>
                      <a:r>
                        <a:rPr lang="en-US" sz="1600" b="0" i="0" u="none" strike="noStrike" dirty="0" err="1">
                          <a:solidFill>
                            <a:srgbClr val="000000"/>
                          </a:solidFill>
                          <a:latin typeface="微软雅黑"/>
                          <a:ea typeface="微软雅黑"/>
                          <a:cs typeface="微软雅黑"/>
                          <a:sym typeface="微软雅黑"/>
                        </a:rPr>
                        <a:t>主动学习</a:t>
                      </a:r>
                      <a:endParaRPr lang="en-US" sz="1100" dirty="0"/>
                    </a:p>
                    <a:p>
                      <a:pPr algn="ctr" defTabSz="914400">
                        <a:lnSpc>
                          <a:spcPct val="100000"/>
                        </a:lnSpc>
                      </a:pPr>
                      <a:endParaRPr lang="en-US" sz="11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Burges 等</a:t>
                      </a:r>
                      <a:endParaRPr lang="en-US" sz="1100" dirty="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defTabSz="914400">
                        <a:lnSpc>
                          <a:spcPct val="100000"/>
                        </a:lnSpc>
                        <a:defRPr/>
                      </a:pPr>
                      <a:r>
                        <a:rPr lang="en-US" sz="1600" b="0" i="0" u="none" strike="noStrike">
                          <a:solidFill>
                            <a:srgbClr val="000000"/>
                          </a:solidFill>
                          <a:latin typeface="微软雅黑"/>
                          <a:ea typeface="微软雅黑"/>
                          <a:cs typeface="微软雅黑"/>
                          <a:sym typeface="微软雅黑"/>
                        </a:rPr>
                        <a:t>2025</a:t>
                      </a:r>
                      <a:endParaRPr lang="en-US" sz="1100"/>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defTabSz="914400">
                        <a:lnSpc>
                          <a:spcPct val="100000"/>
                        </a:lnSpc>
                        <a:defRPr/>
                      </a:pPr>
                      <a:r>
                        <a:rPr lang="en-US" sz="1600" b="0" i="0" u="none" strike="noStrike" dirty="0" err="1">
                          <a:solidFill>
                            <a:srgbClr val="0D0D0D"/>
                          </a:solidFill>
                          <a:latin typeface="微软雅黑"/>
                          <a:ea typeface="微软雅黑"/>
                          <a:cs typeface="微软雅黑"/>
                          <a:sym typeface="微软雅黑"/>
                        </a:rPr>
                        <a:t>主动学习结合基础模型，</a:t>
                      </a:r>
                      <a:r>
                        <a:rPr lang="en-US" sz="1600" b="0" i="0" u="none" strike="noStrike" dirty="0" err="1">
                          <a:solidFill>
                            <a:srgbClr val="000000"/>
                          </a:solidFill>
                          <a:latin typeface="微软雅黑"/>
                          <a:ea typeface="微软雅黑"/>
                          <a:cs typeface="微软雅黑"/>
                          <a:sym typeface="微软雅黑"/>
                        </a:rPr>
                        <a:t>面向遥感目标检测的快速数据标注</a:t>
                      </a:r>
                      <a:r>
                        <a:rPr lang="en-US" sz="1600" b="0" i="0" u="none" strike="noStrike" dirty="0">
                          <a:solidFill>
                            <a:srgbClr val="000000"/>
                          </a:solidFill>
                          <a:latin typeface="微软雅黑"/>
                          <a:ea typeface="微软雅黑"/>
                          <a:cs typeface="微软雅黑"/>
                          <a:sym typeface="微软雅黑"/>
                        </a:rPr>
                        <a:t>。</a:t>
                      </a:r>
                      <a:endParaRPr lang="en-US" sz="1100" dirty="0"/>
                    </a:p>
                    <a:p>
                      <a:pPr algn="l" defTabSz="914400">
                        <a:lnSpc>
                          <a:spcPct val="100000"/>
                        </a:lnSpc>
                      </a:pPr>
                      <a:endParaRPr lang="en-US" sz="1100" dirty="0"/>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algn="l" defTabSz="914400">
                        <a:lnSpc>
                          <a:spcPct val="100000"/>
                        </a:lnSpc>
                      </a:pPr>
                      <a:r>
                        <a:rPr lang="zh-CN" altLang="en-US" sz="1600" b="0" i="0" u="none" strike="noStrike" cap="none" dirty="0">
                          <a:solidFill>
                            <a:srgbClr val="000000"/>
                          </a:solidFill>
                          <a:latin typeface="微软雅黑"/>
                          <a:ea typeface="微软雅黑"/>
                          <a:sym typeface="Arial"/>
                        </a:rPr>
                        <a:t>减少人工标注量</a:t>
                      </a:r>
                      <a:endParaRPr lang="en-US" sz="1600" b="0" i="0" u="none" strike="noStrike" cap="none" dirty="0">
                        <a:solidFill>
                          <a:srgbClr val="000000"/>
                        </a:solidFill>
                        <a:latin typeface="微软雅黑"/>
                        <a:ea typeface="微软雅黑"/>
                        <a:sym typeface="Arial"/>
                      </a:endParaRPr>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rowSpan="5">
                  <a:txBody>
                    <a:bodyPr/>
                    <a:lstStyle/>
                    <a:p>
                      <a:pPr marL="0" indent="0" algn="ctr" defTabSz="914400">
                        <a:lnSpc>
                          <a:spcPct val="100000"/>
                        </a:lnSpc>
                        <a:defRPr/>
                      </a:pPr>
                      <a:r>
                        <a:rPr lang="en-US" sz="1600" b="0" i="0" u="none" strike="noStrike" dirty="0" err="1">
                          <a:solidFill>
                            <a:srgbClr val="000000"/>
                          </a:solidFill>
                          <a:latin typeface="微软雅黑"/>
                          <a:ea typeface="微软雅黑"/>
                          <a:cs typeface="微软雅黑"/>
                          <a:sym typeface="微软雅黑"/>
                        </a:rPr>
                        <a:t>基础模型辅助标注可减少人工标注量</a:t>
                      </a:r>
                      <a:r>
                        <a:rPr lang="en-US" sz="1600" b="0" i="0" u="none" strike="noStrike" dirty="0">
                          <a:solidFill>
                            <a:srgbClr val="000000"/>
                          </a:solidFill>
                          <a:latin typeface="微软雅黑"/>
                          <a:ea typeface="微软雅黑"/>
                          <a:cs typeface="微软雅黑"/>
                          <a:sym typeface="微软雅黑"/>
                        </a:rPr>
                        <a:t>，</a:t>
                      </a:r>
                      <a:r>
                        <a:rPr lang="zh-CN" altLang="en-US" sz="1600" b="0" i="0" u="none" strike="noStrike" dirty="0">
                          <a:solidFill>
                            <a:srgbClr val="000000"/>
                          </a:solidFill>
                          <a:latin typeface="微软雅黑"/>
                          <a:ea typeface="微软雅黑"/>
                          <a:cs typeface="微软雅黑"/>
                          <a:sym typeface="微软雅黑"/>
                        </a:rPr>
                        <a:t>基础模型能力拆分使用。</a:t>
                      </a:r>
                      <a:r>
                        <a:rPr lang="en-US" sz="1600" b="1" i="0" u="none" strike="noStrike" dirty="0" err="1">
                          <a:solidFill>
                            <a:srgbClr val="C00000"/>
                          </a:solidFill>
                          <a:latin typeface="微软雅黑"/>
                          <a:ea typeface="微软雅黑"/>
                          <a:cs typeface="微软雅黑"/>
                          <a:sym typeface="微软雅黑"/>
                        </a:rPr>
                        <a:t>但较少从系统工程角度讨论不同数据规模下标注范式的动态选择</a:t>
                      </a:r>
                      <a:r>
                        <a:rPr lang="en-US" sz="1600" b="1" i="0" u="none" strike="noStrike" dirty="0">
                          <a:solidFill>
                            <a:srgbClr val="C00000"/>
                          </a:solidFill>
                          <a:latin typeface="微软雅黑"/>
                          <a:ea typeface="微软雅黑"/>
                          <a:cs typeface="微软雅黑"/>
                          <a:sym typeface="微软雅黑"/>
                        </a:rPr>
                        <a:t>。</a:t>
                      </a:r>
                      <a:endParaRPr lang="en-US" sz="1100" dirty="0"/>
                    </a:p>
                    <a:p>
                      <a:pPr marL="0" indent="0" algn="ctr" defTabSz="914400">
                        <a:lnSpc>
                          <a:spcPct val="100000"/>
                        </a:lnSpc>
                      </a:pPr>
                      <a:endParaRPr lang="en-US" sz="1100" dirty="0"/>
                    </a:p>
                    <a:p>
                      <a:pPr algn="ctr" defTabSz="914400">
                        <a:lnSpc>
                          <a:spcPct val="100000"/>
                        </a:lnSpc>
                      </a:pPr>
                      <a:endParaRPr lang="en-US" sz="1100" dirty="0"/>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extLst>
                  <a:ext uri="{0D108BD9-81ED-4DB2-BD59-A6C34878D82A}">
                    <a16:rowId xmlns:a16="http://schemas.microsoft.com/office/drawing/2014/main" val="10001"/>
                  </a:ext>
                </a:extLst>
              </a:tr>
              <a:tr h="762863">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Zhang 等</a:t>
                      </a:r>
                      <a:endParaRPr lang="en-US" sz="1100" dirty="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defTabSz="914400">
                        <a:lnSpc>
                          <a:spcPct val="100000"/>
                        </a:lnSpc>
                        <a:defRPr/>
                      </a:pPr>
                      <a:r>
                        <a:rPr lang="en-US" sz="1600" b="0" i="0" u="none" strike="noStrike">
                          <a:solidFill>
                            <a:srgbClr val="000000"/>
                          </a:solidFill>
                          <a:latin typeface="微软雅黑"/>
                          <a:ea typeface="微软雅黑"/>
                          <a:cs typeface="微软雅黑"/>
                          <a:sym typeface="微软雅黑"/>
                        </a:rPr>
                        <a:t>2026</a:t>
                      </a:r>
                      <a:endParaRPr lang="en-US" sz="1100"/>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defTabSz="914400">
                        <a:lnSpc>
                          <a:spcPct val="100000"/>
                        </a:lnSpc>
                        <a:defRPr/>
                      </a:pPr>
                      <a:r>
                        <a:rPr lang="en-US" sz="1600" b="0" i="0" u="none" strike="noStrike" dirty="0" err="1">
                          <a:solidFill>
                            <a:srgbClr val="000000"/>
                          </a:solidFill>
                          <a:latin typeface="微软雅黑"/>
                          <a:ea typeface="微软雅黑"/>
                          <a:cs typeface="微软雅黑"/>
                          <a:sym typeface="微软雅黑"/>
                        </a:rPr>
                        <a:t>高效半监督目标检测（Detection</a:t>
                      </a:r>
                      <a:r>
                        <a:rPr lang="en-US" sz="1600" b="0" i="0" u="none" strike="noStrike" dirty="0">
                          <a:solidFill>
                            <a:srgbClr val="000000"/>
                          </a:solidFill>
                          <a:latin typeface="微软雅黑"/>
                          <a:ea typeface="微软雅黑"/>
                          <a:cs typeface="微软雅黑"/>
                          <a:sym typeface="微软雅黑"/>
                        </a:rPr>
                        <a:t> Transformer）。</a:t>
                      </a:r>
                      <a:endParaRPr lang="en-US" sz="1100" dirty="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algn="l"/>
                      <a:r>
                        <a:rPr lang="zh-CN" altLang="en-US" sz="1600" b="0" i="0" u="none" strike="noStrike" cap="none" dirty="0">
                          <a:solidFill>
                            <a:srgbClr val="000000"/>
                          </a:solidFill>
                          <a:latin typeface="微软雅黑"/>
                          <a:ea typeface="微软雅黑"/>
                          <a:cs typeface="+mn-cs"/>
                          <a:sym typeface="Arial"/>
                        </a:rPr>
                        <a:t>少量标注＋大量未标注数据训练</a:t>
                      </a:r>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2"/>
                  </a:ext>
                </a:extLst>
              </a:tr>
              <a:tr h="853925">
                <a:tc vMerge="1">
                  <a:txBody>
                    <a:bodyPr/>
                    <a:lstStyle/>
                    <a:p>
                      <a:endParaRPr lang="zh-CN" altLang="en-US"/>
                    </a:p>
                  </a:txBody>
                  <a:tcPr/>
                </a:tc>
                <a:tc>
                  <a:txBody>
                    <a:bodyPr/>
                    <a:lstStyle/>
                    <a:p>
                      <a:pPr algn="l">
                        <a:lnSpc>
                          <a:spcPct val="114000"/>
                        </a:lnSpc>
                        <a:spcBef>
                          <a:spcPts val="100"/>
                        </a:spcBef>
                        <a:spcAft>
                          <a:spcPts val="100"/>
                        </a:spcAft>
                        <a:buNone/>
                      </a:pPr>
                      <a:r>
                        <a:rPr lang="en-US" altLang="zh-CN" sz="1600" b="0" i="0" u="none" strike="noStrike" cap="none" dirty="0">
                          <a:solidFill>
                            <a:srgbClr val="000000"/>
                          </a:solidFill>
                          <a:latin typeface="微软雅黑"/>
                          <a:ea typeface="微软雅黑"/>
                          <a:cs typeface="Times New Roman" panose="02020603050405020304" pitchFamily="18" charset="0"/>
                          <a:sym typeface="Arial"/>
                        </a:rPr>
                        <a:t>He </a:t>
                      </a:r>
                      <a:r>
                        <a:rPr lang="zh-CN" altLang="en-US" sz="1600" b="0" i="0" u="none" strike="noStrike" cap="none" dirty="0">
                          <a:solidFill>
                            <a:srgbClr val="000000"/>
                          </a:solidFill>
                          <a:latin typeface="微软雅黑"/>
                          <a:ea typeface="微软雅黑"/>
                          <a:cs typeface="Times New Roman" panose="02020603050405020304" pitchFamily="18" charset="0"/>
                          <a:sym typeface="Arial"/>
                        </a:rPr>
                        <a:t>等</a:t>
                      </a:r>
                    </a:p>
                  </a:txBody>
                  <a:tcPr marL="68580" marR="6858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algn="l">
                        <a:lnSpc>
                          <a:spcPct val="114000"/>
                        </a:lnSpc>
                        <a:spcBef>
                          <a:spcPts val="100"/>
                        </a:spcBef>
                        <a:spcAft>
                          <a:spcPts val="100"/>
                        </a:spcAft>
                        <a:buNone/>
                      </a:pPr>
                      <a:r>
                        <a:rPr lang="en-US" altLang="zh-CN" sz="1600" b="0" i="0" u="none" strike="noStrike" cap="none" dirty="0">
                          <a:solidFill>
                            <a:srgbClr val="000000"/>
                          </a:solidFill>
                          <a:latin typeface="微软雅黑"/>
                          <a:ea typeface="微软雅黑"/>
                          <a:cs typeface="Times New Roman" panose="02020603050405020304" pitchFamily="18" charset="0"/>
                          <a:sym typeface="Arial"/>
                        </a:rPr>
                        <a:t>2026</a:t>
                      </a:r>
                      <a:endParaRPr lang="zh-CN" altLang="en-US" sz="1600" b="0" i="0" u="none" strike="noStrike" cap="none" dirty="0">
                        <a:solidFill>
                          <a:srgbClr val="000000"/>
                        </a:solidFill>
                        <a:latin typeface="微软雅黑"/>
                        <a:ea typeface="微软雅黑"/>
                        <a:cs typeface="Times New Roman" panose="02020603050405020304" pitchFamily="18" charset="0"/>
                        <a:sym typeface="Arial"/>
                      </a:endParaRPr>
                    </a:p>
                  </a:txBody>
                  <a:tcPr marL="68580" marR="6858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algn="l">
                        <a:lnSpc>
                          <a:spcPct val="114000"/>
                        </a:lnSpc>
                        <a:spcBef>
                          <a:spcPts val="100"/>
                        </a:spcBef>
                        <a:spcAft>
                          <a:spcPts val="100"/>
                        </a:spcAft>
                        <a:buNone/>
                      </a:pPr>
                      <a:r>
                        <a:rPr lang="en-US" altLang="zh-CN" sz="1600" b="0" i="0" u="none" strike="noStrike" cap="none" dirty="0">
                          <a:solidFill>
                            <a:srgbClr val="000000"/>
                          </a:solidFill>
                          <a:latin typeface="微软雅黑"/>
                          <a:ea typeface="微软雅黑"/>
                          <a:cs typeface="Times New Roman" panose="02020603050405020304" pitchFamily="18" charset="0"/>
                          <a:sym typeface="Arial"/>
                        </a:rPr>
                        <a:t>ModuSeg</a:t>
                      </a:r>
                      <a:r>
                        <a:rPr lang="zh-CN" altLang="en-US" sz="1600" b="0" i="0" u="none" strike="noStrike" cap="none" dirty="0">
                          <a:solidFill>
                            <a:srgbClr val="000000"/>
                          </a:solidFill>
                          <a:latin typeface="微软雅黑"/>
                          <a:ea typeface="微软雅黑"/>
                          <a:cs typeface="Times New Roman" panose="02020603050405020304" pitchFamily="18" charset="0"/>
                          <a:sym typeface="Arial"/>
                        </a:rPr>
                        <a:t>：目标发现与语义检索解耦的弱监督分割</a:t>
                      </a:r>
                    </a:p>
                  </a:txBody>
                  <a:tcPr marL="68580" marR="6858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algn="l">
                        <a:lnSpc>
                          <a:spcPct val="114000"/>
                        </a:lnSpc>
                        <a:spcBef>
                          <a:spcPts val="100"/>
                        </a:spcBef>
                        <a:spcAft>
                          <a:spcPts val="100"/>
                        </a:spcAft>
                        <a:buNone/>
                      </a:pPr>
                      <a:r>
                        <a:rPr lang="zh-CN" altLang="en-US" sz="1600" b="0" i="0" u="none" strike="noStrike" cap="none" dirty="0">
                          <a:solidFill>
                            <a:srgbClr val="000000"/>
                          </a:solidFill>
                          <a:latin typeface="微软雅黑"/>
                          <a:ea typeface="微软雅黑"/>
                          <a:cs typeface="Times New Roman" panose="02020603050405020304" pitchFamily="18" charset="0"/>
                          <a:sym typeface="Arial"/>
                        </a:rPr>
                        <a:t>基础模型能力可拆分使用</a:t>
                      </a:r>
                    </a:p>
                  </a:txBody>
                  <a:tcPr marL="68580" marR="6858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vMerge="1">
                  <a:txBody>
                    <a:bodyPr/>
                    <a:lstStyle/>
                    <a:p>
                      <a:endParaRPr lang="zh-CN" altLang="en-US"/>
                    </a:p>
                  </a:txBody>
                  <a:tcPr/>
                </a:tc>
                <a:extLst>
                  <a:ext uri="{0D108BD9-81ED-4DB2-BD59-A6C34878D82A}">
                    <a16:rowId xmlns:a16="http://schemas.microsoft.com/office/drawing/2014/main" val="2511637015"/>
                  </a:ext>
                </a:extLst>
              </a:tr>
              <a:tr h="760202">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Shehzadi 等</a:t>
                      </a:r>
                      <a:endParaRPr lang="en-US" sz="1100" dirty="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defTabSz="914400">
                        <a:lnSpc>
                          <a:spcPct val="100000"/>
                        </a:lnSpc>
                        <a:defRPr/>
                      </a:pPr>
                      <a:r>
                        <a:rPr lang="en-US" sz="1600" b="0" i="0" u="none" strike="noStrike">
                          <a:solidFill>
                            <a:srgbClr val="000000"/>
                          </a:solidFill>
                          <a:latin typeface="微软雅黑"/>
                          <a:ea typeface="微软雅黑"/>
                          <a:cs typeface="微软雅黑"/>
                          <a:sym typeface="微软雅黑"/>
                        </a:rPr>
                        <a:t>2025</a:t>
                      </a:r>
                      <a:endParaRPr lang="en-US" sz="1100"/>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defTabSz="914400">
                        <a:lnSpc>
                          <a:spcPct val="100000"/>
                        </a:lnSpc>
                        <a:defRPr/>
                      </a:pPr>
                      <a:r>
                        <a:rPr lang="en-US" sz="1600" b="0" i="0" u="none" strike="noStrike" dirty="0" err="1">
                          <a:solidFill>
                            <a:srgbClr val="000000"/>
                          </a:solidFill>
                          <a:latin typeface="微软雅黑"/>
                          <a:ea typeface="微软雅黑"/>
                          <a:cs typeface="微软雅黑"/>
                          <a:sym typeface="微软雅黑"/>
                        </a:rPr>
                        <a:t>STEP-DETR：教师模型与伪标签引导文本查询</a:t>
                      </a:r>
                      <a:r>
                        <a:rPr lang="en-US" sz="1600" b="0" i="0" u="none" strike="noStrike" dirty="0">
                          <a:solidFill>
                            <a:srgbClr val="000000"/>
                          </a:solidFill>
                          <a:latin typeface="微软雅黑"/>
                          <a:ea typeface="微软雅黑"/>
                          <a:cs typeface="微软雅黑"/>
                          <a:sym typeface="微软雅黑"/>
                        </a:rPr>
                        <a:t>。</a:t>
                      </a:r>
                      <a:endParaRPr lang="en-US" sz="1100" dirty="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algn="l"/>
                      <a:r>
                        <a:rPr lang="zh-CN" altLang="zh-CN" sz="1600" b="0" i="0" u="none" strike="noStrike" cap="none" dirty="0">
                          <a:solidFill>
                            <a:srgbClr val="000000"/>
                          </a:solidFill>
                          <a:latin typeface="微软雅黑"/>
                          <a:ea typeface="微软雅黑"/>
                          <a:cs typeface="+mn-cs"/>
                          <a:sym typeface="Arial"/>
                        </a:rPr>
                        <a:t>半监督目标检测</a:t>
                      </a:r>
                      <a:endParaRPr lang="zh-CN" altLang="en-US" sz="1600" b="0" i="0" u="none" strike="noStrike" cap="none" dirty="0">
                        <a:solidFill>
                          <a:srgbClr val="000000"/>
                        </a:solidFill>
                        <a:latin typeface="微软雅黑"/>
                        <a:ea typeface="微软雅黑"/>
                        <a:cs typeface="+mn-cs"/>
                        <a:sym typeface="Arial"/>
                      </a:endParaRPr>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3"/>
                  </a:ext>
                </a:extLst>
              </a:tr>
              <a:tr h="872991">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l" defTabSz="914400">
                        <a:lnSpc>
                          <a:spcPct val="100000"/>
                        </a:lnSpc>
                        <a:defRPr/>
                      </a:pPr>
                      <a:r>
                        <a:rPr lang="en-US" sz="1600" b="0" i="0" u="none" strike="noStrike">
                          <a:solidFill>
                            <a:srgbClr val="000000"/>
                          </a:solidFill>
                          <a:latin typeface="微软雅黑"/>
                          <a:ea typeface="微软雅黑"/>
                          <a:cs typeface="微软雅黑"/>
                          <a:sym typeface="微软雅黑"/>
                        </a:rPr>
                        <a:t>Amershi 等</a:t>
                      </a:r>
                      <a:endParaRPr lang="en-US" sz="110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2019</a:t>
                      </a:r>
                      <a:endParaRPr lang="en-US" sz="1100" dirty="0"/>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defTabSz="914400">
                        <a:lnSpc>
                          <a:spcPct val="100000"/>
                        </a:lnSpc>
                        <a:defRPr/>
                      </a:pPr>
                      <a:r>
                        <a:rPr lang="en-US" sz="1600" b="0" i="0" u="none" strike="noStrike" dirty="0" err="1">
                          <a:solidFill>
                            <a:srgbClr val="0D0D0D"/>
                          </a:solidFill>
                          <a:latin typeface="微软雅黑"/>
                          <a:ea typeface="微软雅黑"/>
                          <a:cs typeface="微软雅黑"/>
                          <a:sym typeface="微软雅黑"/>
                        </a:rPr>
                        <a:t>机器学习系统软件工程案例：</a:t>
                      </a:r>
                      <a:r>
                        <a:rPr lang="en-US" sz="1600" b="0" i="0" u="none" strike="noStrike" dirty="0" err="1">
                          <a:solidFill>
                            <a:srgbClr val="000000"/>
                          </a:solidFill>
                          <a:latin typeface="微软雅黑"/>
                          <a:ea typeface="微软雅黑"/>
                          <a:cs typeface="微软雅黑"/>
                          <a:sym typeface="微软雅黑"/>
                        </a:rPr>
                        <a:t>强调数据过程管理与可复现规范</a:t>
                      </a:r>
                      <a:r>
                        <a:rPr lang="en-US" sz="1600" b="0" i="0" u="none" strike="noStrike" dirty="0">
                          <a:solidFill>
                            <a:srgbClr val="000000"/>
                          </a:solidFill>
                          <a:latin typeface="微软雅黑"/>
                          <a:ea typeface="微软雅黑"/>
                          <a:cs typeface="微软雅黑"/>
                          <a:sym typeface="微软雅黑"/>
                        </a:rPr>
                        <a:t>。</a:t>
                      </a:r>
                      <a:endParaRPr lang="en-US" sz="1100" dirty="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algn="l"/>
                      <a:r>
                        <a:rPr lang="zh-CN" altLang="zh-CN" sz="1600" b="0" i="0" u="none" strike="noStrike" cap="none" dirty="0">
                          <a:solidFill>
                            <a:srgbClr val="000000"/>
                          </a:solidFill>
                          <a:latin typeface="微软雅黑"/>
                          <a:ea typeface="微软雅黑"/>
                          <a:cs typeface="+mn-cs"/>
                          <a:sym typeface="Arial"/>
                        </a:rPr>
                        <a:t>强调数据过程管理与可复现规范</a:t>
                      </a:r>
                      <a:endParaRPr lang="zh-CN" altLang="en-US" sz="1600" b="0" i="0" u="none" strike="noStrike" cap="none" dirty="0">
                        <a:solidFill>
                          <a:srgbClr val="000000"/>
                        </a:solidFill>
                        <a:latin typeface="微软雅黑"/>
                        <a:ea typeface="微软雅黑"/>
                        <a:cs typeface="+mn-cs"/>
                        <a:sym typeface="Arial"/>
                      </a:endParaRPr>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Freeform 2"/>
          <p:cNvSpPr/>
          <p:nvPr/>
        </p:nvSpPr>
        <p:spPr>
          <a:xfrm>
            <a:off x="0" y="144780"/>
            <a:ext cx="4942840" cy="749935"/>
          </a:xfrm>
          <a:custGeom>
            <a:avLst/>
            <a:gdLst/>
            <a:ahLst/>
            <a:cxnLst/>
            <a:rect l="l" t="t" r="r" b="b"/>
            <a:pathLst>
              <a:path w="4942840" h="749935">
                <a:moveTo>
                  <a:pt x="532293" y="0"/>
                </a:moveTo>
                <a:lnTo>
                  <a:pt x="532300" y="0"/>
                </a:lnTo>
                <a:lnTo>
                  <a:pt x="4387968" y="0"/>
                </a:lnTo>
                <a:lnTo>
                  <a:pt x="4387968" y="1604"/>
                </a:lnTo>
                <a:lnTo>
                  <a:pt x="4410547" y="0"/>
                </a:lnTo>
                <a:cubicBezTo>
                  <a:pt x="4704524" y="0"/>
                  <a:pt x="4942840" y="167879"/>
                  <a:pt x="4942840" y="374967"/>
                </a:cubicBezTo>
                <a:cubicBezTo>
                  <a:pt x="4942840" y="582056"/>
                  <a:pt x="4704524" y="749935"/>
                  <a:pt x="4410547" y="749935"/>
                </a:cubicBezTo>
                <a:lnTo>
                  <a:pt x="4387968" y="748332"/>
                </a:lnTo>
                <a:lnTo>
                  <a:pt x="4387968" y="749935"/>
                </a:lnTo>
                <a:lnTo>
                  <a:pt x="532293" y="749935"/>
                </a:lnTo>
                <a:cubicBezTo>
                  <a:pt x="238316" y="749935"/>
                  <a:pt x="0" y="582056"/>
                  <a:pt x="0" y="374967"/>
                </a:cubicBezTo>
                <a:cubicBezTo>
                  <a:pt x="0" y="167879"/>
                  <a:pt x="238316" y="0"/>
                  <a:pt x="532293"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3" name="Picture 3"/>
          <p:cNvPicPr>
            <a:picLocks noChangeAspect="1"/>
          </p:cNvPicPr>
          <p:nvPr/>
        </p:nvPicPr>
        <p:blipFill>
          <a:blip r:embed="rId4"/>
          <a:srcRect/>
          <a:stretch>
            <a:fillRect/>
          </a:stretch>
        </p:blipFill>
        <p:spPr>
          <a:xfrm>
            <a:off x="163195" y="210820"/>
            <a:ext cx="617855" cy="617855"/>
          </a:xfrm>
          <a:prstGeom prst="rect">
            <a:avLst/>
          </a:prstGeom>
          <a:noFill/>
          <a:ln w="25400" cap="flat" cmpd="sng">
            <a:noFill/>
            <a:prstDash val="solid"/>
            <a:round/>
          </a:ln>
        </p:spPr>
      </p:pic>
      <p:sp>
        <p:nvSpPr>
          <p:cNvPr id="4" name="AutoShape 4"/>
          <p:cNvSpPr/>
          <p:nvPr/>
        </p:nvSpPr>
        <p:spPr>
          <a:xfrm>
            <a:off x="779780" y="289560"/>
            <a:ext cx="4049395" cy="460375"/>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just" defTabSz="914400">
              <a:lnSpc>
                <a:spcPct val="100000"/>
              </a:lnSpc>
              <a:defRPr/>
            </a:pPr>
            <a:r>
              <a:rPr lang="en-US" sz="2400" b="1" i="0" u="none" strike="noStrike">
                <a:solidFill>
                  <a:srgbClr val="FFFFFF"/>
                </a:solidFill>
                <a:latin typeface="微软雅黑"/>
                <a:ea typeface="微软雅黑"/>
                <a:cs typeface="微软雅黑"/>
                <a:sym typeface="微软雅黑"/>
              </a:rPr>
              <a:t>2.5 火烟场景应用研究</a:t>
            </a:r>
            <a:endParaRPr lang="en-US" sz="1100"/>
          </a:p>
        </p:txBody>
      </p:sp>
      <p:graphicFrame>
        <p:nvGraphicFramePr>
          <p:cNvPr id="5" name="Table 5"/>
          <p:cNvGraphicFramePr>
            <a:graphicFrameLocks noGrp="1"/>
          </p:cNvGraphicFramePr>
          <p:nvPr>
            <p:extLst>
              <p:ext uri="{D42A27DB-BD31-4B8C-83A1-F6EECF244321}">
                <p14:modId xmlns:p14="http://schemas.microsoft.com/office/powerpoint/2010/main" val="743927778"/>
              </p:ext>
            </p:extLst>
          </p:nvPr>
        </p:nvGraphicFramePr>
        <p:xfrm>
          <a:off x="217805" y="1330960"/>
          <a:ext cx="11756389" cy="5177790"/>
        </p:xfrm>
        <a:graphic>
          <a:graphicData uri="http://schemas.openxmlformats.org/drawingml/2006/table">
            <a:tbl>
              <a:tblPr>
                <a:effectLst/>
              </a:tblPr>
              <a:tblGrid>
                <a:gridCol w="1327792">
                  <a:extLst>
                    <a:ext uri="{9D8B030D-6E8A-4147-A177-3AD203B41FA5}">
                      <a16:colId xmlns:a16="http://schemas.microsoft.com/office/drawing/2014/main" val="20000"/>
                    </a:ext>
                  </a:extLst>
                </a:gridCol>
                <a:gridCol w="1892079">
                  <a:extLst>
                    <a:ext uri="{9D8B030D-6E8A-4147-A177-3AD203B41FA5}">
                      <a16:colId xmlns:a16="http://schemas.microsoft.com/office/drawing/2014/main" val="20001"/>
                    </a:ext>
                  </a:extLst>
                </a:gridCol>
                <a:gridCol w="963720">
                  <a:extLst>
                    <a:ext uri="{9D8B030D-6E8A-4147-A177-3AD203B41FA5}">
                      <a16:colId xmlns:a16="http://schemas.microsoft.com/office/drawing/2014/main" val="20002"/>
                    </a:ext>
                  </a:extLst>
                </a:gridCol>
                <a:gridCol w="2501688">
                  <a:extLst>
                    <a:ext uri="{9D8B030D-6E8A-4147-A177-3AD203B41FA5}">
                      <a16:colId xmlns:a16="http://schemas.microsoft.com/office/drawing/2014/main" val="20003"/>
                    </a:ext>
                  </a:extLst>
                </a:gridCol>
                <a:gridCol w="2535555">
                  <a:extLst>
                    <a:ext uri="{9D8B030D-6E8A-4147-A177-3AD203B41FA5}">
                      <a16:colId xmlns:a16="http://schemas.microsoft.com/office/drawing/2014/main" val="4212447098"/>
                    </a:ext>
                  </a:extLst>
                </a:gridCol>
                <a:gridCol w="2535555">
                  <a:extLst>
                    <a:ext uri="{9D8B030D-6E8A-4147-A177-3AD203B41FA5}">
                      <a16:colId xmlns:a16="http://schemas.microsoft.com/office/drawing/2014/main" val="20004"/>
                    </a:ext>
                  </a:extLst>
                </a:gridCol>
              </a:tblGrid>
              <a:tr h="692150">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类别</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作者</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年份</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方法</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gridSpan="2">
                  <a:txBody>
                    <a:bodyPr/>
                    <a:lstStyle/>
                    <a:p>
                      <a:pPr marL="0" indent="0" algn="ctr" defTabSz="914400">
                        <a:lnSpc>
                          <a:spcPct val="100000"/>
                        </a:lnSpc>
                        <a:defRPr/>
                      </a:pPr>
                      <a:r>
                        <a:rPr lang="en-US" sz="1800" b="1" i="0" u="none" strike="noStrike" dirty="0" err="1">
                          <a:solidFill>
                            <a:srgbClr val="FFFFFF"/>
                          </a:solidFill>
                          <a:latin typeface="微软雅黑"/>
                          <a:ea typeface="微软雅黑"/>
                          <a:sym typeface="微软雅黑"/>
                        </a:rPr>
                        <a:t>特点</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hMerge="1">
                  <a:txBody>
                    <a:bodyPr/>
                    <a:lstStyle/>
                    <a:p>
                      <a:endParaRPr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extLst>
                  <a:ext uri="{0D108BD9-81ED-4DB2-BD59-A6C34878D82A}">
                    <a16:rowId xmlns:a16="http://schemas.microsoft.com/office/drawing/2014/main" val="10000"/>
                  </a:ext>
                </a:extLst>
              </a:tr>
              <a:tr h="1155541">
                <a:tc rowSpan="4">
                  <a:txBody>
                    <a:bodyPr/>
                    <a:lstStyle/>
                    <a:p>
                      <a:pPr marL="0" indent="0" algn="ctr" defTabSz="914400">
                        <a:lnSpc>
                          <a:spcPct val="100000"/>
                        </a:lnSpc>
                        <a:defRPr/>
                      </a:pPr>
                      <a:r>
                        <a:rPr lang="en-US" sz="1600" b="0" i="0" u="none" strike="noStrike" dirty="0" err="1">
                          <a:solidFill>
                            <a:srgbClr val="0D0D0D"/>
                          </a:solidFill>
                          <a:latin typeface="微软雅黑"/>
                          <a:ea typeface="微软雅黑"/>
                          <a:cs typeface="微软雅黑"/>
                          <a:sym typeface="微软雅黑"/>
                        </a:rPr>
                        <a:t>火烟检测与分割应用</a:t>
                      </a:r>
                      <a:endParaRPr lang="en-US" sz="1100" dirty="0"/>
                    </a:p>
                    <a:p>
                      <a:pPr algn="ctr" defTabSz="914400">
                        <a:lnSpc>
                          <a:spcPct val="100000"/>
                        </a:lnSpc>
                      </a:pPr>
                      <a:endParaRPr lang="en-US" sz="11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ctr" defTabSz="914400">
                        <a:lnSpc>
                          <a:spcPct val="100000"/>
                        </a:lnSpc>
                        <a:defRPr/>
                      </a:pPr>
                      <a:r>
                        <a:rPr lang="en-US" sz="1600" b="0" i="0" u="none" strike="noStrike">
                          <a:solidFill>
                            <a:srgbClr val="0D0D0D"/>
                          </a:solidFill>
                          <a:latin typeface="微软雅黑"/>
                          <a:ea typeface="微软雅黑"/>
                          <a:cs typeface="微软雅黑"/>
                          <a:sym typeface="微软雅黑"/>
                        </a:rPr>
                        <a:t>Joshi 等</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ctr" defTabSz="914400">
                        <a:lnSpc>
                          <a:spcPct val="100000"/>
                        </a:lnSpc>
                        <a:defRPr/>
                      </a:pPr>
                      <a:r>
                        <a:rPr lang="en-US" sz="1600" b="0" i="0" u="none" strike="noStrike">
                          <a:solidFill>
                            <a:srgbClr val="0D0D0D"/>
                          </a:solidFill>
                          <a:latin typeface="微软雅黑"/>
                          <a:ea typeface="微软雅黑"/>
                          <a:cs typeface="微软雅黑"/>
                          <a:sym typeface="微软雅黑"/>
                        </a:rPr>
                        <a:t>2025</a:t>
                      </a:r>
                      <a:endParaRPr lang="en-US"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ctr" defTabSz="914400">
                        <a:lnSpc>
                          <a:spcPct val="100000"/>
                        </a:lnSpc>
                        <a:defRPr/>
                      </a:pPr>
                      <a:r>
                        <a:rPr lang="en-US" sz="1600" b="0" i="0" u="none" strike="noStrike">
                          <a:solidFill>
                            <a:srgbClr val="0D0D0D"/>
                          </a:solidFill>
                          <a:latin typeface="微软雅黑"/>
                          <a:ea typeface="微软雅黑"/>
                          <a:cs typeface="微软雅黑"/>
                          <a:sym typeface="微软雅黑"/>
                        </a:rPr>
                        <a:t>基础模型结合边界框的高效火焰检测。</a:t>
                      </a:r>
                      <a:endParaRPr lang="en-US" sz="110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l" defTabSz="914400">
                        <a:lnSpc>
                          <a:spcPct val="100000"/>
                        </a:lnSpc>
                      </a:pPr>
                      <a:r>
                        <a:rPr lang="zh-CN" altLang="zh-CN" sz="1600" b="1" i="0" u="none" strike="noStrike" cap="none" dirty="0">
                          <a:solidFill>
                            <a:srgbClr val="000000"/>
                          </a:solidFill>
                          <a:latin typeface="微软雅黑"/>
                          <a:ea typeface="微软雅黑"/>
                          <a:cs typeface="+mn-cs"/>
                          <a:sym typeface="Arial"/>
                        </a:rPr>
                        <a:t>提升火焰定位粒度</a:t>
                      </a:r>
                      <a:endParaRPr lang="en-US" sz="1600" b="1" i="0" u="none" strike="noStrike" cap="none" dirty="0">
                        <a:solidFill>
                          <a:srgbClr val="000000"/>
                        </a:solidFill>
                        <a:latin typeface="微软雅黑"/>
                        <a:ea typeface="微软雅黑"/>
                        <a:cs typeface="微软雅黑"/>
                        <a:sym typeface="微软雅黑"/>
                      </a:endParaRPr>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rowSpan="4">
                  <a:txBody>
                    <a:bodyPr/>
                    <a:lstStyle/>
                    <a:p>
                      <a:pPr marL="0" indent="0" algn="ctr" defTabSz="914400">
                        <a:lnSpc>
                          <a:spcPct val="100000"/>
                        </a:lnSpc>
                        <a:defRPr/>
                      </a:pPr>
                      <a:r>
                        <a:rPr lang="en-US" sz="1600" b="1" i="0" u="none" strike="noStrike" dirty="0" err="1">
                          <a:solidFill>
                            <a:srgbClr val="0D0D0D"/>
                          </a:solidFill>
                          <a:latin typeface="微软雅黑"/>
                          <a:ea typeface="微软雅黑"/>
                          <a:cs typeface="微软雅黑"/>
                          <a:sym typeface="微软雅黑"/>
                        </a:rPr>
                        <a:t>本文落点不同</a:t>
                      </a:r>
                      <a:r>
                        <a:rPr lang="en-US" sz="1600" b="1" i="0" u="none" strike="noStrike" dirty="0">
                          <a:solidFill>
                            <a:srgbClr val="0D0D0D"/>
                          </a:solidFill>
                          <a:latin typeface="微软雅黑"/>
                          <a:ea typeface="微软雅黑"/>
                          <a:cs typeface="微软雅黑"/>
                          <a:sym typeface="微软雅黑"/>
                        </a:rPr>
                        <a:t>：</a:t>
                      </a:r>
                      <a:endParaRPr lang="en-US" sz="1100" dirty="0"/>
                    </a:p>
                    <a:p>
                      <a:pPr marL="0" indent="0" algn="ctr" defTabSz="914400">
                        <a:lnSpc>
                          <a:spcPct val="100000"/>
                        </a:lnSpc>
                      </a:pPr>
                      <a:r>
                        <a:rPr lang="en-US" sz="1600" b="1" i="0" u="none" strike="noStrike" dirty="0" err="1">
                          <a:solidFill>
                            <a:srgbClr val="0D0D0D"/>
                          </a:solidFill>
                          <a:latin typeface="微软雅黑"/>
                          <a:ea typeface="微软雅黑"/>
                          <a:cs typeface="微软雅黑"/>
                          <a:sym typeface="微软雅黑"/>
                        </a:rPr>
                        <a:t>已有工作多把分割质量本身当目标，分割更细不代表转换出的检测框更适合训练</a:t>
                      </a:r>
                      <a:r>
                        <a:rPr lang="en-US" sz="1600" b="1" i="0" u="none" strike="noStrike" dirty="0">
                          <a:solidFill>
                            <a:srgbClr val="0D0D0D"/>
                          </a:solidFill>
                          <a:latin typeface="微软雅黑"/>
                          <a:ea typeface="微软雅黑"/>
                          <a:cs typeface="微软雅黑"/>
                          <a:sym typeface="微软雅黑"/>
                        </a:rPr>
                        <a:t>。</a:t>
                      </a:r>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extLst>
                  <a:ext uri="{0D108BD9-81ED-4DB2-BD59-A6C34878D82A}">
                    <a16:rowId xmlns:a16="http://schemas.microsoft.com/office/drawing/2014/main" val="10001"/>
                  </a:ext>
                </a:extLst>
              </a:tr>
              <a:tr h="1042035">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ctr" defTabSz="914400">
                        <a:lnSpc>
                          <a:spcPct val="100000"/>
                        </a:lnSpc>
                        <a:defRPr/>
                      </a:pPr>
                      <a:r>
                        <a:rPr lang="en-US" sz="1600" b="0" i="0" u="none" strike="noStrike">
                          <a:solidFill>
                            <a:srgbClr val="0D0D0D"/>
                          </a:solidFill>
                          <a:latin typeface="微软雅黑"/>
                          <a:ea typeface="微软雅黑"/>
                          <a:cs typeface="微软雅黑"/>
                          <a:sym typeface="微软雅黑"/>
                        </a:rPr>
                        <a:t>Cao 等</a:t>
                      </a:r>
                      <a:endParaRPr lang="en-US" sz="110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ctr" defTabSz="914400">
                        <a:lnSpc>
                          <a:spcPct val="100000"/>
                        </a:lnSpc>
                        <a:defRPr/>
                      </a:pPr>
                      <a:r>
                        <a:rPr lang="en-US" sz="1600" b="0" i="0" u="none" strike="noStrike">
                          <a:solidFill>
                            <a:srgbClr val="0D0D0D"/>
                          </a:solidFill>
                          <a:latin typeface="微软雅黑"/>
                          <a:ea typeface="微软雅黑"/>
                          <a:cs typeface="微软雅黑"/>
                          <a:sym typeface="微软雅黑"/>
                        </a:rPr>
                        <a:t>2026</a:t>
                      </a:r>
                      <a:endParaRPr lang="en-US" sz="1100"/>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ctr" defTabSz="914400">
                        <a:lnSpc>
                          <a:spcPct val="100000"/>
                        </a:lnSpc>
                        <a:defRPr/>
                      </a:pPr>
                      <a:r>
                        <a:rPr lang="en-US" sz="1600" b="0" i="0" u="none" strike="noStrike" dirty="0">
                          <a:solidFill>
                            <a:srgbClr val="0D0D0D"/>
                          </a:solidFill>
                          <a:latin typeface="微软雅黑"/>
                          <a:ea typeface="微软雅黑"/>
                          <a:cs typeface="微软雅黑"/>
                          <a:sym typeface="微软雅黑"/>
                        </a:rPr>
                        <a:t>SAM </a:t>
                      </a:r>
                      <a:r>
                        <a:rPr lang="en-US" sz="1600" b="0" i="0" u="none" strike="noStrike" dirty="0" err="1">
                          <a:solidFill>
                            <a:srgbClr val="0D0D0D"/>
                          </a:solidFill>
                          <a:latin typeface="微软雅黑"/>
                          <a:ea typeface="微软雅黑"/>
                          <a:cs typeface="微软雅黑"/>
                          <a:sym typeface="微软雅黑"/>
                        </a:rPr>
                        <a:t>驱动的密度感知渐进式烟雾分割框架</a:t>
                      </a:r>
                      <a:r>
                        <a:rPr lang="en-US" sz="1600" b="0" i="0" u="none" strike="noStrike" dirty="0">
                          <a:solidFill>
                            <a:srgbClr val="0D0D0D"/>
                          </a:solidFill>
                          <a:latin typeface="微软雅黑"/>
                          <a:ea typeface="微软雅黑"/>
                          <a:cs typeface="微软雅黑"/>
                          <a:sym typeface="微软雅黑"/>
                        </a:rPr>
                        <a:t>。</a:t>
                      </a:r>
                      <a:endParaRPr lang="en-US" sz="1100" dirty="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algn="l"/>
                      <a:r>
                        <a:rPr lang="zh-CN" altLang="zh-CN" sz="1600" b="1" i="0" u="none" strike="noStrike" cap="none" dirty="0">
                          <a:solidFill>
                            <a:srgbClr val="000000"/>
                          </a:solidFill>
                          <a:latin typeface="微软雅黑"/>
                          <a:ea typeface="微软雅黑"/>
                          <a:cs typeface="+mn-cs"/>
                          <a:sym typeface="Arial"/>
                        </a:rPr>
                        <a:t>提升烟雾分割粒度</a:t>
                      </a:r>
                      <a:endParaRPr lang="zh-CN" altLang="en-US" sz="1600" b="1" i="0" u="none" strike="noStrike" cap="none" dirty="0">
                        <a:solidFill>
                          <a:srgbClr val="000000"/>
                        </a:solidFill>
                        <a:latin typeface="微软雅黑"/>
                        <a:ea typeface="微软雅黑"/>
                        <a:sym typeface="Arial"/>
                      </a:endParaRPr>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2"/>
                  </a:ext>
                </a:extLst>
              </a:tr>
              <a:tr h="1132523">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ctr" defTabSz="914400">
                        <a:lnSpc>
                          <a:spcPct val="100000"/>
                        </a:lnSpc>
                        <a:defRPr/>
                      </a:pPr>
                      <a:r>
                        <a:rPr lang="en-US" sz="1600" b="0" i="0" u="none" strike="noStrike">
                          <a:solidFill>
                            <a:srgbClr val="0D0D0D"/>
                          </a:solidFill>
                          <a:latin typeface="微软雅黑"/>
                          <a:ea typeface="微软雅黑"/>
                          <a:cs typeface="微软雅黑"/>
                          <a:sym typeface="微软雅黑"/>
                        </a:rPr>
                        <a:t>Allabadi 等</a:t>
                      </a:r>
                      <a:endParaRPr lang="en-US" sz="110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ctr" defTabSz="914400">
                        <a:lnSpc>
                          <a:spcPct val="100000"/>
                        </a:lnSpc>
                        <a:defRPr/>
                      </a:pPr>
                      <a:r>
                        <a:rPr lang="en-US" sz="1600" b="0" i="0" u="none" strike="noStrike">
                          <a:solidFill>
                            <a:srgbClr val="0D0D0D"/>
                          </a:solidFill>
                          <a:latin typeface="微软雅黑"/>
                          <a:ea typeface="微软雅黑"/>
                          <a:cs typeface="微软雅黑"/>
                          <a:sym typeface="微软雅黑"/>
                        </a:rPr>
                        <a:t>2025</a:t>
                      </a:r>
                      <a:endParaRPr lang="en-US" sz="1100"/>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ctr" defTabSz="914400">
                        <a:lnSpc>
                          <a:spcPct val="100000"/>
                        </a:lnSpc>
                        <a:defRPr/>
                      </a:pPr>
                      <a:r>
                        <a:rPr lang="en-US" sz="1600" b="0" i="0" u="none" strike="noStrike">
                          <a:solidFill>
                            <a:srgbClr val="0D0D0D"/>
                          </a:solidFill>
                          <a:latin typeface="微软雅黑"/>
                          <a:ea typeface="微软雅黑"/>
                          <a:cs typeface="微软雅黑"/>
                          <a:sym typeface="微软雅黑"/>
                        </a:rPr>
                        <a:t>在野外环境用 SAM 检测新目标物种。</a:t>
                      </a:r>
                      <a:endParaRPr lang="en-US" sz="110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algn="l"/>
                      <a:r>
                        <a:rPr lang="zh-CN" altLang="zh-CN" sz="1600" b="1" i="0" u="none" strike="noStrike" cap="none" dirty="0">
                          <a:solidFill>
                            <a:srgbClr val="000000"/>
                          </a:solidFill>
                          <a:latin typeface="微软雅黑"/>
                          <a:ea typeface="微软雅黑"/>
                          <a:cs typeface="+mn-cs"/>
                          <a:sym typeface="Arial"/>
                        </a:rPr>
                        <a:t>基础模型辅助未知目标发现</a:t>
                      </a:r>
                      <a:endParaRPr lang="zh-CN" altLang="en-US" sz="1600" b="1" i="0" u="none" strike="noStrike" cap="none" dirty="0">
                        <a:solidFill>
                          <a:srgbClr val="000000"/>
                        </a:solidFill>
                        <a:latin typeface="微软雅黑"/>
                        <a:ea typeface="微软雅黑"/>
                        <a:sym typeface="Arial"/>
                      </a:endParaRPr>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vMerge="1">
                  <a:txBody>
                    <a:bodyPr/>
                    <a:lstStyle/>
                    <a:p>
                      <a:pPr algn="ctr">
                        <a:defRPr/>
                      </a:pPr>
                      <a:endParaRPr/>
                    </a:p>
                  </a:txBody>
                  <a:tcPr marL="101600" marR="101600" marT="101600" marB="10160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3"/>
                  </a:ext>
                </a:extLst>
              </a:tr>
              <a:tr h="1155541">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ctr" defTabSz="914400">
                        <a:lnSpc>
                          <a:spcPct val="100000"/>
                        </a:lnSpc>
                        <a:defRPr/>
                      </a:pPr>
                      <a:r>
                        <a:rPr lang="en-US" sz="1600" b="0" i="0" u="none" strike="noStrike" dirty="0">
                          <a:solidFill>
                            <a:srgbClr val="0D0D0D"/>
                          </a:solidFill>
                          <a:latin typeface="微软雅黑"/>
                          <a:ea typeface="微软雅黑"/>
                          <a:cs typeface="微软雅黑"/>
                          <a:sym typeface="微软雅黑"/>
                        </a:rPr>
                        <a:t>W</a:t>
                      </a:r>
                      <a:r>
                        <a:rPr lang="en-US" altLang="zh-CN" sz="1600" b="0" i="0" u="none" strike="noStrike" dirty="0">
                          <a:solidFill>
                            <a:srgbClr val="0D0D0D"/>
                          </a:solidFill>
                          <a:latin typeface="微软雅黑"/>
                          <a:ea typeface="微软雅黑"/>
                          <a:cs typeface="微软雅黑"/>
                          <a:sym typeface="微软雅黑"/>
                        </a:rPr>
                        <a:t>ang</a:t>
                      </a:r>
                      <a:r>
                        <a:rPr lang="en-US" sz="1600" b="0" i="0" u="none" strike="noStrike" dirty="0">
                          <a:solidFill>
                            <a:srgbClr val="0D0D0D"/>
                          </a:solidFill>
                          <a:latin typeface="微软雅黑"/>
                          <a:ea typeface="微软雅黑"/>
                          <a:cs typeface="微软雅黑"/>
                          <a:sym typeface="微软雅黑"/>
                        </a:rPr>
                        <a:t> 等</a:t>
                      </a:r>
                      <a:endParaRPr lang="en-US" sz="1100" dirty="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ctr" defTabSz="914400">
                        <a:lnSpc>
                          <a:spcPct val="100000"/>
                        </a:lnSpc>
                        <a:defRPr/>
                      </a:pPr>
                      <a:r>
                        <a:rPr lang="en-US" sz="1600" b="0" i="0" u="none" strike="noStrike">
                          <a:solidFill>
                            <a:srgbClr val="0D0D0D"/>
                          </a:solidFill>
                          <a:latin typeface="微软雅黑"/>
                          <a:ea typeface="微软雅黑"/>
                          <a:cs typeface="微软雅黑"/>
                          <a:sym typeface="微软雅黑"/>
                        </a:rPr>
                        <a:t>2024</a:t>
                      </a:r>
                      <a:endParaRPr lang="en-US" sz="110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ctr" defTabSz="914400">
                        <a:lnSpc>
                          <a:spcPct val="100000"/>
                        </a:lnSpc>
                        <a:defRPr/>
                      </a:pPr>
                      <a:r>
                        <a:rPr lang="en-US" sz="1600" b="0" i="0" u="none" strike="noStrike" dirty="0" err="1">
                          <a:solidFill>
                            <a:srgbClr val="0D0D0D"/>
                          </a:solidFill>
                          <a:latin typeface="微软雅黑"/>
                          <a:ea typeface="微软雅黑"/>
                          <a:cs typeface="微软雅黑"/>
                          <a:sym typeface="微软雅黑"/>
                        </a:rPr>
                        <a:t>面向遥感森林火烟检测的多面合成数据集</a:t>
                      </a:r>
                      <a:r>
                        <a:rPr lang="en-US" sz="1600" b="0" i="0" u="none" strike="noStrike" dirty="0">
                          <a:solidFill>
                            <a:srgbClr val="0D0D0D"/>
                          </a:solidFill>
                          <a:latin typeface="微软雅黑"/>
                          <a:ea typeface="微软雅黑"/>
                          <a:cs typeface="微软雅黑"/>
                          <a:sym typeface="微软雅黑"/>
                        </a:rPr>
                        <a:t>。</a:t>
                      </a:r>
                      <a:endParaRPr lang="en-US" sz="1100" dirty="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algn="l"/>
                      <a:r>
                        <a:rPr lang="zh-CN" altLang="zh-CN" sz="1600" b="1" i="0" u="none" strike="noStrike" cap="none" dirty="0">
                          <a:solidFill>
                            <a:srgbClr val="000000"/>
                          </a:solidFill>
                          <a:latin typeface="微软雅黑"/>
                          <a:ea typeface="微软雅黑"/>
                          <a:cs typeface="+mn-cs"/>
                          <a:sym typeface="Arial"/>
                        </a:rPr>
                        <a:t>提供火烟检测多面合成数据</a:t>
                      </a:r>
                      <a:endParaRPr lang="zh-CN" altLang="en-US" sz="1600" b="1" i="0" u="none" strike="noStrike" cap="none" dirty="0">
                        <a:solidFill>
                          <a:srgbClr val="000000"/>
                        </a:solidFill>
                        <a:latin typeface="微软雅黑"/>
                        <a:ea typeface="微软雅黑"/>
                        <a:sym typeface="Arial"/>
                      </a:endParaRPr>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vMerge="1">
                  <a:txBody>
                    <a:bodyPr/>
                    <a:lstStyle/>
                    <a:p>
                      <a:pPr algn="ctr">
                        <a:defRPr/>
                      </a:pPr>
                      <a:endParaRPr/>
                    </a:p>
                  </a:txBody>
                  <a:tcPr marL="101600" marR="101600" marT="101600" marB="101600" anchor="ctr">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27000"/>
            <a:ext cx="3263900" cy="609600"/>
          </a:xfrm>
          <a:prstGeom prst="roundRect">
            <a:avLst>
              <a:gd name="adj" fmla="val 41665"/>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l" defTabSz="914400">
              <a:lnSpc>
                <a:spcPct val="100000"/>
              </a:lnSpc>
              <a:defRPr/>
            </a:pPr>
            <a:r>
              <a:rPr lang="en-US" sz="1800" b="0" i="0" u="none" strike="noStrike">
                <a:solidFill>
                  <a:srgbClr val="000000"/>
                </a:solidFill>
                <a:latin typeface="等线"/>
                <a:ea typeface="等线"/>
                <a:cs typeface="等线"/>
                <a:sym typeface="等线"/>
              </a:rPr>
              <a:t> </a:t>
            </a:r>
            <a:endParaRPr lang="en-US" sz="1100"/>
          </a:p>
        </p:txBody>
      </p:sp>
      <p:pic>
        <p:nvPicPr>
          <p:cNvPr id="3" name="Picture 3"/>
          <p:cNvPicPr>
            <a:picLocks noChangeAspect="1"/>
          </p:cNvPicPr>
          <p:nvPr/>
        </p:nvPicPr>
        <p:blipFill>
          <a:blip r:embed="rId3"/>
          <a:srcRect/>
          <a:stretch>
            <a:fillRect/>
          </a:stretch>
        </p:blipFill>
        <p:spPr>
          <a:xfrm>
            <a:off x="177800" y="152400"/>
            <a:ext cx="558800" cy="558800"/>
          </a:xfrm>
          <a:prstGeom prst="rect">
            <a:avLst/>
          </a:prstGeom>
          <a:ln w="12700" cap="flat" cmpd="sng">
            <a:noFill/>
            <a:prstDash val="solid"/>
            <a:round/>
          </a:ln>
        </p:spPr>
      </p:pic>
      <p:sp>
        <p:nvSpPr>
          <p:cNvPr id="4" name="AutoShape 4"/>
          <p:cNvSpPr/>
          <p:nvPr/>
        </p:nvSpPr>
        <p:spPr>
          <a:xfrm>
            <a:off x="812800" y="190500"/>
            <a:ext cx="2501900" cy="508000"/>
          </a:xfrm>
          <a:prstGeom prst="roundRect">
            <a:avLst>
              <a:gd name="adj" fmla="val 0"/>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2200" b="1" i="0" u="none" strike="noStrike">
                <a:solidFill>
                  <a:srgbClr val="FFFFFF"/>
                </a:solidFill>
                <a:latin typeface="微软雅黑"/>
                <a:ea typeface="微软雅黑"/>
                <a:cs typeface="微软雅黑"/>
                <a:sym typeface="微软雅黑"/>
              </a:rPr>
              <a:t>研究现状与缺口</a:t>
            </a:r>
            <a:endParaRPr lang="en-US" sz="1100"/>
          </a:p>
        </p:txBody>
      </p:sp>
      <p:grpSp>
        <p:nvGrpSpPr>
          <p:cNvPr id="27" name="组合 26">
            <a:extLst>
              <a:ext uri="{FF2B5EF4-FFF2-40B4-BE49-F238E27FC236}">
                <a16:creationId xmlns:a16="http://schemas.microsoft.com/office/drawing/2014/main" id="{C9E31411-22CC-225A-5152-C8679B6CF71A}"/>
              </a:ext>
            </a:extLst>
          </p:cNvPr>
          <p:cNvGrpSpPr/>
          <p:nvPr/>
        </p:nvGrpSpPr>
        <p:grpSpPr>
          <a:xfrm>
            <a:off x="457200" y="1092200"/>
            <a:ext cx="11176000" cy="4508500"/>
            <a:chOff x="508000" y="1651000"/>
            <a:chExt cx="11176000" cy="4508500"/>
          </a:xfrm>
        </p:grpSpPr>
        <p:sp>
          <p:nvSpPr>
            <p:cNvPr id="5" name="AutoShape 5"/>
            <p:cNvSpPr/>
            <p:nvPr/>
          </p:nvSpPr>
          <p:spPr>
            <a:xfrm>
              <a:off x="508000" y="1651000"/>
              <a:ext cx="3556000" cy="2095500"/>
            </a:xfrm>
            <a:prstGeom prst="roundRect">
              <a:avLst>
                <a:gd name="adj" fmla="val 0"/>
              </a:avLst>
            </a:prstGeom>
            <a:ln/>
          </p:spPr>
          <p:style>
            <a:lnRef idx="2">
              <a:schemeClr val="accent1"/>
            </a:lnRef>
            <a:fillRef idx="1">
              <a:schemeClr val="lt1"/>
            </a:fillRef>
            <a:effectRef idx="0">
              <a:schemeClr val="accent1"/>
            </a:effectRef>
            <a:fontRef idx="minor">
              <a:schemeClr val="dk1"/>
            </a:fontRef>
          </p:style>
          <p:txBody>
            <a:bodyPr vert="horz" wrap="square" lIns="0" tIns="0" rIns="0" bIns="0" rtlCol="0" anchor="ctr">
              <a:noAutofit/>
            </a:bodyPr>
            <a:lstStyle/>
            <a:p>
              <a:pPr marL="0" indent="0" algn="ctr" defTabSz="914400">
                <a:lnSpc>
                  <a:spcPct val="100000"/>
                </a:lnSpc>
                <a:defRPr/>
              </a:pPr>
              <a:r>
                <a:rPr lang="en-US" sz="1800" b="0" i="0" u="none" strike="noStrike">
                  <a:solidFill>
                    <a:srgbClr val="000000"/>
                  </a:solidFill>
                  <a:latin typeface="等线"/>
                  <a:ea typeface="等线"/>
                  <a:cs typeface="等线"/>
                  <a:sym typeface="等线"/>
                </a:rPr>
                <a:t> </a:t>
              </a:r>
              <a:endParaRPr lang="en-US" sz="1100"/>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500" y="1841500"/>
              <a:ext cx="304800" cy="304800"/>
            </a:xfrm>
            <a:prstGeom prst="rect">
              <a:avLst/>
            </a:prstGeom>
          </p:spPr>
        </p:pic>
        <p:sp>
          <p:nvSpPr>
            <p:cNvPr id="7" name="AutoShape 7"/>
            <p:cNvSpPr/>
            <p:nvPr/>
          </p:nvSpPr>
          <p:spPr>
            <a:xfrm>
              <a:off x="1079500" y="1841500"/>
              <a:ext cx="28575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600" b="1" i="0" u="none" strike="noStrike" dirty="0">
                  <a:solidFill>
                    <a:srgbClr val="0A3760"/>
                  </a:solidFill>
                  <a:latin typeface="Microsoft YaHei" panose="020B0503020204020204" pitchFamily="34" charset="-122"/>
                  <a:ea typeface="Microsoft YaHei" panose="020B0503020204020204" pitchFamily="34" charset="-122"/>
                  <a:cs typeface="Noto Sans SC"/>
                  <a:sym typeface="Noto Sans SC"/>
                </a:rPr>
                <a:t>01 </a:t>
              </a:r>
              <a:r>
                <a:rPr lang="en-US" sz="1600" b="1" i="0" u="none" strike="noStrike" dirty="0" err="1">
                  <a:solidFill>
                    <a:srgbClr val="0A3760"/>
                  </a:solidFill>
                  <a:latin typeface="Microsoft YaHei" panose="020B0503020204020204" pitchFamily="34" charset="-122"/>
                  <a:ea typeface="Microsoft YaHei" panose="020B0503020204020204" pitchFamily="34" charset="-122"/>
                  <a:cs typeface="Noto Sans SC"/>
                  <a:sym typeface="Noto Sans SC"/>
                </a:rPr>
                <a:t>传统目标检测：标注瓶颈</a:t>
              </a:r>
              <a:endParaRPr lang="en-US" sz="1100" dirty="0">
                <a:solidFill>
                  <a:srgbClr val="0A3760"/>
                </a:solidFill>
                <a:latin typeface="Microsoft YaHei" panose="020B0503020204020204" pitchFamily="34" charset="-122"/>
                <a:ea typeface="Microsoft YaHei" panose="020B0503020204020204" pitchFamily="34" charset="-122"/>
              </a:endParaRPr>
            </a:p>
          </p:txBody>
        </p:sp>
        <p:sp>
          <p:nvSpPr>
            <p:cNvPr id="8" name="AutoShape 8"/>
            <p:cNvSpPr/>
            <p:nvPr/>
          </p:nvSpPr>
          <p:spPr>
            <a:xfrm>
              <a:off x="698500" y="2349500"/>
              <a:ext cx="3175000" cy="12065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08333"/>
                </a:lnSpc>
                <a:defRPr/>
              </a:pPr>
              <a:r>
                <a:rPr lang="en-US" sz="13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长期依赖全监督学习，算法效果高度依赖高质量人工标注。数据的“质”与“量”难以协同供给，成为模型规模化训练的核心制约因素</a:t>
              </a:r>
              <a:r>
                <a:rPr lang="en-US" sz="13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9" name="AutoShape 9"/>
            <p:cNvSpPr/>
            <p:nvPr/>
          </p:nvSpPr>
          <p:spPr>
            <a:xfrm>
              <a:off x="4318000" y="1651000"/>
              <a:ext cx="3556000" cy="2095500"/>
            </a:xfrm>
            <a:prstGeom prst="roundRect">
              <a:avLst>
                <a:gd name="adj" fmla="val 0"/>
              </a:avLst>
            </a:prstGeom>
            <a:ln/>
          </p:spPr>
          <p:style>
            <a:lnRef idx="2">
              <a:schemeClr val="accent1"/>
            </a:lnRef>
            <a:fillRef idx="1">
              <a:schemeClr val="lt1"/>
            </a:fillRef>
            <a:effectRef idx="0">
              <a:schemeClr val="accent1"/>
            </a:effectRef>
            <a:fontRef idx="minor">
              <a:schemeClr val="dk1"/>
            </a:fontRef>
          </p:style>
          <p:txBody>
            <a:bodyPr vert="horz" wrap="square" lIns="0" tIns="0" rIns="0" bIns="0" rtlCol="0" anchor="ctr">
              <a:noAutofit/>
            </a:bodyPr>
            <a:lstStyle/>
            <a:p>
              <a:pPr marL="0" indent="0" algn="ctr" defTabSz="914400">
                <a:lnSpc>
                  <a:spcPct val="100000"/>
                </a:lnSpc>
                <a:defRPr/>
              </a:pPr>
              <a:r>
                <a:rPr lang="en-US" sz="1800" b="0" i="0" u="none" strike="noStrike">
                  <a:solidFill>
                    <a:srgbClr val="000000"/>
                  </a:solidFill>
                  <a:latin typeface="等线"/>
                  <a:ea typeface="等线"/>
                  <a:cs typeface="等线"/>
                  <a:sym typeface="等线"/>
                </a:rPr>
                <a:t> </a:t>
              </a:r>
              <a:endParaRPr lang="en-US" sz="1100"/>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08500" y="1841500"/>
              <a:ext cx="304800" cy="304800"/>
            </a:xfrm>
            <a:prstGeom prst="rect">
              <a:avLst/>
            </a:prstGeom>
          </p:spPr>
        </p:pic>
        <p:sp>
          <p:nvSpPr>
            <p:cNvPr id="11" name="AutoShape 11"/>
            <p:cNvSpPr/>
            <p:nvPr/>
          </p:nvSpPr>
          <p:spPr>
            <a:xfrm>
              <a:off x="4889500" y="1841500"/>
              <a:ext cx="28575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600" b="1" i="0" u="none" strike="noStrike" dirty="0">
                  <a:solidFill>
                    <a:srgbClr val="0A3760"/>
                  </a:solidFill>
                  <a:latin typeface="Microsoft YaHei" panose="020B0503020204020204" pitchFamily="34" charset="-122"/>
                  <a:ea typeface="Microsoft YaHei" panose="020B0503020204020204" pitchFamily="34" charset="-122"/>
                  <a:cs typeface="Noto Sans SC"/>
                  <a:sym typeface="Noto Sans SC"/>
                </a:rPr>
                <a:t>02 </a:t>
              </a:r>
              <a:r>
                <a:rPr lang="en-US" sz="1600" b="1" i="0" u="none" strike="noStrike" dirty="0" err="1">
                  <a:solidFill>
                    <a:srgbClr val="0A3760"/>
                  </a:solidFill>
                  <a:latin typeface="Microsoft YaHei" panose="020B0503020204020204" pitchFamily="34" charset="-122"/>
                  <a:ea typeface="Microsoft YaHei" panose="020B0503020204020204" pitchFamily="34" charset="-122"/>
                  <a:cs typeface="Noto Sans SC"/>
                  <a:sym typeface="Noto Sans SC"/>
                </a:rPr>
                <a:t>开放词汇检测：转化断层</a:t>
              </a:r>
              <a:endParaRPr lang="en-US" sz="1100" dirty="0">
                <a:solidFill>
                  <a:srgbClr val="0A3760"/>
                </a:solidFill>
                <a:latin typeface="Microsoft YaHei" panose="020B0503020204020204" pitchFamily="34" charset="-122"/>
                <a:ea typeface="Microsoft YaHei" panose="020B0503020204020204" pitchFamily="34" charset="-122"/>
              </a:endParaRPr>
            </a:p>
          </p:txBody>
        </p:sp>
        <p:sp>
          <p:nvSpPr>
            <p:cNvPr id="12" name="AutoShape 12"/>
            <p:cNvSpPr/>
            <p:nvPr/>
          </p:nvSpPr>
          <p:spPr>
            <a:xfrm>
              <a:off x="4508500" y="2349500"/>
              <a:ext cx="3175000" cy="12065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00000"/>
                </a:lnSpc>
                <a:defRPr/>
              </a:pPr>
              <a:r>
                <a:rPr lang="en-US" altLang="zh-CN" sz="13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Grounding DINO </a:t>
              </a:r>
              <a:r>
                <a:rPr lang="zh-CN" altLang="en-US" sz="13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等已实现开放世界定位，但对其检出结果向闭集训练标签转化过程的稳定性、以及伪标签驱动下游检测器的泛化效能，系统评估不足</a:t>
              </a:r>
              <a:r>
                <a:rPr lang="en-US" sz="13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13" name="AutoShape 13"/>
            <p:cNvSpPr/>
            <p:nvPr/>
          </p:nvSpPr>
          <p:spPr>
            <a:xfrm>
              <a:off x="8128000" y="1651000"/>
              <a:ext cx="3556000" cy="2095500"/>
            </a:xfrm>
            <a:prstGeom prst="roundRect">
              <a:avLst>
                <a:gd name="adj" fmla="val 0"/>
              </a:avLst>
            </a:prstGeom>
            <a:ln/>
          </p:spPr>
          <p:style>
            <a:lnRef idx="2">
              <a:schemeClr val="accent1"/>
            </a:lnRef>
            <a:fillRef idx="1">
              <a:schemeClr val="lt1"/>
            </a:fillRef>
            <a:effectRef idx="0">
              <a:schemeClr val="accent1"/>
            </a:effectRef>
            <a:fontRef idx="minor">
              <a:schemeClr val="dk1"/>
            </a:fontRef>
          </p:style>
          <p:txBody>
            <a:bodyPr vert="horz" wrap="square" lIns="0" tIns="0" rIns="0" bIns="0" rtlCol="0" anchor="ctr">
              <a:noAutofit/>
            </a:bodyPr>
            <a:lstStyle/>
            <a:p>
              <a:pPr marL="0" indent="0" algn="ctr" defTabSz="914400">
                <a:lnSpc>
                  <a:spcPct val="100000"/>
                </a:lnSpc>
                <a:defRPr/>
              </a:pPr>
              <a:r>
                <a:rPr lang="en-US" sz="1800" b="0" i="0" u="none" strike="noStrike">
                  <a:solidFill>
                    <a:srgbClr val="000000"/>
                  </a:solidFill>
                  <a:latin typeface="等线"/>
                  <a:ea typeface="等线"/>
                  <a:cs typeface="等线"/>
                  <a:sym typeface="等线"/>
                </a:rPr>
                <a:t> </a:t>
              </a:r>
              <a:endParaRPr lang="en-US" sz="1100"/>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18500" y="1841500"/>
              <a:ext cx="304800" cy="304800"/>
            </a:xfrm>
            <a:prstGeom prst="rect">
              <a:avLst/>
            </a:prstGeom>
          </p:spPr>
        </p:pic>
        <p:sp>
          <p:nvSpPr>
            <p:cNvPr id="15" name="AutoShape 15"/>
            <p:cNvSpPr/>
            <p:nvPr/>
          </p:nvSpPr>
          <p:spPr>
            <a:xfrm>
              <a:off x="8699500" y="1841500"/>
              <a:ext cx="28575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600" b="1" i="0" u="none" strike="noStrike" dirty="0">
                  <a:solidFill>
                    <a:srgbClr val="0A3760"/>
                  </a:solidFill>
                  <a:latin typeface="Microsoft YaHei" panose="020B0503020204020204" pitchFamily="34" charset="-122"/>
                  <a:ea typeface="Microsoft YaHei" panose="020B0503020204020204" pitchFamily="34" charset="-122"/>
                  <a:cs typeface="Noto Sans SC"/>
                  <a:sym typeface="Noto Sans SC"/>
                </a:rPr>
                <a:t>03 </a:t>
              </a:r>
              <a:r>
                <a:rPr lang="en-US" sz="1600" b="1" i="0" u="none" strike="noStrike" dirty="0" err="1">
                  <a:solidFill>
                    <a:srgbClr val="0A3760"/>
                  </a:solidFill>
                  <a:latin typeface="Microsoft YaHei" panose="020B0503020204020204" pitchFamily="34" charset="-122"/>
                  <a:ea typeface="Microsoft YaHei" panose="020B0503020204020204" pitchFamily="34" charset="-122"/>
                  <a:cs typeface="Noto Sans SC"/>
                  <a:sym typeface="Noto Sans SC"/>
                </a:rPr>
                <a:t>SAM系列：应用场景受限</a:t>
              </a:r>
              <a:endParaRPr lang="en-US" sz="1100" dirty="0">
                <a:solidFill>
                  <a:srgbClr val="0A3760"/>
                </a:solidFill>
                <a:latin typeface="Microsoft YaHei" panose="020B0503020204020204" pitchFamily="34" charset="-122"/>
                <a:ea typeface="Microsoft YaHei" panose="020B0503020204020204" pitchFamily="34" charset="-122"/>
              </a:endParaRPr>
            </a:p>
          </p:txBody>
        </p:sp>
        <p:sp>
          <p:nvSpPr>
            <p:cNvPr id="16" name="AutoShape 16"/>
            <p:cNvSpPr/>
            <p:nvPr/>
          </p:nvSpPr>
          <p:spPr>
            <a:xfrm>
              <a:off x="8318500" y="2349500"/>
              <a:ext cx="3175000" cy="12065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08333"/>
                </a:lnSpc>
                <a:defRPr/>
              </a:pPr>
              <a:r>
                <a:rPr lang="en-US" sz="13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虽提供细粒度空间信息，但鲜少验证其在审核、补漏及边界调整中的作用，且精细分割未必适配检测框的训练需求，存在转化鸿沟</a:t>
              </a:r>
              <a:r>
                <a:rPr lang="en-US" sz="13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17" name="AutoShape 17"/>
            <p:cNvSpPr/>
            <p:nvPr/>
          </p:nvSpPr>
          <p:spPr>
            <a:xfrm>
              <a:off x="508000" y="4064000"/>
              <a:ext cx="5461000" cy="2095500"/>
            </a:xfrm>
            <a:prstGeom prst="roundRect">
              <a:avLst>
                <a:gd name="adj" fmla="val 0"/>
              </a:avLst>
            </a:prstGeom>
            <a:ln/>
          </p:spPr>
          <p:style>
            <a:lnRef idx="2">
              <a:schemeClr val="accent1"/>
            </a:lnRef>
            <a:fillRef idx="1">
              <a:schemeClr val="lt1"/>
            </a:fillRef>
            <a:effectRef idx="0">
              <a:schemeClr val="accent1"/>
            </a:effectRef>
            <a:fontRef idx="minor">
              <a:schemeClr val="dk1"/>
            </a:fontRef>
          </p:style>
          <p:txBody>
            <a:bodyPr vert="horz" wrap="square" lIns="0" tIns="0" rIns="0" bIns="0" rtlCol="0" anchor="ctr">
              <a:noAutofit/>
            </a:bodyPr>
            <a:lstStyle/>
            <a:p>
              <a:pPr marL="0" indent="0" algn="ctr" defTabSz="914400">
                <a:lnSpc>
                  <a:spcPct val="100000"/>
                </a:lnSpc>
                <a:defRPr/>
              </a:pPr>
              <a:r>
                <a:rPr lang="en-US" sz="1800" b="0" i="0" u="none" strike="noStrike">
                  <a:solidFill>
                    <a:srgbClr val="000000"/>
                  </a:solidFill>
                  <a:latin typeface="等线"/>
                  <a:ea typeface="等线"/>
                  <a:cs typeface="等线"/>
                  <a:sym typeface="等线"/>
                </a:rPr>
                <a:t> </a:t>
              </a:r>
              <a:endParaRPr lang="en-US" sz="1100"/>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98500" y="4254500"/>
              <a:ext cx="304800" cy="304800"/>
            </a:xfrm>
            <a:prstGeom prst="rect">
              <a:avLst/>
            </a:prstGeom>
          </p:spPr>
        </p:pic>
        <p:sp>
          <p:nvSpPr>
            <p:cNvPr id="19" name="AutoShape 19"/>
            <p:cNvSpPr/>
            <p:nvPr/>
          </p:nvSpPr>
          <p:spPr>
            <a:xfrm>
              <a:off x="1079500" y="4254500"/>
              <a:ext cx="46990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600" b="1" i="0" u="none" strike="noStrike" dirty="0">
                  <a:solidFill>
                    <a:srgbClr val="0A3760"/>
                  </a:solidFill>
                  <a:latin typeface="Microsoft YaHei" panose="020B0503020204020204" pitchFamily="34" charset="-122"/>
                  <a:ea typeface="Microsoft YaHei" panose="020B0503020204020204" pitchFamily="34" charset="-122"/>
                  <a:cs typeface="Noto Sans SC"/>
                  <a:sym typeface="Noto Sans SC"/>
                </a:rPr>
                <a:t>04 </a:t>
              </a:r>
              <a:r>
                <a:rPr lang="en-US" sz="1600" b="1" i="0" u="none" strike="noStrike" dirty="0" err="1">
                  <a:solidFill>
                    <a:srgbClr val="0A3760"/>
                  </a:solidFill>
                  <a:latin typeface="Microsoft YaHei" panose="020B0503020204020204" pitchFamily="34" charset="-122"/>
                  <a:ea typeface="Microsoft YaHei" panose="020B0503020204020204" pitchFamily="34" charset="-122"/>
                  <a:cs typeface="Noto Sans SC"/>
                  <a:sym typeface="Noto Sans SC"/>
                </a:rPr>
                <a:t>自动标签评价：指标体系单一</a:t>
              </a:r>
              <a:endParaRPr lang="en-US" sz="1100" dirty="0">
                <a:solidFill>
                  <a:srgbClr val="0A3760"/>
                </a:solidFill>
                <a:latin typeface="Microsoft YaHei" panose="020B0503020204020204" pitchFamily="34" charset="-122"/>
                <a:ea typeface="Microsoft YaHei" panose="020B0503020204020204" pitchFamily="34" charset="-122"/>
              </a:endParaRPr>
            </a:p>
          </p:txBody>
        </p:sp>
        <p:sp>
          <p:nvSpPr>
            <p:cNvPr id="20" name="AutoShape 20"/>
            <p:cNvSpPr/>
            <p:nvPr/>
          </p:nvSpPr>
          <p:spPr>
            <a:xfrm>
              <a:off x="698500" y="4762500"/>
              <a:ext cx="5080000" cy="12065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08333"/>
                </a:lnSpc>
                <a:defRPr/>
              </a:pPr>
              <a:r>
                <a:rPr lang="en-US" sz="13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仅依靠标准IoU指标难以有效区分标注风格差异与真实定位偏差，无法准确判断伪标签是否真正适用于下游训练，需建立结合实际训练效果的综合评价体系。</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21" name="AutoShape 21"/>
            <p:cNvSpPr/>
            <p:nvPr/>
          </p:nvSpPr>
          <p:spPr>
            <a:xfrm>
              <a:off x="6223000" y="4064000"/>
              <a:ext cx="5461000" cy="2095500"/>
            </a:xfrm>
            <a:prstGeom prst="roundRect">
              <a:avLst>
                <a:gd name="adj" fmla="val 0"/>
              </a:avLst>
            </a:prstGeom>
            <a:ln/>
          </p:spPr>
          <p:style>
            <a:lnRef idx="2">
              <a:schemeClr val="accent1"/>
            </a:lnRef>
            <a:fillRef idx="1">
              <a:schemeClr val="lt1"/>
            </a:fillRef>
            <a:effectRef idx="0">
              <a:schemeClr val="accent1"/>
            </a:effectRef>
            <a:fontRef idx="minor">
              <a:schemeClr val="dk1"/>
            </a:fontRef>
          </p:style>
          <p:txBody>
            <a:bodyPr vert="horz" wrap="square" lIns="0" tIns="0" rIns="0" bIns="0" rtlCol="0" anchor="ctr">
              <a:noAutofit/>
            </a:bodyPr>
            <a:lstStyle/>
            <a:p>
              <a:pPr marL="0" indent="0" algn="ctr" defTabSz="914400">
                <a:lnSpc>
                  <a:spcPct val="100000"/>
                </a:lnSpc>
                <a:defRPr/>
              </a:pPr>
              <a:r>
                <a:rPr lang="en-US" sz="1800" b="0" i="0" u="none" strike="noStrike">
                  <a:solidFill>
                    <a:srgbClr val="000000"/>
                  </a:solidFill>
                  <a:latin typeface="等线"/>
                  <a:ea typeface="等线"/>
                  <a:cs typeface="等线"/>
                  <a:sym typeface="等线"/>
                </a:rPr>
                <a:t> </a:t>
              </a:r>
              <a:endParaRPr lang="en-US" sz="1100"/>
            </a:p>
          </p:txBody>
        </p:sp>
        <p:pic>
          <p:nvPicPr>
            <p:cNvPr id="22" name="Picture 22"/>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13500" y="4254500"/>
              <a:ext cx="304800" cy="304800"/>
            </a:xfrm>
            <a:prstGeom prst="rect">
              <a:avLst/>
            </a:prstGeom>
          </p:spPr>
        </p:pic>
        <p:sp>
          <p:nvSpPr>
            <p:cNvPr id="23" name="AutoShape 23"/>
            <p:cNvSpPr/>
            <p:nvPr/>
          </p:nvSpPr>
          <p:spPr>
            <a:xfrm>
              <a:off x="6794500" y="4254500"/>
              <a:ext cx="46990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600" b="1" i="0" u="none" strike="noStrike" dirty="0">
                  <a:solidFill>
                    <a:srgbClr val="0A3760"/>
                  </a:solidFill>
                  <a:latin typeface="Microsoft YaHei" panose="020B0503020204020204" pitchFamily="34" charset="-122"/>
                  <a:ea typeface="Microsoft YaHei" panose="020B0503020204020204" pitchFamily="34" charset="-122"/>
                  <a:cs typeface="Noto Sans SC"/>
                  <a:sym typeface="Noto Sans SC"/>
                </a:rPr>
                <a:t>05 </a:t>
              </a:r>
              <a:r>
                <a:rPr lang="en-US" sz="1600" b="1" i="0" u="none" strike="noStrike" dirty="0" err="1">
                  <a:solidFill>
                    <a:srgbClr val="0A3760"/>
                  </a:solidFill>
                  <a:latin typeface="Microsoft YaHei" panose="020B0503020204020204" pitchFamily="34" charset="-122"/>
                  <a:ea typeface="Microsoft YaHei" panose="020B0503020204020204" pitchFamily="34" charset="-122"/>
                  <a:cs typeface="Noto Sans SC"/>
                  <a:sym typeface="Noto Sans SC"/>
                </a:rPr>
                <a:t>数据制备：范式动态适配缺失</a:t>
              </a:r>
              <a:endParaRPr lang="en-US" sz="1100" dirty="0">
                <a:solidFill>
                  <a:srgbClr val="0A3760"/>
                </a:solidFill>
                <a:latin typeface="Microsoft YaHei" panose="020B0503020204020204" pitchFamily="34" charset="-122"/>
                <a:ea typeface="Microsoft YaHei" panose="020B0503020204020204" pitchFamily="34" charset="-122"/>
              </a:endParaRPr>
            </a:p>
          </p:txBody>
        </p:sp>
        <p:sp>
          <p:nvSpPr>
            <p:cNvPr id="24" name="AutoShape 24"/>
            <p:cNvSpPr/>
            <p:nvPr/>
          </p:nvSpPr>
          <p:spPr>
            <a:xfrm>
              <a:off x="6413500" y="4762500"/>
              <a:ext cx="5080000" cy="12065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08333"/>
                </a:lnSpc>
                <a:defRPr/>
              </a:pPr>
              <a:r>
                <a:rPr lang="en-US" sz="13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现有研究虽证明基础模型可减轻标注负担，但缺乏从系统工程视角，针对不同数据规模探讨标注范式的动态选择与效率优化，难以适配多样化的训练场景需求。</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grpSp>
      <p:sp>
        <p:nvSpPr>
          <p:cNvPr id="26" name="AutoShape 8">
            <a:extLst>
              <a:ext uri="{FF2B5EF4-FFF2-40B4-BE49-F238E27FC236}">
                <a16:creationId xmlns:a16="http://schemas.microsoft.com/office/drawing/2014/main" id="{454D9460-D9EB-7C17-9DC0-443D95E2737C}"/>
              </a:ext>
            </a:extLst>
          </p:cNvPr>
          <p:cNvSpPr/>
          <p:nvPr/>
        </p:nvSpPr>
        <p:spPr>
          <a:xfrm>
            <a:off x="-12383" y="5727700"/>
            <a:ext cx="12115165" cy="409575"/>
          </a:xfrm>
          <a:prstGeom prst="roundRect">
            <a:avLst>
              <a:gd name="adj" fmla="val 50000"/>
            </a:avLst>
          </a:prstGeom>
          <a:noFill/>
          <a:ln w="12700" cap="flat" cmpd="sng">
            <a:noFill/>
            <a:prstDash val="solid"/>
            <a:round/>
          </a:ln>
        </p:spPr>
        <p:txBody>
          <a:bodyPr vert="horz" wrap="square" lIns="91440" tIns="45720" rIns="91440" bIns="45720" rtlCol="0" anchor="t">
            <a:noAutofit/>
          </a:bodyPr>
          <a:lstStyle/>
          <a:p>
            <a:pPr marL="0" indent="457200" algn="just" defTabSz="914400">
              <a:lnSpc>
                <a:spcPct val="150000"/>
              </a:lnSpc>
              <a:defRPr/>
            </a:pPr>
            <a:r>
              <a:rPr lang="en-US" b="1" i="0" u="none" strike="noStrike" dirty="0">
                <a:solidFill>
                  <a:srgbClr val="FF0000"/>
                </a:solidFill>
                <a:latin typeface="微软雅黑"/>
                <a:ea typeface="微软雅黑"/>
                <a:cs typeface="微软雅黑"/>
                <a:sym typeface="微软雅黑"/>
              </a:rPr>
              <a:t>本文把人工标注、V1 </a:t>
            </a:r>
            <a:r>
              <a:rPr lang="en-US" b="1" i="0" u="none" strike="noStrike" dirty="0" err="1">
                <a:solidFill>
                  <a:srgbClr val="FF0000"/>
                </a:solidFill>
                <a:latin typeface="微软雅黑"/>
                <a:ea typeface="微软雅黑"/>
                <a:cs typeface="微软雅黑"/>
                <a:sym typeface="微软雅黑"/>
              </a:rPr>
              <a:t>单级自动化和</a:t>
            </a:r>
            <a:r>
              <a:rPr lang="en-US" b="1" i="0" u="none" strike="noStrike" dirty="0">
                <a:solidFill>
                  <a:srgbClr val="FF0000"/>
                </a:solidFill>
                <a:latin typeface="微软雅黑"/>
                <a:ea typeface="微软雅黑"/>
                <a:cs typeface="微软雅黑"/>
                <a:sym typeface="微软雅黑"/>
              </a:rPr>
              <a:t> SAM3 </a:t>
            </a:r>
            <a:r>
              <a:rPr lang="en-US" b="1" i="0" u="none" strike="noStrike" dirty="0" err="1">
                <a:solidFill>
                  <a:srgbClr val="FF0000"/>
                </a:solidFill>
                <a:latin typeface="微软雅黑"/>
                <a:ea typeface="微软雅黑"/>
                <a:cs typeface="微软雅黑"/>
                <a:sym typeface="微软雅黑"/>
              </a:rPr>
              <a:t>级联方案放在</a:t>
            </a:r>
            <a:r>
              <a:rPr lang="en-US" b="1" i="0" u="none" strike="noStrike" dirty="0">
                <a:solidFill>
                  <a:srgbClr val="FF0000"/>
                </a:solidFill>
                <a:latin typeface="微软雅黑"/>
                <a:ea typeface="微软雅黑"/>
                <a:cs typeface="微软雅黑"/>
                <a:sym typeface="微软雅黑"/>
              </a:rPr>
              <a:t> 1k、10k、100k </a:t>
            </a:r>
            <a:r>
              <a:rPr lang="en-US" b="1" i="0" u="none" strike="noStrike" dirty="0" err="1">
                <a:solidFill>
                  <a:srgbClr val="FF0000"/>
                </a:solidFill>
                <a:latin typeface="微软雅黑"/>
                <a:ea typeface="微软雅黑"/>
                <a:cs typeface="微软雅黑"/>
                <a:sym typeface="微软雅黑"/>
              </a:rPr>
              <a:t>三种规模下比较，用</a:t>
            </a:r>
            <a:r>
              <a:rPr lang="en-US" b="1" i="0" u="none" strike="noStrike" dirty="0">
                <a:solidFill>
                  <a:srgbClr val="FF0000"/>
                </a:solidFill>
                <a:latin typeface="微软雅黑"/>
                <a:ea typeface="微软雅黑"/>
                <a:cs typeface="微软雅黑"/>
                <a:sym typeface="微软雅黑"/>
              </a:rPr>
              <a:t> Pareto </a:t>
            </a:r>
            <a:r>
              <a:rPr lang="en-US" b="1" i="0" u="none" strike="noStrike" dirty="0" err="1">
                <a:solidFill>
                  <a:srgbClr val="FF0000"/>
                </a:solidFill>
                <a:latin typeface="微软雅黑"/>
                <a:ea typeface="微软雅黑"/>
                <a:cs typeface="微软雅黑"/>
                <a:sym typeface="微软雅黑"/>
              </a:rPr>
              <a:t>关系筛选流程</a:t>
            </a:r>
            <a:r>
              <a:rPr lang="en-US" b="1" i="0" u="none" strike="noStrike" dirty="0">
                <a:solidFill>
                  <a:srgbClr val="FF0000"/>
                </a:solidFill>
                <a:latin typeface="微软雅黑"/>
                <a:ea typeface="微软雅黑"/>
                <a:cs typeface="微软雅黑"/>
                <a:sym typeface="微软雅黑"/>
              </a:rPr>
              <a:t>。</a:t>
            </a:r>
            <a:endParaRPr lang="en-US" dirty="0"/>
          </a:p>
          <a:p>
            <a:pPr marL="0" indent="0" algn="l" defTabSz="914400">
              <a:lnSpc>
                <a:spcPct val="150000"/>
              </a:lnSpc>
            </a:pPr>
            <a:r>
              <a:rPr lang="en-US" b="0" i="0" u="none" strike="noStrike" dirty="0">
                <a:solidFill>
                  <a:srgbClr val="000000"/>
                </a:solidFill>
                <a:latin typeface="等线"/>
                <a:ea typeface="等线"/>
                <a:cs typeface="等线"/>
                <a:sym typeface="等线"/>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934" y="0"/>
            <a:ext cx="12214934" cy="3616960"/>
          </a:xfrm>
          <a:prstGeom prst="rect">
            <a:avLst/>
          </a:prstGeom>
          <a:solidFill>
            <a:srgbClr val="0A3760">
              <a:alpha val="100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pic>
        <p:nvPicPr>
          <p:cNvPr id="3" name="Picture 3"/>
          <p:cNvPicPr>
            <a:picLocks noChangeAspect="1"/>
          </p:cNvPicPr>
          <p:nvPr/>
        </p:nvPicPr>
        <p:blipFill>
          <a:blip r:embed="rId3"/>
          <a:srcRect/>
          <a:stretch>
            <a:fillRect/>
          </a:stretch>
        </p:blipFill>
        <p:spPr>
          <a:xfrm>
            <a:off x="4179656" y="602203"/>
            <a:ext cx="3832687" cy="1112297"/>
          </a:xfrm>
          <a:prstGeom prst="rect">
            <a:avLst/>
          </a:prstGeom>
          <a:ln w="12700">
            <a:noFill/>
            <a:prstDash val="solid"/>
          </a:ln>
        </p:spPr>
      </p:pic>
      <p:sp>
        <p:nvSpPr>
          <p:cNvPr id="4" name="Freeform 4"/>
          <p:cNvSpPr/>
          <p:nvPr/>
        </p:nvSpPr>
        <p:spPr>
          <a:xfrm>
            <a:off x="2965173" y="2922324"/>
            <a:ext cx="6261654" cy="1348631"/>
          </a:xfrm>
          <a:custGeom>
            <a:avLst/>
            <a:gdLst/>
            <a:ahLst/>
            <a:cxnLst/>
            <a:rect l="l" t="t" r="r" b="b"/>
            <a:pathLst>
              <a:path w="6261654" h="1348631">
                <a:moveTo>
                  <a:pt x="674315" y="0"/>
                </a:moveTo>
                <a:lnTo>
                  <a:pt x="674326" y="1"/>
                </a:lnTo>
                <a:lnTo>
                  <a:pt x="5558735" y="1"/>
                </a:lnTo>
                <a:lnTo>
                  <a:pt x="5558735" y="2885"/>
                </a:lnTo>
                <a:lnTo>
                  <a:pt x="5587340" y="1"/>
                </a:lnTo>
                <a:cubicBezTo>
                  <a:pt x="5959753" y="1"/>
                  <a:pt x="6261654" y="301902"/>
                  <a:pt x="6261654" y="674315"/>
                </a:cubicBezTo>
                <a:cubicBezTo>
                  <a:pt x="6261654" y="1046730"/>
                  <a:pt x="5959753" y="1348631"/>
                  <a:pt x="5587340"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FFFFFF">
              <a:alpha val="100000"/>
            </a:srgbClr>
          </a:solidFill>
          <a:ln w="38100" cap="flat">
            <a:solidFill>
              <a:srgbClr val="0A3760">
                <a:alpha val="100000"/>
              </a:srgbClr>
            </a:solidFill>
            <a:prstDash val="solid"/>
          </a:ln>
          <a:effectLst>
            <a:outerShdw blurRad="63500" sx="102000" sy="102000" algn="ctr" rotWithShape="0">
              <a:srgbClr val="000000">
                <a:alpha val="40000"/>
              </a:srgbClr>
            </a:outerShdw>
          </a:effectLst>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5" name="AutoShape 5"/>
          <p:cNvSpPr/>
          <p:nvPr/>
        </p:nvSpPr>
        <p:spPr>
          <a:xfrm>
            <a:off x="4103370" y="3271520"/>
            <a:ext cx="5932170" cy="645160"/>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600" b="1" i="0" u="none" strike="noStrike">
                <a:solidFill>
                  <a:srgbClr val="000000"/>
                </a:solidFill>
                <a:latin typeface="微软雅黑"/>
                <a:ea typeface="微软雅黑"/>
                <a:cs typeface="微软雅黑"/>
                <a:sym typeface="微软雅黑"/>
              </a:rPr>
              <a:t>3. 研究内容与路线</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AutoShape 2"/>
          <p:cNvSpPr/>
          <p:nvPr/>
        </p:nvSpPr>
        <p:spPr>
          <a:xfrm>
            <a:off x="3978455" y="222170"/>
            <a:ext cx="2915285" cy="34480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650" b="1" i="0" u="none" strike="noStrike" dirty="0" err="1">
                <a:solidFill>
                  <a:srgbClr val="2C3E50"/>
                </a:solidFill>
                <a:latin typeface="微软雅黑"/>
                <a:ea typeface="微软雅黑"/>
                <a:cs typeface="微软雅黑"/>
                <a:sym typeface="微软雅黑"/>
              </a:rPr>
              <a:t>火烟伪标签级联生产与验证技术路线</a:t>
            </a:r>
            <a:endParaRPr lang="en-US" sz="1100" dirty="0"/>
          </a:p>
        </p:txBody>
      </p:sp>
      <p:sp>
        <p:nvSpPr>
          <p:cNvPr id="3" name="Freeform 3"/>
          <p:cNvSpPr/>
          <p:nvPr/>
        </p:nvSpPr>
        <p:spPr>
          <a:xfrm>
            <a:off x="1158875" y="719455"/>
            <a:ext cx="1905000" cy="2286000"/>
          </a:xfrm>
          <a:custGeom>
            <a:avLst/>
            <a:gdLst/>
            <a:ahLst/>
            <a:cxnLst/>
            <a:rect l="l" t="t" r="r" b="b"/>
            <a:pathLst>
              <a:path w="1905000" h="2286000">
                <a:moveTo>
                  <a:pt x="1828800" y="0"/>
                </a:moveTo>
                <a:cubicBezTo>
                  <a:pt x="1870884" y="0"/>
                  <a:pt x="1905000" y="0"/>
                  <a:pt x="1905000" y="0"/>
                </a:cubicBezTo>
                <a:lnTo>
                  <a:pt x="1905000" y="2286000"/>
                </a:lnTo>
                <a:cubicBezTo>
                  <a:pt x="1905000" y="2286000"/>
                  <a:pt x="1870884" y="2286000"/>
                  <a:pt x="1828800" y="2286000"/>
                </a:cubicBezTo>
                <a:lnTo>
                  <a:pt x="76200" y="2286000"/>
                </a:lnTo>
                <a:cubicBezTo>
                  <a:pt x="34116" y="2286000"/>
                  <a:pt x="0" y="2286000"/>
                  <a:pt x="0" y="2286000"/>
                </a:cubicBezTo>
                <a:lnTo>
                  <a:pt x="0" y="0"/>
                </a:lnTo>
                <a:cubicBezTo>
                  <a:pt x="0" y="0"/>
                  <a:pt x="34116" y="0"/>
                  <a:pt x="76200" y="0"/>
                </a:cubicBezTo>
                <a:close/>
              </a:path>
            </a:pathLst>
          </a:custGeom>
          <a:solidFill>
            <a:srgbClr val="E8F4F8">
              <a:alpha val="100000"/>
            </a:srgbClr>
          </a:solidFill>
          <a:ln w="12700" cap="flat" cmpd="sng">
            <a:solidFill>
              <a:srgbClr val="3498DB">
                <a:alpha val="100000"/>
              </a:srgbClr>
            </a:solidFill>
            <a:prstDash val="solid"/>
            <a:miter lim="1000000"/>
          </a:ln>
        </p:spPr>
        <p:txBody>
          <a:bodyPr vert="horz" wrap="square" lIns="91440" tIns="45720" rIns="91440" bIns="45720" rtlCol="0" anchor="ctr" anchorCtr="0"/>
          <a:lstStyle/>
          <a:p>
            <a:pPr algn="l">
              <a:defRPr/>
            </a:pPr>
            <a:endParaRPr/>
          </a:p>
        </p:txBody>
      </p:sp>
      <p:sp>
        <p:nvSpPr>
          <p:cNvPr id="4" name="AutoShape 4"/>
          <p:cNvSpPr/>
          <p:nvPr/>
        </p:nvSpPr>
        <p:spPr>
          <a:xfrm>
            <a:off x="1158695" y="731520"/>
            <a:ext cx="1672590" cy="27241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200" b="1" i="0" u="none" strike="noStrike" dirty="0" err="1">
                <a:solidFill>
                  <a:srgbClr val="2C3E50"/>
                </a:solidFill>
                <a:latin typeface="微软雅黑"/>
                <a:ea typeface="微软雅黑"/>
                <a:cs typeface="微软雅黑"/>
                <a:sym typeface="微软雅黑"/>
              </a:rPr>
              <a:t>阶段一：数据与测试治理</a:t>
            </a:r>
            <a:endParaRPr lang="en-US" sz="1100" dirty="0"/>
          </a:p>
        </p:txBody>
      </p:sp>
      <p:sp>
        <p:nvSpPr>
          <p:cNvPr id="5" name="Freeform 5"/>
          <p:cNvSpPr/>
          <p:nvPr/>
        </p:nvSpPr>
        <p:spPr>
          <a:xfrm>
            <a:off x="1311275" y="1024255"/>
            <a:ext cx="1600200" cy="304800"/>
          </a:xfrm>
          <a:custGeom>
            <a:avLst/>
            <a:gdLst/>
            <a:ahLst/>
            <a:cxnLst/>
            <a:rect l="l" t="t" r="r" b="b"/>
            <a:pathLst>
              <a:path w="1600200" h="304800">
                <a:moveTo>
                  <a:pt x="1562100" y="0"/>
                </a:moveTo>
                <a:cubicBezTo>
                  <a:pt x="1583143" y="0"/>
                  <a:pt x="1600200" y="0"/>
                  <a:pt x="1600200" y="0"/>
                </a:cubicBezTo>
                <a:lnTo>
                  <a:pt x="1600200" y="304800"/>
                </a:lnTo>
                <a:cubicBezTo>
                  <a:pt x="1600200" y="304800"/>
                  <a:pt x="1583143" y="304800"/>
                  <a:pt x="1562100" y="304800"/>
                </a:cubicBezTo>
                <a:lnTo>
                  <a:pt x="38100" y="304800"/>
                </a:lnTo>
                <a:cubicBezTo>
                  <a:pt x="17057" y="304800"/>
                  <a:pt x="0" y="304800"/>
                  <a:pt x="0" y="304800"/>
                </a:cubicBezTo>
                <a:lnTo>
                  <a:pt x="0" y="0"/>
                </a:lnTo>
                <a:cubicBezTo>
                  <a:pt x="0" y="0"/>
                  <a:pt x="17057" y="0"/>
                  <a:pt x="38100" y="0"/>
                </a:cubicBezTo>
                <a:close/>
              </a:path>
            </a:pathLst>
          </a:custGeom>
          <a:solidFill>
            <a:srgbClr val="3498DB">
              <a:alpha val="100000"/>
            </a:srgbClr>
          </a:solidFill>
          <a:ln w="12700" cap="flat" cmpd="sng">
            <a:solidFill>
              <a:srgbClr val="2980B9">
                <a:alpha val="100000"/>
              </a:srgbClr>
            </a:solidFill>
            <a:prstDash val="solid"/>
            <a:miter lim="1000000"/>
          </a:ln>
        </p:spPr>
        <p:txBody>
          <a:bodyPr vert="horz" wrap="square" lIns="91440" tIns="45720" rIns="91440" bIns="45720" rtlCol="0" anchor="ctr" anchorCtr="0"/>
          <a:lstStyle/>
          <a:p>
            <a:pPr algn="l">
              <a:defRPr/>
            </a:pPr>
            <a:endParaRPr/>
          </a:p>
        </p:txBody>
      </p:sp>
      <p:sp>
        <p:nvSpPr>
          <p:cNvPr id="6" name="AutoShape 6"/>
          <p:cNvSpPr/>
          <p:nvPr/>
        </p:nvSpPr>
        <p:spPr>
          <a:xfrm>
            <a:off x="1537335" y="1072515"/>
            <a:ext cx="114808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a:solidFill>
                  <a:srgbClr val="FFFFFF"/>
                </a:solidFill>
                <a:latin typeface="微软雅黑"/>
                <a:ea typeface="微软雅黑"/>
                <a:cs typeface="微软雅黑"/>
                <a:sym typeface="微软雅黑"/>
              </a:rPr>
              <a:t>多源火烟图像</a:t>
            </a:r>
            <a:endParaRPr lang="en-US" sz="1100"/>
          </a:p>
        </p:txBody>
      </p:sp>
      <p:sp>
        <p:nvSpPr>
          <p:cNvPr id="7" name="Freeform 7"/>
          <p:cNvSpPr/>
          <p:nvPr/>
        </p:nvSpPr>
        <p:spPr>
          <a:xfrm>
            <a:off x="1311275" y="1440815"/>
            <a:ext cx="1600200" cy="304800"/>
          </a:xfrm>
          <a:custGeom>
            <a:avLst/>
            <a:gdLst/>
            <a:ahLst/>
            <a:cxnLst/>
            <a:rect l="l" t="t" r="r" b="b"/>
            <a:pathLst>
              <a:path w="1600200" h="304800">
                <a:moveTo>
                  <a:pt x="1562100" y="0"/>
                </a:moveTo>
                <a:cubicBezTo>
                  <a:pt x="1583143" y="0"/>
                  <a:pt x="1600200" y="0"/>
                  <a:pt x="1600200" y="0"/>
                </a:cubicBezTo>
                <a:lnTo>
                  <a:pt x="1600200" y="304800"/>
                </a:lnTo>
                <a:cubicBezTo>
                  <a:pt x="1600200" y="304800"/>
                  <a:pt x="1583143" y="304800"/>
                  <a:pt x="1562100" y="304800"/>
                </a:cubicBezTo>
                <a:lnTo>
                  <a:pt x="38100" y="304800"/>
                </a:lnTo>
                <a:cubicBezTo>
                  <a:pt x="17057" y="304800"/>
                  <a:pt x="0" y="304800"/>
                  <a:pt x="0" y="304800"/>
                </a:cubicBezTo>
                <a:lnTo>
                  <a:pt x="0" y="0"/>
                </a:lnTo>
                <a:cubicBezTo>
                  <a:pt x="0" y="0"/>
                  <a:pt x="17057" y="0"/>
                  <a:pt x="38100" y="0"/>
                </a:cubicBezTo>
                <a:close/>
              </a:path>
            </a:pathLst>
          </a:custGeom>
          <a:solidFill>
            <a:srgbClr val="3498DB">
              <a:alpha val="100000"/>
            </a:srgbClr>
          </a:solidFill>
          <a:ln w="12700" cap="flat" cmpd="sng">
            <a:solidFill>
              <a:srgbClr val="2980B9">
                <a:alpha val="100000"/>
              </a:srgbClr>
            </a:solidFill>
            <a:prstDash val="solid"/>
            <a:miter lim="1000000"/>
          </a:ln>
        </p:spPr>
        <p:txBody>
          <a:bodyPr vert="horz" wrap="square" lIns="91440" tIns="45720" rIns="91440" bIns="45720" rtlCol="0" anchor="ctr" anchorCtr="0"/>
          <a:lstStyle/>
          <a:p>
            <a:pPr algn="l">
              <a:defRPr/>
            </a:pPr>
            <a:endParaRPr/>
          </a:p>
        </p:txBody>
      </p:sp>
      <p:sp>
        <p:nvSpPr>
          <p:cNvPr id="8" name="AutoShape 8"/>
          <p:cNvSpPr/>
          <p:nvPr/>
        </p:nvSpPr>
        <p:spPr>
          <a:xfrm>
            <a:off x="1456055" y="1471295"/>
            <a:ext cx="97536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训练</a:t>
            </a:r>
            <a:r>
              <a:rPr lang="en-US" sz="900" b="0" i="0" u="none" strike="noStrike" dirty="0">
                <a:solidFill>
                  <a:srgbClr val="FFFFFF"/>
                </a:solidFill>
                <a:latin typeface="微软雅黑"/>
                <a:ea typeface="微软雅黑"/>
                <a:cs typeface="微软雅黑"/>
                <a:sym typeface="微软雅黑"/>
              </a:rPr>
              <a:t>/</a:t>
            </a:r>
            <a:r>
              <a:rPr lang="en-US" sz="900" b="0" i="0" u="none" strike="noStrike" dirty="0" err="1">
                <a:solidFill>
                  <a:srgbClr val="FFFFFF"/>
                </a:solidFill>
                <a:latin typeface="微软雅黑"/>
                <a:ea typeface="微软雅黑"/>
                <a:cs typeface="微软雅黑"/>
                <a:sym typeface="微软雅黑"/>
              </a:rPr>
              <a:t>开发</a:t>
            </a:r>
            <a:r>
              <a:rPr lang="en-US" sz="900" b="0" i="0" u="none" strike="noStrike" dirty="0">
                <a:solidFill>
                  <a:srgbClr val="FFFFFF"/>
                </a:solidFill>
                <a:latin typeface="微软雅黑"/>
                <a:ea typeface="微软雅黑"/>
                <a:cs typeface="微软雅黑"/>
                <a:sym typeface="微软雅黑"/>
              </a:rPr>
              <a:t>/</a:t>
            </a:r>
            <a:r>
              <a:rPr lang="en-US" sz="900" b="0" i="0" u="none" strike="noStrike" dirty="0" err="1">
                <a:solidFill>
                  <a:srgbClr val="FFFFFF"/>
                </a:solidFill>
                <a:latin typeface="微软雅黑"/>
                <a:ea typeface="微软雅黑"/>
                <a:cs typeface="微软雅黑"/>
                <a:sym typeface="微软雅黑"/>
              </a:rPr>
              <a:t>隔离测试集划分</a:t>
            </a:r>
            <a:endParaRPr lang="en-US" sz="1100" dirty="0"/>
          </a:p>
        </p:txBody>
      </p:sp>
      <p:sp>
        <p:nvSpPr>
          <p:cNvPr id="9" name="Freeform 9"/>
          <p:cNvSpPr/>
          <p:nvPr/>
        </p:nvSpPr>
        <p:spPr>
          <a:xfrm>
            <a:off x="1311275" y="1786255"/>
            <a:ext cx="1600200" cy="304800"/>
          </a:xfrm>
          <a:custGeom>
            <a:avLst/>
            <a:gdLst/>
            <a:ahLst/>
            <a:cxnLst/>
            <a:rect l="l" t="t" r="r" b="b"/>
            <a:pathLst>
              <a:path w="1600200" h="304800">
                <a:moveTo>
                  <a:pt x="1562100" y="0"/>
                </a:moveTo>
                <a:cubicBezTo>
                  <a:pt x="1583143" y="0"/>
                  <a:pt x="1600200" y="0"/>
                  <a:pt x="1600200" y="0"/>
                </a:cubicBezTo>
                <a:lnTo>
                  <a:pt x="1600200" y="304800"/>
                </a:lnTo>
                <a:cubicBezTo>
                  <a:pt x="1600200" y="304800"/>
                  <a:pt x="1583143" y="304800"/>
                  <a:pt x="1562100" y="304800"/>
                </a:cubicBezTo>
                <a:lnTo>
                  <a:pt x="38100" y="304800"/>
                </a:lnTo>
                <a:cubicBezTo>
                  <a:pt x="17057" y="304800"/>
                  <a:pt x="0" y="304800"/>
                  <a:pt x="0" y="304800"/>
                </a:cubicBezTo>
                <a:lnTo>
                  <a:pt x="0" y="0"/>
                </a:lnTo>
                <a:cubicBezTo>
                  <a:pt x="0" y="0"/>
                  <a:pt x="17057" y="0"/>
                  <a:pt x="38100" y="0"/>
                </a:cubicBezTo>
                <a:close/>
              </a:path>
            </a:pathLst>
          </a:custGeom>
          <a:solidFill>
            <a:srgbClr val="3498DB">
              <a:alpha val="100000"/>
            </a:srgbClr>
          </a:solidFill>
          <a:ln w="12700" cap="flat" cmpd="sng">
            <a:solidFill>
              <a:srgbClr val="2980B9">
                <a:alpha val="100000"/>
              </a:srgbClr>
            </a:solidFill>
            <a:prstDash val="solid"/>
            <a:miter lim="1000000"/>
          </a:ln>
        </p:spPr>
        <p:txBody>
          <a:bodyPr vert="horz" wrap="square" lIns="91440" tIns="45720" rIns="91440" bIns="45720" rtlCol="0" anchor="ctr" anchorCtr="0"/>
          <a:lstStyle/>
          <a:p>
            <a:pPr algn="l">
              <a:defRPr/>
            </a:pPr>
            <a:endParaRPr/>
          </a:p>
        </p:txBody>
      </p:sp>
      <p:sp>
        <p:nvSpPr>
          <p:cNvPr id="10" name="AutoShape 10"/>
          <p:cNvSpPr/>
          <p:nvPr/>
        </p:nvSpPr>
        <p:spPr>
          <a:xfrm>
            <a:off x="1410515" y="1840865"/>
            <a:ext cx="97536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数据谱系与元数据版本固化</a:t>
            </a:r>
            <a:endParaRPr lang="en-US" sz="1100" dirty="0"/>
          </a:p>
        </p:txBody>
      </p:sp>
      <p:sp>
        <p:nvSpPr>
          <p:cNvPr id="11" name="Freeform 11"/>
          <p:cNvSpPr/>
          <p:nvPr/>
        </p:nvSpPr>
        <p:spPr>
          <a:xfrm>
            <a:off x="1311275" y="2167255"/>
            <a:ext cx="1600200" cy="304800"/>
          </a:xfrm>
          <a:custGeom>
            <a:avLst/>
            <a:gdLst/>
            <a:ahLst/>
            <a:cxnLst/>
            <a:rect l="l" t="t" r="r" b="b"/>
            <a:pathLst>
              <a:path w="1600200" h="304800">
                <a:moveTo>
                  <a:pt x="1562100" y="0"/>
                </a:moveTo>
                <a:cubicBezTo>
                  <a:pt x="1583143" y="0"/>
                  <a:pt x="1600200" y="0"/>
                  <a:pt x="1600200" y="0"/>
                </a:cubicBezTo>
                <a:lnTo>
                  <a:pt x="1600200" y="304800"/>
                </a:lnTo>
                <a:cubicBezTo>
                  <a:pt x="1600200" y="304800"/>
                  <a:pt x="1583143" y="304800"/>
                  <a:pt x="1562100" y="304800"/>
                </a:cubicBezTo>
                <a:lnTo>
                  <a:pt x="38100" y="304800"/>
                </a:lnTo>
                <a:cubicBezTo>
                  <a:pt x="17057" y="304800"/>
                  <a:pt x="0" y="304800"/>
                  <a:pt x="0" y="304800"/>
                </a:cubicBezTo>
                <a:lnTo>
                  <a:pt x="0" y="0"/>
                </a:lnTo>
                <a:cubicBezTo>
                  <a:pt x="0" y="0"/>
                  <a:pt x="17057" y="0"/>
                  <a:pt x="38100" y="0"/>
                </a:cubicBezTo>
                <a:close/>
              </a:path>
            </a:pathLst>
          </a:custGeom>
          <a:solidFill>
            <a:srgbClr val="3498DB">
              <a:alpha val="100000"/>
            </a:srgbClr>
          </a:solidFill>
          <a:ln w="12700" cap="flat" cmpd="sng">
            <a:solidFill>
              <a:srgbClr val="2980B9">
                <a:alpha val="100000"/>
              </a:srgbClr>
            </a:solidFill>
            <a:prstDash val="solid"/>
            <a:miter lim="1000000"/>
          </a:ln>
        </p:spPr>
        <p:txBody>
          <a:bodyPr vert="horz" wrap="square" lIns="91440" tIns="45720" rIns="91440" bIns="45720" rtlCol="0" anchor="ctr" anchorCtr="0"/>
          <a:lstStyle/>
          <a:p>
            <a:pPr algn="l">
              <a:defRPr/>
            </a:pPr>
            <a:endParaRPr/>
          </a:p>
        </p:txBody>
      </p:sp>
      <p:sp>
        <p:nvSpPr>
          <p:cNvPr id="12" name="AutoShape 12"/>
          <p:cNvSpPr/>
          <p:nvPr/>
        </p:nvSpPr>
        <p:spPr>
          <a:xfrm>
            <a:off x="1562735" y="2215515"/>
            <a:ext cx="109728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提示词空间与阈值检索</a:t>
            </a:r>
            <a:endParaRPr lang="en-US" sz="1100" dirty="0"/>
          </a:p>
        </p:txBody>
      </p:sp>
      <p:sp>
        <p:nvSpPr>
          <p:cNvPr id="13" name="Freeform 13"/>
          <p:cNvSpPr/>
          <p:nvPr/>
        </p:nvSpPr>
        <p:spPr>
          <a:xfrm>
            <a:off x="1311275" y="2548255"/>
            <a:ext cx="1600200" cy="304800"/>
          </a:xfrm>
          <a:custGeom>
            <a:avLst/>
            <a:gdLst/>
            <a:ahLst/>
            <a:cxnLst/>
            <a:rect l="l" t="t" r="r" b="b"/>
            <a:pathLst>
              <a:path w="1600200" h="304800">
                <a:moveTo>
                  <a:pt x="1562100" y="0"/>
                </a:moveTo>
                <a:cubicBezTo>
                  <a:pt x="1583143" y="0"/>
                  <a:pt x="1600200" y="0"/>
                  <a:pt x="1600200" y="0"/>
                </a:cubicBezTo>
                <a:lnTo>
                  <a:pt x="1600200" y="304800"/>
                </a:lnTo>
                <a:cubicBezTo>
                  <a:pt x="1600200" y="304800"/>
                  <a:pt x="1583143" y="304800"/>
                  <a:pt x="1562100" y="304800"/>
                </a:cubicBezTo>
                <a:lnTo>
                  <a:pt x="38100" y="304800"/>
                </a:lnTo>
                <a:cubicBezTo>
                  <a:pt x="17057" y="304800"/>
                  <a:pt x="0" y="304800"/>
                  <a:pt x="0" y="304800"/>
                </a:cubicBezTo>
                <a:lnTo>
                  <a:pt x="0" y="0"/>
                </a:lnTo>
                <a:cubicBezTo>
                  <a:pt x="0" y="0"/>
                  <a:pt x="17057" y="0"/>
                  <a:pt x="38100" y="0"/>
                </a:cubicBezTo>
                <a:close/>
              </a:path>
            </a:pathLst>
          </a:custGeom>
          <a:solidFill>
            <a:srgbClr val="F39C12">
              <a:alpha val="100000"/>
            </a:srgbClr>
          </a:solidFill>
          <a:ln w="12700" cap="flat" cmpd="sng">
            <a:solidFill>
              <a:srgbClr val="E67E22">
                <a:alpha val="100000"/>
              </a:srgbClr>
            </a:solidFill>
            <a:prstDash val="solid"/>
            <a:miter lim="1000000"/>
          </a:ln>
        </p:spPr>
        <p:txBody>
          <a:bodyPr vert="horz" wrap="square" lIns="91440" tIns="45720" rIns="91440" bIns="45720" rtlCol="0" anchor="ctr" anchorCtr="0"/>
          <a:lstStyle/>
          <a:p>
            <a:pPr algn="l">
              <a:defRPr/>
            </a:pPr>
            <a:endParaRPr/>
          </a:p>
        </p:txBody>
      </p:sp>
      <p:sp>
        <p:nvSpPr>
          <p:cNvPr id="14" name="AutoShape 14"/>
          <p:cNvSpPr/>
          <p:nvPr/>
        </p:nvSpPr>
        <p:spPr>
          <a:xfrm>
            <a:off x="1577975" y="2596515"/>
            <a:ext cx="106680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a:solidFill>
                  <a:srgbClr val="FFFFFF"/>
                </a:solidFill>
                <a:latin typeface="微软雅黑"/>
                <a:ea typeface="微软雅黑"/>
                <a:cs typeface="微软雅黑"/>
                <a:sym typeface="微软雅黑"/>
              </a:rPr>
              <a:t>训练集用于 YOLO 训练</a:t>
            </a:r>
            <a:endParaRPr lang="en-US" sz="1100"/>
          </a:p>
        </p:txBody>
      </p:sp>
      <p:sp>
        <p:nvSpPr>
          <p:cNvPr id="15" name="Freeform 15"/>
          <p:cNvSpPr/>
          <p:nvPr/>
        </p:nvSpPr>
        <p:spPr>
          <a:xfrm>
            <a:off x="3064055" y="1786391"/>
            <a:ext cx="228600" cy="152400"/>
          </a:xfrm>
          <a:custGeom>
            <a:avLst/>
            <a:gdLst/>
            <a:ahLst/>
            <a:cxnLst/>
            <a:rect l="l" t="t" r="r" b="b"/>
            <a:pathLst>
              <a:path w="228600" h="152400">
                <a:moveTo>
                  <a:pt x="0" y="76200"/>
                </a:moveTo>
                <a:lnTo>
                  <a:pt x="228600" y="76200"/>
                </a:lnTo>
                <a:lnTo>
                  <a:pt x="152400" y="152400"/>
                </a:lnTo>
                <a:lnTo>
                  <a:pt x="152400" y="0"/>
                </a:lnTo>
                <a:lnTo>
                  <a:pt x="228600" y="76200"/>
                </a:lnTo>
                <a:close/>
              </a:path>
            </a:pathLst>
          </a:custGeom>
          <a:solidFill>
            <a:srgbClr val="34495E">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16" name="Freeform 16"/>
          <p:cNvSpPr/>
          <p:nvPr/>
        </p:nvSpPr>
        <p:spPr>
          <a:xfrm>
            <a:off x="3444875" y="719455"/>
            <a:ext cx="2286000" cy="2286000"/>
          </a:xfrm>
          <a:custGeom>
            <a:avLst/>
            <a:gdLst/>
            <a:ahLst/>
            <a:cxnLst/>
            <a:rect l="l" t="t" r="r" b="b"/>
            <a:pathLst>
              <a:path w="2286000" h="2286000">
                <a:moveTo>
                  <a:pt x="2209800" y="0"/>
                </a:moveTo>
                <a:cubicBezTo>
                  <a:pt x="2251884" y="0"/>
                  <a:pt x="2286000" y="0"/>
                  <a:pt x="2286000" y="0"/>
                </a:cubicBezTo>
                <a:lnTo>
                  <a:pt x="2286000" y="2286000"/>
                </a:lnTo>
                <a:cubicBezTo>
                  <a:pt x="2286000" y="2286000"/>
                  <a:pt x="2251884" y="2286000"/>
                  <a:pt x="2209800" y="2286000"/>
                </a:cubicBezTo>
                <a:lnTo>
                  <a:pt x="76200" y="2286000"/>
                </a:lnTo>
                <a:cubicBezTo>
                  <a:pt x="34116" y="2286000"/>
                  <a:pt x="0" y="2286000"/>
                  <a:pt x="0" y="2286000"/>
                </a:cubicBezTo>
                <a:lnTo>
                  <a:pt x="0" y="0"/>
                </a:lnTo>
                <a:cubicBezTo>
                  <a:pt x="0" y="0"/>
                  <a:pt x="34116" y="0"/>
                  <a:pt x="76200" y="0"/>
                </a:cubicBezTo>
                <a:close/>
              </a:path>
            </a:pathLst>
          </a:custGeom>
          <a:solidFill>
            <a:srgbClr val="E8F5E8">
              <a:alpha val="100000"/>
            </a:srgbClr>
          </a:solidFill>
          <a:ln w="12700" cap="flat" cmpd="sng">
            <a:solidFill>
              <a:srgbClr val="27AE60">
                <a:alpha val="100000"/>
              </a:srgbClr>
            </a:solidFill>
            <a:prstDash val="solid"/>
            <a:miter lim="1000000"/>
          </a:ln>
        </p:spPr>
        <p:txBody>
          <a:bodyPr vert="horz" wrap="square" lIns="91440" tIns="45720" rIns="91440" bIns="45720" rtlCol="0" anchor="ctr" anchorCtr="0"/>
          <a:lstStyle/>
          <a:p>
            <a:pPr algn="l">
              <a:defRPr/>
            </a:pPr>
            <a:endParaRPr/>
          </a:p>
        </p:txBody>
      </p:sp>
      <p:sp>
        <p:nvSpPr>
          <p:cNvPr id="17" name="AutoShape 17"/>
          <p:cNvSpPr/>
          <p:nvPr/>
        </p:nvSpPr>
        <p:spPr>
          <a:xfrm>
            <a:off x="3539191" y="744332"/>
            <a:ext cx="1158240" cy="25209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200" b="1" i="0" u="none" strike="noStrike" dirty="0">
                <a:solidFill>
                  <a:srgbClr val="2C3E50"/>
                </a:solidFill>
                <a:latin typeface="微软雅黑"/>
                <a:ea typeface="微软雅黑"/>
                <a:cs typeface="微软雅黑"/>
                <a:sym typeface="微软雅黑"/>
              </a:rPr>
              <a:t>阶段二：V1 </a:t>
            </a:r>
            <a:r>
              <a:rPr lang="en-US" sz="1200" b="1" i="0" u="none" strike="noStrike" dirty="0" err="1">
                <a:solidFill>
                  <a:srgbClr val="2C3E50"/>
                </a:solidFill>
                <a:latin typeface="微软雅黑"/>
                <a:ea typeface="微软雅黑"/>
                <a:cs typeface="微软雅黑"/>
                <a:sym typeface="微软雅黑"/>
              </a:rPr>
              <a:t>自动生成与验证</a:t>
            </a:r>
            <a:endParaRPr lang="en-US" sz="1100" dirty="0"/>
          </a:p>
        </p:txBody>
      </p:sp>
      <p:sp>
        <p:nvSpPr>
          <p:cNvPr id="18" name="Freeform 18"/>
          <p:cNvSpPr/>
          <p:nvPr/>
        </p:nvSpPr>
        <p:spPr>
          <a:xfrm>
            <a:off x="3597275" y="1329055"/>
            <a:ext cx="914400" cy="457200"/>
          </a:xfrm>
          <a:custGeom>
            <a:avLst/>
            <a:gdLst/>
            <a:ahLst/>
            <a:cxnLst/>
            <a:rect l="l" t="t" r="r" b="b"/>
            <a:pathLst>
              <a:path w="914400" h="457200">
                <a:moveTo>
                  <a:pt x="876300" y="0"/>
                </a:moveTo>
                <a:cubicBezTo>
                  <a:pt x="897343" y="0"/>
                  <a:pt x="914400" y="0"/>
                  <a:pt x="914400" y="0"/>
                </a:cubicBezTo>
                <a:lnTo>
                  <a:pt x="914400" y="457200"/>
                </a:lnTo>
                <a:cubicBezTo>
                  <a:pt x="914400" y="457200"/>
                  <a:pt x="897343" y="457200"/>
                  <a:pt x="876300" y="457200"/>
                </a:cubicBezTo>
                <a:lnTo>
                  <a:pt x="38100" y="457200"/>
                </a:lnTo>
                <a:cubicBezTo>
                  <a:pt x="17057" y="457200"/>
                  <a:pt x="0" y="457200"/>
                  <a:pt x="0" y="457200"/>
                </a:cubicBezTo>
                <a:lnTo>
                  <a:pt x="0" y="0"/>
                </a:lnTo>
                <a:cubicBezTo>
                  <a:pt x="0" y="0"/>
                  <a:pt x="17057" y="0"/>
                  <a:pt x="38100" y="0"/>
                </a:cubicBezTo>
                <a:close/>
              </a:path>
            </a:pathLst>
          </a:custGeom>
          <a:solidFill>
            <a:srgbClr val="27AE60">
              <a:alpha val="100000"/>
            </a:srgbClr>
          </a:solidFill>
          <a:ln w="12700" cap="flat" cmpd="sng">
            <a:solidFill>
              <a:srgbClr val="229954">
                <a:alpha val="100000"/>
              </a:srgbClr>
            </a:solidFill>
            <a:prstDash val="solid"/>
            <a:miter lim="1000000"/>
          </a:ln>
        </p:spPr>
        <p:txBody>
          <a:bodyPr vert="horz" wrap="square" lIns="91440" tIns="45720" rIns="91440" bIns="45720" rtlCol="0" anchor="ctr" anchorCtr="0"/>
          <a:lstStyle/>
          <a:p>
            <a:pPr algn="l">
              <a:defRPr/>
            </a:pPr>
            <a:endParaRPr/>
          </a:p>
        </p:txBody>
      </p:sp>
      <p:sp>
        <p:nvSpPr>
          <p:cNvPr id="19" name="AutoShape 19"/>
          <p:cNvSpPr/>
          <p:nvPr/>
        </p:nvSpPr>
        <p:spPr>
          <a:xfrm>
            <a:off x="3536315" y="1334602"/>
            <a:ext cx="518160" cy="184785"/>
          </a:xfrm>
          <a:prstGeom prst="rect">
            <a:avLst/>
          </a:prstGeom>
          <a:noFill/>
          <a:ln w="12700" cap="flat" cmpd="sng">
            <a:noFill/>
            <a:prstDash val="solid"/>
            <a:round/>
          </a:ln>
        </p:spPr>
        <p:txBody>
          <a:bodyPr vert="horz" wrap="none" lIns="91440" tIns="45720" rIns="91440" bIns="45720" rtlCol="0" anchor="t">
            <a:noAutofit/>
          </a:bodyPr>
          <a:lstStyle/>
          <a:p>
            <a:pPr marL="0" indent="0" defTabSz="914400">
              <a:lnSpc>
                <a:spcPct val="100000"/>
              </a:lnSpc>
              <a:defRPr/>
            </a:pPr>
            <a:r>
              <a:rPr lang="en-US" sz="825" b="0" i="0" u="none" strike="noStrike" dirty="0">
                <a:solidFill>
                  <a:srgbClr val="FFFFFF"/>
                </a:solidFill>
                <a:latin typeface="微软雅黑"/>
                <a:ea typeface="微软雅黑"/>
                <a:cs typeface="微软雅黑"/>
                <a:sym typeface="微软雅黑"/>
              </a:rPr>
              <a:t>Grounding DINO</a:t>
            </a:r>
            <a:endParaRPr lang="en-US" sz="1100" dirty="0"/>
          </a:p>
        </p:txBody>
      </p:sp>
      <p:sp>
        <p:nvSpPr>
          <p:cNvPr id="20" name="AutoShape 20"/>
          <p:cNvSpPr/>
          <p:nvPr/>
        </p:nvSpPr>
        <p:spPr>
          <a:xfrm>
            <a:off x="3723005" y="1477645"/>
            <a:ext cx="662940" cy="18224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675" b="0" i="0" u="none" strike="noStrike" dirty="0" err="1">
                <a:solidFill>
                  <a:srgbClr val="FFFFFF"/>
                </a:solidFill>
                <a:latin typeface="微软雅黑"/>
                <a:ea typeface="微软雅黑"/>
                <a:cs typeface="微软雅黑"/>
                <a:sym typeface="微软雅黑"/>
              </a:rPr>
              <a:t>擅长：文本</a:t>
            </a:r>
            <a:r>
              <a:rPr lang="en-US" sz="675" b="0" i="0" u="none" strike="noStrike" dirty="0">
                <a:solidFill>
                  <a:srgbClr val="FFFFFF"/>
                </a:solidFill>
                <a:latin typeface="微软雅黑"/>
                <a:ea typeface="微软雅黑"/>
                <a:cs typeface="微软雅黑"/>
                <a:sym typeface="微软雅黑"/>
              </a:rPr>
              <a:t>—</a:t>
            </a:r>
            <a:r>
              <a:rPr lang="en-US" sz="675" b="0" i="0" u="none" strike="noStrike" dirty="0" err="1">
                <a:solidFill>
                  <a:srgbClr val="FFFFFF"/>
                </a:solidFill>
                <a:latin typeface="微软雅黑"/>
                <a:ea typeface="微软雅黑"/>
                <a:cs typeface="微软雅黑"/>
                <a:sym typeface="微软雅黑"/>
              </a:rPr>
              <a:t>视觉</a:t>
            </a:r>
            <a:endParaRPr lang="en-US" sz="1100" dirty="0"/>
          </a:p>
        </p:txBody>
      </p:sp>
      <p:sp>
        <p:nvSpPr>
          <p:cNvPr id="21" name="AutoShape 21"/>
          <p:cNvSpPr/>
          <p:nvPr/>
        </p:nvSpPr>
        <p:spPr>
          <a:xfrm>
            <a:off x="3825875" y="1576705"/>
            <a:ext cx="457200" cy="18224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675" b="0" i="0" u="none" strike="noStrike">
                <a:solidFill>
                  <a:srgbClr val="FFFFFF"/>
                </a:solidFill>
                <a:latin typeface="微软雅黑"/>
                <a:ea typeface="微软雅黑"/>
                <a:cs typeface="微软雅黑"/>
                <a:sym typeface="微软雅黑"/>
              </a:rPr>
              <a:t>语义对齐</a:t>
            </a:r>
            <a:endParaRPr lang="en-US" sz="1100"/>
          </a:p>
        </p:txBody>
      </p:sp>
      <p:sp>
        <p:nvSpPr>
          <p:cNvPr id="22" name="Freeform 22"/>
          <p:cNvSpPr/>
          <p:nvPr/>
        </p:nvSpPr>
        <p:spPr>
          <a:xfrm>
            <a:off x="4664075" y="1329055"/>
            <a:ext cx="914400" cy="457200"/>
          </a:xfrm>
          <a:custGeom>
            <a:avLst/>
            <a:gdLst/>
            <a:ahLst/>
            <a:cxnLst/>
            <a:rect l="l" t="t" r="r" b="b"/>
            <a:pathLst>
              <a:path w="914400" h="457200">
                <a:moveTo>
                  <a:pt x="876300" y="0"/>
                </a:moveTo>
                <a:cubicBezTo>
                  <a:pt x="897343" y="0"/>
                  <a:pt x="914400" y="0"/>
                  <a:pt x="914400" y="0"/>
                </a:cubicBezTo>
                <a:lnTo>
                  <a:pt x="914400" y="457200"/>
                </a:lnTo>
                <a:cubicBezTo>
                  <a:pt x="914400" y="457200"/>
                  <a:pt x="897343" y="457200"/>
                  <a:pt x="876300" y="457200"/>
                </a:cubicBezTo>
                <a:lnTo>
                  <a:pt x="38100" y="457200"/>
                </a:lnTo>
                <a:cubicBezTo>
                  <a:pt x="17057" y="457200"/>
                  <a:pt x="0" y="457200"/>
                  <a:pt x="0" y="457200"/>
                </a:cubicBezTo>
                <a:lnTo>
                  <a:pt x="0" y="0"/>
                </a:lnTo>
                <a:cubicBezTo>
                  <a:pt x="0" y="0"/>
                  <a:pt x="17057" y="0"/>
                  <a:pt x="38100" y="0"/>
                </a:cubicBezTo>
                <a:close/>
              </a:path>
            </a:pathLst>
          </a:custGeom>
          <a:solidFill>
            <a:srgbClr val="27AE60">
              <a:alpha val="100000"/>
            </a:srgbClr>
          </a:solidFill>
          <a:ln w="12700" cap="flat" cmpd="sng">
            <a:solidFill>
              <a:srgbClr val="229954">
                <a:alpha val="100000"/>
              </a:srgbClr>
            </a:solidFill>
            <a:prstDash val="solid"/>
            <a:miter lim="1000000"/>
          </a:ln>
        </p:spPr>
        <p:txBody>
          <a:bodyPr vert="horz" wrap="square" lIns="91440" tIns="45720" rIns="91440" bIns="45720" rtlCol="0" anchor="ctr" anchorCtr="0"/>
          <a:lstStyle/>
          <a:p>
            <a:pPr algn="l">
              <a:defRPr/>
            </a:pPr>
            <a:endParaRPr/>
          </a:p>
        </p:txBody>
      </p:sp>
      <p:sp>
        <p:nvSpPr>
          <p:cNvPr id="23" name="AutoShape 23"/>
          <p:cNvSpPr/>
          <p:nvPr/>
        </p:nvSpPr>
        <p:spPr>
          <a:xfrm>
            <a:off x="4728845" y="1342390"/>
            <a:ext cx="462280" cy="18478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825" b="0" i="0" u="none" strike="noStrike" dirty="0" err="1">
                <a:solidFill>
                  <a:srgbClr val="FFFFFF"/>
                </a:solidFill>
                <a:latin typeface="微软雅黑"/>
                <a:ea typeface="微软雅黑"/>
                <a:cs typeface="微软雅黑"/>
                <a:sym typeface="微软雅黑"/>
              </a:rPr>
              <a:t>批量生成</a:t>
            </a:r>
            <a:endParaRPr lang="en-US" sz="1100" dirty="0"/>
          </a:p>
        </p:txBody>
      </p:sp>
      <p:sp>
        <p:nvSpPr>
          <p:cNvPr id="24" name="AutoShape 24"/>
          <p:cNvSpPr/>
          <p:nvPr/>
        </p:nvSpPr>
        <p:spPr>
          <a:xfrm>
            <a:off x="4789805" y="1477645"/>
            <a:ext cx="662940" cy="182245"/>
          </a:xfrm>
          <a:prstGeom prst="rect">
            <a:avLst/>
          </a:prstGeom>
          <a:noFill/>
          <a:ln w="12700" cap="flat" cmpd="sng">
            <a:noFill/>
            <a:prstDash val="solid"/>
            <a:round/>
          </a:ln>
        </p:spPr>
        <p:txBody>
          <a:bodyPr vert="horz" wrap="none" lIns="91440" tIns="45720" rIns="91440" bIns="45720" rtlCol="0" anchor="t">
            <a:noAutofit/>
          </a:bodyPr>
          <a:lstStyle/>
          <a:p>
            <a:pPr>
              <a:defRPr/>
            </a:pPr>
            <a:r>
              <a:rPr lang="en-US" sz="675" b="0" i="0" u="none" strike="noStrike" dirty="0">
                <a:solidFill>
                  <a:srgbClr val="FFFFFF"/>
                </a:solidFill>
                <a:latin typeface="微软雅黑"/>
                <a:ea typeface="微软雅黑"/>
                <a:cs typeface="微软雅黑"/>
                <a:sym typeface="微软雅黑"/>
              </a:rPr>
              <a:t>V1 </a:t>
            </a:r>
            <a:r>
              <a:rPr lang="en-US" sz="675" b="0" i="0" u="none" strike="noStrike" dirty="0" err="1">
                <a:solidFill>
                  <a:srgbClr val="FFFFFF"/>
                </a:solidFill>
                <a:latin typeface="微软雅黑"/>
                <a:ea typeface="微软雅黑"/>
                <a:cs typeface="微软雅黑"/>
                <a:sym typeface="微软雅黑"/>
              </a:rPr>
              <a:t>基准</a:t>
            </a:r>
            <a:r>
              <a:rPr lang="en-US" altLang="ja-JP" sz="800" dirty="0" err="1">
                <a:solidFill>
                  <a:srgbClr val="FFFFFF"/>
                </a:solidFill>
                <a:latin typeface="微软雅黑"/>
                <a:ea typeface="微软雅黑"/>
                <a:cs typeface="微软雅黑"/>
                <a:sym typeface="微软雅黑"/>
              </a:rPr>
              <a:t>伪标签</a:t>
            </a:r>
            <a:endParaRPr lang="en-US" altLang="ja-JP" sz="1800" dirty="0"/>
          </a:p>
        </p:txBody>
      </p:sp>
      <p:sp>
        <p:nvSpPr>
          <p:cNvPr id="25" name="AutoShape 25"/>
          <p:cNvSpPr/>
          <p:nvPr/>
        </p:nvSpPr>
        <p:spPr>
          <a:xfrm>
            <a:off x="4892675" y="1576705"/>
            <a:ext cx="457200" cy="18224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endParaRPr lang="en-US" sz="1100" dirty="0"/>
          </a:p>
        </p:txBody>
      </p:sp>
      <p:sp>
        <p:nvSpPr>
          <p:cNvPr id="26" name="Freeform 26"/>
          <p:cNvSpPr/>
          <p:nvPr/>
        </p:nvSpPr>
        <p:spPr>
          <a:xfrm>
            <a:off x="3597275" y="1938655"/>
            <a:ext cx="1981200" cy="304800"/>
          </a:xfrm>
          <a:custGeom>
            <a:avLst/>
            <a:gdLst/>
            <a:ahLst/>
            <a:cxnLst/>
            <a:rect l="l" t="t" r="r" b="b"/>
            <a:pathLst>
              <a:path w="1981200" h="304800">
                <a:moveTo>
                  <a:pt x="1943100" y="0"/>
                </a:moveTo>
                <a:cubicBezTo>
                  <a:pt x="1964143" y="0"/>
                  <a:pt x="1981200" y="0"/>
                  <a:pt x="1981200" y="0"/>
                </a:cubicBezTo>
                <a:lnTo>
                  <a:pt x="1981200" y="304800"/>
                </a:lnTo>
                <a:cubicBezTo>
                  <a:pt x="1981200" y="304800"/>
                  <a:pt x="1964143" y="304800"/>
                  <a:pt x="1943100" y="304800"/>
                </a:cubicBezTo>
                <a:lnTo>
                  <a:pt x="38100" y="304800"/>
                </a:lnTo>
                <a:cubicBezTo>
                  <a:pt x="17057" y="304800"/>
                  <a:pt x="0" y="304800"/>
                  <a:pt x="0" y="304800"/>
                </a:cubicBezTo>
                <a:lnTo>
                  <a:pt x="0" y="0"/>
                </a:lnTo>
                <a:cubicBezTo>
                  <a:pt x="0" y="0"/>
                  <a:pt x="17057" y="0"/>
                  <a:pt x="38100" y="0"/>
                </a:cubicBezTo>
                <a:close/>
              </a:path>
            </a:pathLst>
          </a:custGeom>
          <a:solidFill>
            <a:srgbClr val="8E44AD">
              <a:alpha val="100000"/>
            </a:srgbClr>
          </a:solidFill>
          <a:ln w="12700" cap="flat" cmpd="sng">
            <a:solidFill>
              <a:srgbClr val="7D3C98">
                <a:alpha val="100000"/>
              </a:srgbClr>
            </a:solidFill>
            <a:prstDash val="solid"/>
            <a:miter lim="1000000"/>
          </a:ln>
        </p:spPr>
        <p:txBody>
          <a:bodyPr vert="horz" wrap="square" lIns="91440" tIns="45720" rIns="91440" bIns="45720" rtlCol="0" anchor="ctr" anchorCtr="0"/>
          <a:lstStyle/>
          <a:p>
            <a:pPr algn="l">
              <a:defRPr/>
            </a:pPr>
            <a:endParaRPr/>
          </a:p>
        </p:txBody>
      </p:sp>
      <p:sp>
        <p:nvSpPr>
          <p:cNvPr id="27" name="AutoShape 27"/>
          <p:cNvSpPr/>
          <p:nvPr/>
        </p:nvSpPr>
        <p:spPr>
          <a:xfrm>
            <a:off x="3810635" y="1910715"/>
            <a:ext cx="155448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800" b="0" i="0" u="none" strike="noStrike" dirty="0" err="1">
                <a:solidFill>
                  <a:srgbClr val="FFFFFF"/>
                </a:solidFill>
                <a:latin typeface="微软雅黑"/>
                <a:ea typeface="微软雅黑"/>
                <a:cs typeface="微软雅黑"/>
                <a:sym typeface="微软雅黑"/>
              </a:rPr>
              <a:t>标签质量分析：漏检</a:t>
            </a:r>
            <a:r>
              <a:rPr lang="en-US" sz="800" b="0" i="0" u="none" strike="noStrike" dirty="0">
                <a:solidFill>
                  <a:srgbClr val="FFFFFF"/>
                </a:solidFill>
                <a:latin typeface="微软雅黑"/>
                <a:ea typeface="微软雅黑"/>
                <a:cs typeface="微软雅黑"/>
                <a:sym typeface="微软雅黑"/>
              </a:rPr>
              <a:t>/</a:t>
            </a:r>
            <a:r>
              <a:rPr lang="en-US" sz="800" b="0" i="0" u="none" strike="noStrike" dirty="0" err="1">
                <a:solidFill>
                  <a:srgbClr val="FFFFFF"/>
                </a:solidFill>
                <a:latin typeface="微软雅黑"/>
                <a:ea typeface="微软雅黑"/>
                <a:cs typeface="微软雅黑"/>
                <a:sym typeface="微软雅黑"/>
              </a:rPr>
              <a:t>误检</a:t>
            </a:r>
            <a:r>
              <a:rPr lang="en-US" sz="800" b="0" i="0" u="none" strike="noStrike" dirty="0">
                <a:solidFill>
                  <a:srgbClr val="FFFFFF"/>
                </a:solidFill>
                <a:latin typeface="微软雅黑"/>
                <a:ea typeface="微软雅黑"/>
                <a:cs typeface="微软雅黑"/>
                <a:sym typeface="微软雅黑"/>
              </a:rPr>
              <a:t>/</a:t>
            </a:r>
            <a:r>
              <a:rPr lang="en-US" sz="800" b="0" i="0" u="none" strike="noStrike" dirty="0" err="1">
                <a:solidFill>
                  <a:srgbClr val="FFFFFF"/>
                </a:solidFill>
                <a:latin typeface="微软雅黑"/>
                <a:ea typeface="微软雅黑"/>
                <a:cs typeface="微软雅黑"/>
                <a:sym typeface="微软雅黑"/>
              </a:rPr>
              <a:t>框偏差</a:t>
            </a:r>
            <a:endParaRPr lang="en-US" sz="1050" dirty="0"/>
          </a:p>
        </p:txBody>
      </p:sp>
      <p:sp>
        <p:nvSpPr>
          <p:cNvPr id="28" name="AutoShape 28"/>
          <p:cNvSpPr/>
          <p:nvPr/>
        </p:nvSpPr>
        <p:spPr>
          <a:xfrm>
            <a:off x="3822700" y="2040890"/>
            <a:ext cx="1530985" cy="1917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FFFFFF"/>
                </a:solidFill>
                <a:latin typeface="微软雅黑"/>
                <a:ea typeface="微软雅黑"/>
                <a:cs typeface="微软雅黑"/>
                <a:sym typeface="微软雅黑"/>
              </a:rPr>
              <a:t>V1 直接用于 YOLO 下游基线</a:t>
            </a:r>
            <a:endParaRPr lang="en-US" sz="1100"/>
          </a:p>
        </p:txBody>
      </p:sp>
      <p:sp>
        <p:nvSpPr>
          <p:cNvPr id="29" name="Freeform 29"/>
          <p:cNvSpPr/>
          <p:nvPr/>
        </p:nvSpPr>
        <p:spPr>
          <a:xfrm>
            <a:off x="3597275" y="2395855"/>
            <a:ext cx="1981200" cy="457200"/>
          </a:xfrm>
          <a:custGeom>
            <a:avLst/>
            <a:gdLst/>
            <a:ahLst/>
            <a:cxnLst/>
            <a:rect l="l" t="t" r="r" b="b"/>
            <a:pathLst>
              <a:path w="1981200" h="457200">
                <a:moveTo>
                  <a:pt x="1943100" y="0"/>
                </a:moveTo>
                <a:cubicBezTo>
                  <a:pt x="1964143" y="0"/>
                  <a:pt x="1981200" y="0"/>
                  <a:pt x="1981200" y="0"/>
                </a:cubicBezTo>
                <a:lnTo>
                  <a:pt x="1981200" y="457200"/>
                </a:lnTo>
                <a:cubicBezTo>
                  <a:pt x="1981200" y="457200"/>
                  <a:pt x="1964143" y="457200"/>
                  <a:pt x="1943100" y="457200"/>
                </a:cubicBezTo>
                <a:lnTo>
                  <a:pt x="38100" y="457200"/>
                </a:lnTo>
                <a:cubicBezTo>
                  <a:pt x="17057" y="457200"/>
                  <a:pt x="0" y="457200"/>
                  <a:pt x="0" y="457200"/>
                </a:cubicBezTo>
                <a:lnTo>
                  <a:pt x="0" y="0"/>
                </a:lnTo>
                <a:cubicBezTo>
                  <a:pt x="0" y="0"/>
                  <a:pt x="17057" y="0"/>
                  <a:pt x="38100" y="0"/>
                </a:cubicBezTo>
                <a:close/>
              </a:path>
            </a:pathLst>
          </a:custGeom>
          <a:solidFill>
            <a:srgbClr val="2C3E50">
              <a:alpha val="100000"/>
            </a:srgbClr>
          </a:solidFill>
          <a:ln w="12700" cap="flat" cmpd="sng">
            <a:solidFill>
              <a:srgbClr val="34495E">
                <a:alpha val="100000"/>
              </a:srgbClr>
            </a:solidFill>
            <a:prstDash val="solid"/>
            <a:miter lim="1000000"/>
          </a:ln>
        </p:spPr>
        <p:txBody>
          <a:bodyPr vert="horz" wrap="square" lIns="91440" tIns="45720" rIns="91440" bIns="45720" rtlCol="0" anchor="ctr" anchorCtr="0"/>
          <a:lstStyle/>
          <a:p>
            <a:pPr algn="l">
              <a:defRPr/>
            </a:pPr>
            <a:endParaRPr/>
          </a:p>
        </p:txBody>
      </p:sp>
      <p:sp>
        <p:nvSpPr>
          <p:cNvPr id="30" name="AutoShape 30"/>
          <p:cNvSpPr/>
          <p:nvPr/>
        </p:nvSpPr>
        <p:spPr>
          <a:xfrm>
            <a:off x="4313555" y="2406015"/>
            <a:ext cx="54864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a:solidFill>
                  <a:srgbClr val="FFFFFF"/>
                </a:solidFill>
                <a:latin typeface="微软雅黑"/>
                <a:ea typeface="微软雅黑"/>
                <a:cs typeface="微软雅黑"/>
                <a:sym typeface="微软雅黑"/>
              </a:rPr>
              <a:t>开发准入门槛</a:t>
            </a:r>
            <a:endParaRPr lang="en-US" sz="1100"/>
          </a:p>
        </p:txBody>
      </p:sp>
      <p:sp>
        <p:nvSpPr>
          <p:cNvPr id="31" name="AutoShape 31"/>
          <p:cNvSpPr/>
          <p:nvPr/>
        </p:nvSpPr>
        <p:spPr>
          <a:xfrm>
            <a:off x="3957955" y="2536190"/>
            <a:ext cx="1260475" cy="1917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FFFFFF"/>
                </a:solidFill>
                <a:latin typeface="微软雅黑"/>
                <a:ea typeface="微软雅黑"/>
                <a:cs typeface="微软雅黑"/>
                <a:sym typeface="微软雅黑"/>
              </a:rPr>
              <a:t>静态指标 + 下游 mAP 双重判断</a:t>
            </a:r>
            <a:endParaRPr lang="en-US" sz="1100"/>
          </a:p>
        </p:txBody>
      </p:sp>
      <p:sp>
        <p:nvSpPr>
          <p:cNvPr id="32" name="AutoShape 32"/>
          <p:cNvSpPr/>
          <p:nvPr/>
        </p:nvSpPr>
        <p:spPr>
          <a:xfrm>
            <a:off x="4153535" y="2650490"/>
            <a:ext cx="868680" cy="1917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FFFFFF"/>
                </a:solidFill>
                <a:latin typeface="微软雅黑"/>
                <a:ea typeface="微软雅黑"/>
                <a:cs typeface="微软雅黑"/>
                <a:sym typeface="微软雅黑"/>
              </a:rPr>
              <a:t>判断 V1 是否具备使用价值</a:t>
            </a:r>
            <a:endParaRPr lang="en-US" sz="1100"/>
          </a:p>
        </p:txBody>
      </p:sp>
      <p:sp>
        <p:nvSpPr>
          <p:cNvPr id="33" name="Freeform 33"/>
          <p:cNvSpPr/>
          <p:nvPr/>
        </p:nvSpPr>
        <p:spPr>
          <a:xfrm>
            <a:off x="5731055" y="1786391"/>
            <a:ext cx="228600" cy="152400"/>
          </a:xfrm>
          <a:custGeom>
            <a:avLst/>
            <a:gdLst/>
            <a:ahLst/>
            <a:cxnLst/>
            <a:rect l="l" t="t" r="r" b="b"/>
            <a:pathLst>
              <a:path w="228600" h="152400">
                <a:moveTo>
                  <a:pt x="0" y="76200"/>
                </a:moveTo>
                <a:lnTo>
                  <a:pt x="228600" y="76200"/>
                </a:lnTo>
                <a:lnTo>
                  <a:pt x="152400" y="152400"/>
                </a:lnTo>
                <a:lnTo>
                  <a:pt x="152400" y="0"/>
                </a:lnTo>
                <a:lnTo>
                  <a:pt x="228600" y="76200"/>
                </a:lnTo>
                <a:close/>
              </a:path>
            </a:pathLst>
          </a:custGeom>
          <a:solidFill>
            <a:srgbClr val="34495E">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34" name="Freeform 34"/>
          <p:cNvSpPr/>
          <p:nvPr/>
        </p:nvSpPr>
        <p:spPr>
          <a:xfrm>
            <a:off x="6111875" y="719455"/>
            <a:ext cx="2286000" cy="2286000"/>
          </a:xfrm>
          <a:custGeom>
            <a:avLst/>
            <a:gdLst/>
            <a:ahLst/>
            <a:cxnLst/>
            <a:rect l="l" t="t" r="r" b="b"/>
            <a:pathLst>
              <a:path w="2286000" h="2286000">
                <a:moveTo>
                  <a:pt x="2209800" y="0"/>
                </a:moveTo>
                <a:cubicBezTo>
                  <a:pt x="2251884" y="0"/>
                  <a:pt x="2286000" y="0"/>
                  <a:pt x="2286000" y="0"/>
                </a:cubicBezTo>
                <a:lnTo>
                  <a:pt x="2286000" y="2286000"/>
                </a:lnTo>
                <a:cubicBezTo>
                  <a:pt x="2286000" y="2286000"/>
                  <a:pt x="2251884" y="2286000"/>
                  <a:pt x="2209800" y="2286000"/>
                </a:cubicBezTo>
                <a:lnTo>
                  <a:pt x="76200" y="2286000"/>
                </a:lnTo>
                <a:cubicBezTo>
                  <a:pt x="34116" y="2286000"/>
                  <a:pt x="0" y="2286000"/>
                  <a:pt x="0" y="2286000"/>
                </a:cubicBezTo>
                <a:lnTo>
                  <a:pt x="0" y="0"/>
                </a:lnTo>
                <a:cubicBezTo>
                  <a:pt x="0" y="0"/>
                  <a:pt x="34116" y="0"/>
                  <a:pt x="76200" y="0"/>
                </a:cubicBezTo>
                <a:close/>
              </a:path>
            </a:pathLst>
          </a:custGeom>
          <a:solidFill>
            <a:srgbClr val="FEF5E7">
              <a:alpha val="100000"/>
            </a:srgbClr>
          </a:solidFill>
          <a:ln w="12700" cap="flat" cmpd="sng">
            <a:solidFill>
              <a:srgbClr val="F39C12">
                <a:alpha val="100000"/>
              </a:srgbClr>
            </a:solidFill>
            <a:prstDash val="solid"/>
            <a:miter lim="1000000"/>
          </a:ln>
        </p:spPr>
        <p:txBody>
          <a:bodyPr vert="horz" wrap="square" lIns="91440" tIns="45720" rIns="91440" bIns="45720" rtlCol="0" anchor="ctr" anchorCtr="0"/>
          <a:lstStyle/>
          <a:p>
            <a:pPr algn="l">
              <a:defRPr/>
            </a:pPr>
            <a:endParaRPr/>
          </a:p>
        </p:txBody>
      </p:sp>
      <p:sp>
        <p:nvSpPr>
          <p:cNvPr id="35" name="AutoShape 35"/>
          <p:cNvSpPr/>
          <p:nvPr/>
        </p:nvSpPr>
        <p:spPr>
          <a:xfrm>
            <a:off x="6340475" y="735050"/>
            <a:ext cx="1158240" cy="25209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200" b="1" i="0" u="none" strike="noStrike" dirty="0">
                <a:solidFill>
                  <a:srgbClr val="2C3E50"/>
                </a:solidFill>
                <a:latin typeface="微软雅黑"/>
                <a:ea typeface="微软雅黑"/>
                <a:cs typeface="微软雅黑"/>
                <a:sym typeface="微软雅黑"/>
              </a:rPr>
              <a:t>阶段三：SAM3 </a:t>
            </a:r>
            <a:r>
              <a:rPr lang="en-US" sz="1200" b="1" i="0" u="none" strike="noStrike" dirty="0" err="1">
                <a:solidFill>
                  <a:srgbClr val="2C3E50"/>
                </a:solidFill>
                <a:latin typeface="微软雅黑"/>
                <a:ea typeface="微软雅黑"/>
                <a:cs typeface="微软雅黑"/>
                <a:sym typeface="微软雅黑"/>
              </a:rPr>
              <a:t>后置处理</a:t>
            </a:r>
            <a:endParaRPr lang="en-US" sz="1100" dirty="0"/>
          </a:p>
        </p:txBody>
      </p:sp>
      <p:sp>
        <p:nvSpPr>
          <p:cNvPr id="36" name="Freeform 36"/>
          <p:cNvSpPr/>
          <p:nvPr/>
        </p:nvSpPr>
        <p:spPr>
          <a:xfrm>
            <a:off x="6264275" y="1024255"/>
            <a:ext cx="1981200" cy="304800"/>
          </a:xfrm>
          <a:custGeom>
            <a:avLst/>
            <a:gdLst/>
            <a:ahLst/>
            <a:cxnLst/>
            <a:rect l="l" t="t" r="r" b="b"/>
            <a:pathLst>
              <a:path w="1981200" h="304800">
                <a:moveTo>
                  <a:pt x="1943100" y="0"/>
                </a:moveTo>
                <a:cubicBezTo>
                  <a:pt x="1964143" y="0"/>
                  <a:pt x="1981200" y="0"/>
                  <a:pt x="1981200" y="0"/>
                </a:cubicBezTo>
                <a:lnTo>
                  <a:pt x="1981200" y="304800"/>
                </a:lnTo>
                <a:cubicBezTo>
                  <a:pt x="1981200" y="304800"/>
                  <a:pt x="1964143" y="304800"/>
                  <a:pt x="1943100" y="304800"/>
                </a:cubicBezTo>
                <a:lnTo>
                  <a:pt x="38100" y="304800"/>
                </a:lnTo>
                <a:cubicBezTo>
                  <a:pt x="17057" y="304800"/>
                  <a:pt x="0" y="304800"/>
                  <a:pt x="0" y="304800"/>
                </a:cubicBezTo>
                <a:lnTo>
                  <a:pt x="0" y="0"/>
                </a:lnTo>
                <a:cubicBezTo>
                  <a:pt x="0" y="0"/>
                  <a:pt x="17057" y="0"/>
                  <a:pt x="38100" y="0"/>
                </a:cubicBezTo>
                <a:close/>
              </a:path>
            </a:pathLst>
          </a:custGeom>
          <a:solidFill>
            <a:srgbClr val="95A5A6">
              <a:alpha val="100000"/>
            </a:srgbClr>
          </a:solidFill>
          <a:ln w="12700" cap="flat" cmpd="sng">
            <a:solidFill>
              <a:srgbClr val="7F8C8D">
                <a:alpha val="100000"/>
              </a:srgbClr>
            </a:solidFill>
            <a:prstDash val="solid"/>
            <a:miter lim="1000000"/>
          </a:ln>
        </p:spPr>
        <p:txBody>
          <a:bodyPr vert="horz" wrap="square" lIns="91440" tIns="45720" rIns="91440" bIns="45720" rtlCol="0" anchor="ctr" anchorCtr="0"/>
          <a:lstStyle/>
          <a:p>
            <a:pPr algn="l">
              <a:defRPr/>
            </a:pPr>
            <a:endParaRPr/>
          </a:p>
        </p:txBody>
      </p:sp>
      <p:sp>
        <p:nvSpPr>
          <p:cNvPr id="37" name="AutoShape 37"/>
          <p:cNvSpPr/>
          <p:nvPr/>
        </p:nvSpPr>
        <p:spPr>
          <a:xfrm>
            <a:off x="6305550" y="1024255"/>
            <a:ext cx="1671955" cy="18224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后置节点权限拆分：不默认覆盖</a:t>
            </a:r>
            <a:r>
              <a:rPr lang="en-US" sz="900" b="0" i="0" u="none" strike="noStrike" dirty="0">
                <a:solidFill>
                  <a:srgbClr val="FFFFFF"/>
                </a:solidFill>
                <a:latin typeface="微软雅黑"/>
                <a:ea typeface="微软雅黑"/>
                <a:cs typeface="微软雅黑"/>
                <a:sym typeface="微软雅黑"/>
              </a:rPr>
              <a:t> V1</a:t>
            </a:r>
            <a:endParaRPr lang="en-US" sz="1100" dirty="0"/>
          </a:p>
        </p:txBody>
      </p:sp>
      <p:sp>
        <p:nvSpPr>
          <p:cNvPr id="38" name="AutoShape 38"/>
          <p:cNvSpPr/>
          <p:nvPr/>
        </p:nvSpPr>
        <p:spPr>
          <a:xfrm>
            <a:off x="6462395" y="1168400"/>
            <a:ext cx="1173480" cy="1917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FFFFFF"/>
                </a:solidFill>
                <a:latin typeface="微软雅黑"/>
                <a:ea typeface="微软雅黑"/>
                <a:cs typeface="微软雅黑"/>
                <a:sym typeface="微软雅黑"/>
              </a:rPr>
              <a:t>Verifier / Append / Refiner 三类角色</a:t>
            </a:r>
            <a:endParaRPr lang="en-US" sz="1100"/>
          </a:p>
        </p:txBody>
      </p:sp>
      <p:sp>
        <p:nvSpPr>
          <p:cNvPr id="39" name="Freeform 39"/>
          <p:cNvSpPr/>
          <p:nvPr/>
        </p:nvSpPr>
        <p:spPr>
          <a:xfrm>
            <a:off x="6264275" y="1405255"/>
            <a:ext cx="609600" cy="457200"/>
          </a:xfrm>
          <a:custGeom>
            <a:avLst/>
            <a:gdLst/>
            <a:ahLst/>
            <a:cxnLst/>
            <a:rect l="l" t="t" r="r" b="b"/>
            <a:pathLst>
              <a:path w="609600" h="457200">
                <a:moveTo>
                  <a:pt x="571500" y="0"/>
                </a:moveTo>
                <a:cubicBezTo>
                  <a:pt x="592543" y="0"/>
                  <a:pt x="609600" y="0"/>
                  <a:pt x="609600" y="0"/>
                </a:cubicBezTo>
                <a:lnTo>
                  <a:pt x="609600" y="457200"/>
                </a:lnTo>
                <a:cubicBezTo>
                  <a:pt x="609600" y="457200"/>
                  <a:pt x="592543" y="457200"/>
                  <a:pt x="571500" y="457200"/>
                </a:cubicBezTo>
                <a:lnTo>
                  <a:pt x="38100" y="457200"/>
                </a:lnTo>
                <a:cubicBezTo>
                  <a:pt x="17057" y="457200"/>
                  <a:pt x="0" y="457200"/>
                  <a:pt x="0" y="457200"/>
                </a:cubicBezTo>
                <a:lnTo>
                  <a:pt x="0" y="0"/>
                </a:lnTo>
                <a:cubicBezTo>
                  <a:pt x="0" y="0"/>
                  <a:pt x="17057" y="0"/>
                  <a:pt x="38100" y="0"/>
                </a:cubicBezTo>
                <a:close/>
              </a:path>
            </a:pathLst>
          </a:custGeom>
          <a:solidFill>
            <a:srgbClr val="E67E22">
              <a:alpha val="100000"/>
            </a:srgbClr>
          </a:solidFill>
          <a:ln w="12700" cap="flat" cmpd="sng">
            <a:solidFill>
              <a:srgbClr val="D68910">
                <a:alpha val="100000"/>
              </a:srgbClr>
            </a:solidFill>
            <a:prstDash val="solid"/>
            <a:miter lim="1000000"/>
          </a:ln>
        </p:spPr>
        <p:txBody>
          <a:bodyPr vert="horz" wrap="square" lIns="91440" tIns="45720" rIns="91440" bIns="45720" rtlCol="0" anchor="ctr" anchorCtr="0"/>
          <a:lstStyle/>
          <a:p>
            <a:pPr algn="l">
              <a:defRPr/>
            </a:pPr>
            <a:endParaRPr/>
          </a:p>
        </p:txBody>
      </p:sp>
      <p:sp>
        <p:nvSpPr>
          <p:cNvPr id="40" name="AutoShape 40"/>
          <p:cNvSpPr/>
          <p:nvPr/>
        </p:nvSpPr>
        <p:spPr>
          <a:xfrm>
            <a:off x="6287135" y="1431289"/>
            <a:ext cx="558800" cy="39306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dirty="0">
                <a:solidFill>
                  <a:srgbClr val="FFFFFF"/>
                </a:solidFill>
                <a:latin typeface="微软雅黑"/>
                <a:ea typeface="微软雅黑"/>
                <a:cs typeface="微软雅黑"/>
                <a:sym typeface="微软雅黑"/>
              </a:rPr>
              <a:t>Verifier</a:t>
            </a:r>
            <a:endParaRPr lang="en-US" sz="750" dirty="0">
              <a:solidFill>
                <a:srgbClr val="FFFFFF"/>
              </a:solidFill>
              <a:latin typeface="微软雅黑"/>
              <a:ea typeface="微软雅黑"/>
              <a:cs typeface="微软雅黑"/>
              <a:sym typeface="微软雅黑"/>
            </a:endParaRPr>
          </a:p>
          <a:p>
            <a:pPr marL="0" indent="0" algn="l" defTabSz="914400">
              <a:lnSpc>
                <a:spcPct val="100000"/>
              </a:lnSpc>
              <a:defRPr/>
            </a:pPr>
            <a:r>
              <a:rPr lang="en-US" sz="750" b="0" i="0" u="none" strike="noStrike" dirty="0" err="1">
                <a:solidFill>
                  <a:srgbClr val="FFFFFF"/>
                </a:solidFill>
                <a:latin typeface="微软雅黑"/>
                <a:ea typeface="微软雅黑"/>
                <a:cs typeface="微软雅黑"/>
                <a:sym typeface="微软雅黑"/>
              </a:rPr>
              <a:t>审核候选</a:t>
            </a:r>
            <a:endParaRPr lang="en-US" sz="750" dirty="0"/>
          </a:p>
        </p:txBody>
      </p:sp>
      <p:sp>
        <p:nvSpPr>
          <p:cNvPr id="41" name="AutoShape 41"/>
          <p:cNvSpPr/>
          <p:nvPr/>
        </p:nvSpPr>
        <p:spPr>
          <a:xfrm>
            <a:off x="6306185" y="1553845"/>
            <a:ext cx="525780" cy="182245"/>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42" name="AutoShape 42"/>
          <p:cNvSpPr/>
          <p:nvPr/>
        </p:nvSpPr>
        <p:spPr>
          <a:xfrm>
            <a:off x="6340475" y="1652905"/>
            <a:ext cx="457200" cy="182245"/>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43" name="Freeform 43"/>
          <p:cNvSpPr/>
          <p:nvPr/>
        </p:nvSpPr>
        <p:spPr>
          <a:xfrm>
            <a:off x="6950075" y="1405255"/>
            <a:ext cx="609600" cy="457200"/>
          </a:xfrm>
          <a:custGeom>
            <a:avLst/>
            <a:gdLst/>
            <a:ahLst/>
            <a:cxnLst/>
            <a:rect l="l" t="t" r="r" b="b"/>
            <a:pathLst>
              <a:path w="609600" h="457200">
                <a:moveTo>
                  <a:pt x="571500" y="0"/>
                </a:moveTo>
                <a:cubicBezTo>
                  <a:pt x="592543" y="0"/>
                  <a:pt x="609600" y="0"/>
                  <a:pt x="609600" y="0"/>
                </a:cubicBezTo>
                <a:lnTo>
                  <a:pt x="609600" y="457200"/>
                </a:lnTo>
                <a:cubicBezTo>
                  <a:pt x="609600" y="457200"/>
                  <a:pt x="592543" y="457200"/>
                  <a:pt x="571500" y="457200"/>
                </a:cubicBezTo>
                <a:lnTo>
                  <a:pt x="38100" y="457200"/>
                </a:lnTo>
                <a:cubicBezTo>
                  <a:pt x="17057" y="457200"/>
                  <a:pt x="0" y="457200"/>
                  <a:pt x="0" y="457200"/>
                </a:cubicBezTo>
                <a:lnTo>
                  <a:pt x="0" y="0"/>
                </a:lnTo>
                <a:cubicBezTo>
                  <a:pt x="0" y="0"/>
                  <a:pt x="17057" y="0"/>
                  <a:pt x="38100" y="0"/>
                </a:cubicBezTo>
                <a:close/>
              </a:path>
            </a:pathLst>
          </a:custGeom>
          <a:solidFill>
            <a:srgbClr val="E67E22">
              <a:alpha val="100000"/>
            </a:srgbClr>
          </a:solidFill>
          <a:ln w="12700" cap="flat" cmpd="sng">
            <a:solidFill>
              <a:srgbClr val="D68910">
                <a:alpha val="100000"/>
              </a:srgbClr>
            </a:solidFill>
            <a:prstDash val="solid"/>
            <a:miter lim="1000000"/>
          </a:ln>
        </p:spPr>
        <p:txBody>
          <a:bodyPr vert="horz" wrap="square" lIns="91440" tIns="45720" rIns="91440" bIns="45720" rtlCol="0" anchor="ctr" anchorCtr="0"/>
          <a:lstStyle/>
          <a:p>
            <a:pPr algn="l">
              <a:defRPr/>
            </a:pPr>
            <a:endParaRPr/>
          </a:p>
        </p:txBody>
      </p:sp>
      <p:sp>
        <p:nvSpPr>
          <p:cNvPr id="44" name="AutoShape 44"/>
          <p:cNvSpPr/>
          <p:nvPr/>
        </p:nvSpPr>
        <p:spPr>
          <a:xfrm>
            <a:off x="7011035" y="1431290"/>
            <a:ext cx="487680" cy="1917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dirty="0">
                <a:solidFill>
                  <a:srgbClr val="FFFFFF"/>
                </a:solidFill>
                <a:latin typeface="微软雅黑"/>
                <a:ea typeface="微软雅黑"/>
                <a:cs typeface="微软雅黑"/>
                <a:sym typeface="微软雅黑"/>
              </a:rPr>
              <a:t>Append</a:t>
            </a:r>
          </a:p>
          <a:p>
            <a:pPr marL="0" indent="0" algn="l" defTabSz="914400">
              <a:lnSpc>
                <a:spcPct val="100000"/>
              </a:lnSpc>
              <a:defRPr/>
            </a:pPr>
            <a:r>
              <a:rPr lang="en-US" sz="750" b="0" i="0" u="none" strike="noStrike" dirty="0" err="1">
                <a:solidFill>
                  <a:srgbClr val="FFFFFF"/>
                </a:solidFill>
                <a:latin typeface="微软雅黑"/>
                <a:ea typeface="微软雅黑"/>
                <a:cs typeface="微软雅黑"/>
                <a:sym typeface="微软雅黑"/>
              </a:rPr>
              <a:t>补漏</a:t>
            </a:r>
            <a:endParaRPr lang="en-US" sz="1100" dirty="0"/>
          </a:p>
        </p:txBody>
      </p:sp>
      <p:sp>
        <p:nvSpPr>
          <p:cNvPr id="45" name="AutoShape 45"/>
          <p:cNvSpPr/>
          <p:nvPr/>
        </p:nvSpPr>
        <p:spPr>
          <a:xfrm>
            <a:off x="7026275" y="1553845"/>
            <a:ext cx="457200" cy="182245"/>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46" name="AutoShape 46"/>
          <p:cNvSpPr/>
          <p:nvPr/>
        </p:nvSpPr>
        <p:spPr>
          <a:xfrm>
            <a:off x="7026275" y="1652905"/>
            <a:ext cx="457200" cy="182245"/>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47" name="Freeform 47"/>
          <p:cNvSpPr/>
          <p:nvPr/>
        </p:nvSpPr>
        <p:spPr>
          <a:xfrm>
            <a:off x="7635875" y="1405255"/>
            <a:ext cx="609600" cy="457200"/>
          </a:xfrm>
          <a:custGeom>
            <a:avLst/>
            <a:gdLst/>
            <a:ahLst/>
            <a:cxnLst/>
            <a:rect l="l" t="t" r="r" b="b"/>
            <a:pathLst>
              <a:path w="609600" h="457200">
                <a:moveTo>
                  <a:pt x="571500" y="0"/>
                </a:moveTo>
                <a:cubicBezTo>
                  <a:pt x="592543" y="0"/>
                  <a:pt x="609600" y="0"/>
                  <a:pt x="609600" y="0"/>
                </a:cubicBezTo>
                <a:lnTo>
                  <a:pt x="609600" y="457200"/>
                </a:lnTo>
                <a:cubicBezTo>
                  <a:pt x="609600" y="457200"/>
                  <a:pt x="592543" y="457200"/>
                  <a:pt x="571500" y="457200"/>
                </a:cubicBezTo>
                <a:lnTo>
                  <a:pt x="38100" y="457200"/>
                </a:lnTo>
                <a:cubicBezTo>
                  <a:pt x="17057" y="457200"/>
                  <a:pt x="0" y="457200"/>
                  <a:pt x="0" y="457200"/>
                </a:cubicBezTo>
                <a:lnTo>
                  <a:pt x="0" y="0"/>
                </a:lnTo>
                <a:cubicBezTo>
                  <a:pt x="0" y="0"/>
                  <a:pt x="17057" y="0"/>
                  <a:pt x="38100" y="0"/>
                </a:cubicBezTo>
                <a:close/>
              </a:path>
            </a:pathLst>
          </a:custGeom>
          <a:solidFill>
            <a:srgbClr val="E67E22">
              <a:alpha val="100000"/>
            </a:srgbClr>
          </a:solidFill>
          <a:ln w="12700" cap="flat" cmpd="sng">
            <a:solidFill>
              <a:srgbClr val="D68910">
                <a:alpha val="100000"/>
              </a:srgbClr>
            </a:solidFill>
            <a:prstDash val="solid"/>
            <a:miter lim="1000000"/>
          </a:ln>
        </p:spPr>
        <p:txBody>
          <a:bodyPr vert="horz" wrap="square" lIns="91440" tIns="45720" rIns="91440" bIns="45720" rtlCol="0" anchor="ctr" anchorCtr="0"/>
          <a:lstStyle/>
          <a:p>
            <a:pPr algn="l">
              <a:defRPr/>
            </a:pPr>
            <a:endParaRPr/>
          </a:p>
        </p:txBody>
      </p:sp>
      <p:sp>
        <p:nvSpPr>
          <p:cNvPr id="48" name="AutoShape 48"/>
          <p:cNvSpPr/>
          <p:nvPr/>
        </p:nvSpPr>
        <p:spPr>
          <a:xfrm>
            <a:off x="7696835" y="1431290"/>
            <a:ext cx="487680" cy="374650"/>
          </a:xfrm>
          <a:prstGeom prst="rect">
            <a:avLst/>
          </a:prstGeom>
          <a:noFill/>
          <a:ln w="12700" cap="flat" cmpd="sng">
            <a:noFill/>
            <a:prstDash val="solid"/>
            <a:round/>
          </a:ln>
        </p:spPr>
        <p:txBody>
          <a:bodyPr vert="horz" wrap="none" lIns="91440" tIns="45720" rIns="91440" bIns="45720" rtlCol="0" anchor="t">
            <a:noAutofit/>
          </a:bodyPr>
          <a:lstStyle/>
          <a:p>
            <a:pPr>
              <a:defRPr/>
            </a:pPr>
            <a:r>
              <a:rPr lang="en-US" sz="750" b="0" i="0" u="none" strike="noStrike" dirty="0">
                <a:solidFill>
                  <a:srgbClr val="FFFFFF"/>
                </a:solidFill>
                <a:latin typeface="微软雅黑"/>
                <a:ea typeface="微软雅黑"/>
                <a:cs typeface="微软雅黑"/>
                <a:sym typeface="微软雅黑"/>
              </a:rPr>
              <a:t>Refiner</a:t>
            </a:r>
            <a:endParaRPr lang="en-US" sz="750" dirty="0">
              <a:solidFill>
                <a:srgbClr val="FFFFFF"/>
              </a:solidFill>
              <a:latin typeface="微软雅黑"/>
              <a:ea typeface="微软雅黑"/>
              <a:cs typeface="微软雅黑"/>
              <a:sym typeface="微软雅黑"/>
            </a:endParaRPr>
          </a:p>
          <a:p>
            <a:pPr>
              <a:defRPr/>
            </a:pPr>
            <a:r>
              <a:rPr lang="zh-CN" altLang="en-US" sz="750" dirty="0">
                <a:solidFill>
                  <a:schemeClr val="bg1"/>
                </a:solidFill>
                <a:latin typeface="Microsoft YaHei" panose="020B0503020204020204" pitchFamily="34" charset="-122"/>
                <a:ea typeface="Microsoft YaHei" panose="020B0503020204020204" pitchFamily="34" charset="-122"/>
              </a:rPr>
              <a:t>修改边界</a:t>
            </a:r>
            <a:endParaRPr lang="en-US" sz="750" dirty="0">
              <a:solidFill>
                <a:schemeClr val="bg1"/>
              </a:solidFill>
              <a:latin typeface="Microsoft YaHei" panose="020B0503020204020204" pitchFamily="34" charset="-122"/>
              <a:ea typeface="Microsoft YaHei" panose="020B0503020204020204" pitchFamily="34" charset="-122"/>
            </a:endParaRPr>
          </a:p>
        </p:txBody>
      </p:sp>
      <p:sp>
        <p:nvSpPr>
          <p:cNvPr id="49" name="AutoShape 49"/>
          <p:cNvSpPr/>
          <p:nvPr/>
        </p:nvSpPr>
        <p:spPr>
          <a:xfrm>
            <a:off x="7677785" y="1553845"/>
            <a:ext cx="525780" cy="182245"/>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50" name="AutoShape 50"/>
          <p:cNvSpPr/>
          <p:nvPr/>
        </p:nvSpPr>
        <p:spPr>
          <a:xfrm>
            <a:off x="7712075" y="1652905"/>
            <a:ext cx="457200" cy="182245"/>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51" name="Freeform 51"/>
          <p:cNvSpPr/>
          <p:nvPr/>
        </p:nvSpPr>
        <p:spPr>
          <a:xfrm>
            <a:off x="6264275" y="1938655"/>
            <a:ext cx="1981200" cy="304800"/>
          </a:xfrm>
          <a:custGeom>
            <a:avLst/>
            <a:gdLst/>
            <a:ahLst/>
            <a:cxnLst/>
            <a:rect l="l" t="t" r="r" b="b"/>
            <a:pathLst>
              <a:path w="1981200" h="304800">
                <a:moveTo>
                  <a:pt x="1943100" y="0"/>
                </a:moveTo>
                <a:cubicBezTo>
                  <a:pt x="1964143" y="0"/>
                  <a:pt x="1981200" y="0"/>
                  <a:pt x="1981200" y="0"/>
                </a:cubicBezTo>
                <a:lnTo>
                  <a:pt x="1981200" y="304800"/>
                </a:lnTo>
                <a:cubicBezTo>
                  <a:pt x="1981200" y="304800"/>
                  <a:pt x="1964143" y="304800"/>
                  <a:pt x="1943100" y="304800"/>
                </a:cubicBezTo>
                <a:lnTo>
                  <a:pt x="38100" y="304800"/>
                </a:lnTo>
                <a:cubicBezTo>
                  <a:pt x="17057" y="304800"/>
                  <a:pt x="0" y="304800"/>
                  <a:pt x="0" y="304800"/>
                </a:cubicBezTo>
                <a:lnTo>
                  <a:pt x="0" y="0"/>
                </a:lnTo>
                <a:cubicBezTo>
                  <a:pt x="0" y="0"/>
                  <a:pt x="17057" y="0"/>
                  <a:pt x="38100" y="0"/>
                </a:cubicBezTo>
                <a:close/>
              </a:path>
            </a:pathLst>
          </a:custGeom>
          <a:solidFill>
            <a:srgbClr val="8E44AD">
              <a:alpha val="100000"/>
            </a:srgbClr>
          </a:solidFill>
          <a:ln w="12700" cap="flat" cmpd="sng">
            <a:solidFill>
              <a:srgbClr val="7D3C98">
                <a:alpha val="100000"/>
              </a:srgbClr>
            </a:solidFill>
            <a:prstDash val="solid"/>
            <a:miter lim="1000000"/>
          </a:ln>
        </p:spPr>
        <p:txBody>
          <a:bodyPr vert="horz" wrap="square" lIns="91440" tIns="45720" rIns="91440" bIns="45720" rtlCol="0" anchor="ctr" anchorCtr="0"/>
          <a:lstStyle/>
          <a:p>
            <a:pPr algn="l">
              <a:defRPr/>
            </a:pPr>
            <a:endParaRPr/>
          </a:p>
        </p:txBody>
      </p:sp>
      <p:sp>
        <p:nvSpPr>
          <p:cNvPr id="52" name="AutoShape 52"/>
          <p:cNvSpPr/>
          <p:nvPr/>
        </p:nvSpPr>
        <p:spPr>
          <a:xfrm>
            <a:off x="6845935" y="1910715"/>
            <a:ext cx="81788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Stage-Gate：</a:t>
            </a:r>
            <a:r>
              <a:rPr lang="en-US" sz="500" b="0" i="0" u="none" strike="noStrike" dirty="0" err="1">
                <a:solidFill>
                  <a:srgbClr val="FFFFFF"/>
                </a:solidFill>
                <a:latin typeface="微软雅黑"/>
                <a:ea typeface="微软雅黑"/>
                <a:cs typeface="微软雅黑"/>
                <a:sym typeface="微软雅黑"/>
              </a:rPr>
              <a:t>Go</a:t>
            </a:r>
            <a:r>
              <a:rPr lang="en-US" sz="500" b="0" i="0" u="none" strike="noStrike" dirty="0">
                <a:solidFill>
                  <a:srgbClr val="FFFFFF"/>
                </a:solidFill>
                <a:latin typeface="微软雅黑"/>
                <a:ea typeface="微软雅黑"/>
                <a:cs typeface="微软雅黑"/>
                <a:sym typeface="微软雅黑"/>
              </a:rPr>
              <a:t> / Hold / Stop</a:t>
            </a:r>
            <a:endParaRPr lang="en-US" sz="1100" dirty="0"/>
          </a:p>
        </p:txBody>
      </p:sp>
      <p:sp>
        <p:nvSpPr>
          <p:cNvPr id="53" name="AutoShape 53"/>
          <p:cNvSpPr/>
          <p:nvPr/>
        </p:nvSpPr>
        <p:spPr>
          <a:xfrm>
            <a:off x="6401435" y="2040890"/>
            <a:ext cx="1706880" cy="1917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dirty="0" err="1">
                <a:solidFill>
                  <a:srgbClr val="FFFFFF"/>
                </a:solidFill>
                <a:latin typeface="微软雅黑"/>
                <a:ea typeface="微软雅黑"/>
                <a:cs typeface="微软雅黑"/>
                <a:sym typeface="微软雅黑"/>
              </a:rPr>
              <a:t>多随机种子稳定性复验</a:t>
            </a:r>
            <a:endParaRPr lang="en-US" sz="1100" dirty="0"/>
          </a:p>
        </p:txBody>
      </p:sp>
      <p:sp>
        <p:nvSpPr>
          <p:cNvPr id="54" name="Freeform 54"/>
          <p:cNvSpPr/>
          <p:nvPr/>
        </p:nvSpPr>
        <p:spPr>
          <a:xfrm>
            <a:off x="6264275" y="2395855"/>
            <a:ext cx="1981200" cy="457200"/>
          </a:xfrm>
          <a:custGeom>
            <a:avLst/>
            <a:gdLst/>
            <a:ahLst/>
            <a:cxnLst/>
            <a:rect l="l" t="t" r="r" b="b"/>
            <a:pathLst>
              <a:path w="1981200" h="457200">
                <a:moveTo>
                  <a:pt x="1943100" y="0"/>
                </a:moveTo>
                <a:cubicBezTo>
                  <a:pt x="1964143" y="0"/>
                  <a:pt x="1981200" y="0"/>
                  <a:pt x="1981200" y="0"/>
                </a:cubicBezTo>
                <a:lnTo>
                  <a:pt x="1981200" y="457200"/>
                </a:lnTo>
                <a:cubicBezTo>
                  <a:pt x="1981200" y="457200"/>
                  <a:pt x="1964143" y="457200"/>
                  <a:pt x="1943100" y="457200"/>
                </a:cubicBezTo>
                <a:lnTo>
                  <a:pt x="38100" y="457200"/>
                </a:lnTo>
                <a:cubicBezTo>
                  <a:pt x="17057" y="457200"/>
                  <a:pt x="0" y="457200"/>
                  <a:pt x="0" y="457200"/>
                </a:cubicBezTo>
                <a:lnTo>
                  <a:pt x="0" y="0"/>
                </a:lnTo>
                <a:cubicBezTo>
                  <a:pt x="0" y="0"/>
                  <a:pt x="17057" y="0"/>
                  <a:pt x="38100" y="0"/>
                </a:cubicBezTo>
                <a:close/>
              </a:path>
            </a:pathLst>
          </a:custGeom>
          <a:solidFill>
            <a:srgbClr val="2C3E50">
              <a:alpha val="100000"/>
            </a:srgbClr>
          </a:solidFill>
          <a:ln w="12700" cap="flat" cmpd="sng">
            <a:solidFill>
              <a:srgbClr val="34495E">
                <a:alpha val="100000"/>
              </a:srgbClr>
            </a:solidFill>
            <a:prstDash val="solid"/>
            <a:miter lim="1000000"/>
          </a:ln>
        </p:spPr>
        <p:txBody>
          <a:bodyPr vert="horz" wrap="square" lIns="91440" tIns="45720" rIns="91440" bIns="45720" rtlCol="0" anchor="ctr" anchorCtr="0"/>
          <a:lstStyle/>
          <a:p>
            <a:pPr algn="l">
              <a:defRPr/>
            </a:pPr>
            <a:endParaRPr/>
          </a:p>
        </p:txBody>
      </p:sp>
      <p:sp>
        <p:nvSpPr>
          <p:cNvPr id="55" name="AutoShape 55"/>
          <p:cNvSpPr/>
          <p:nvPr/>
        </p:nvSpPr>
        <p:spPr>
          <a:xfrm>
            <a:off x="6592887" y="2379345"/>
            <a:ext cx="54864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多规模</a:t>
            </a:r>
            <a:r>
              <a:rPr lang="en-US" sz="900" b="0" i="0" u="none" strike="noStrike" dirty="0">
                <a:solidFill>
                  <a:srgbClr val="FFFFFF"/>
                </a:solidFill>
                <a:latin typeface="微软雅黑"/>
                <a:ea typeface="微软雅黑"/>
                <a:cs typeface="微软雅黑"/>
                <a:sym typeface="微软雅黑"/>
              </a:rPr>
              <a:t> 1k/10k/100k </a:t>
            </a:r>
            <a:r>
              <a:rPr lang="en-US" sz="900" b="0" i="0" u="none" strike="noStrike" dirty="0" err="1">
                <a:solidFill>
                  <a:srgbClr val="FFFFFF"/>
                </a:solidFill>
                <a:latin typeface="微软雅黑"/>
                <a:ea typeface="微软雅黑"/>
                <a:cs typeface="微软雅黑"/>
                <a:sym typeface="微软雅黑"/>
              </a:rPr>
              <a:t>推演</a:t>
            </a:r>
            <a:endParaRPr lang="en-US" sz="1100" dirty="0"/>
          </a:p>
        </p:txBody>
      </p:sp>
      <p:sp>
        <p:nvSpPr>
          <p:cNvPr id="56" name="AutoShape 56"/>
          <p:cNvSpPr/>
          <p:nvPr/>
        </p:nvSpPr>
        <p:spPr>
          <a:xfrm>
            <a:off x="6591935" y="2536190"/>
            <a:ext cx="1325880" cy="1917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FFFFFF"/>
                </a:solidFill>
                <a:latin typeface="微软雅黑"/>
                <a:ea typeface="微软雅黑"/>
                <a:cs typeface="微软雅黑"/>
                <a:sym typeface="微软雅黑"/>
              </a:rPr>
              <a:t>检测效果 / 制备时间 / 人工投入</a:t>
            </a:r>
            <a:endParaRPr lang="en-US" sz="1100"/>
          </a:p>
        </p:txBody>
      </p:sp>
      <p:sp>
        <p:nvSpPr>
          <p:cNvPr id="57" name="AutoShape 57"/>
          <p:cNvSpPr/>
          <p:nvPr/>
        </p:nvSpPr>
        <p:spPr>
          <a:xfrm>
            <a:off x="6858635" y="2650490"/>
            <a:ext cx="792480" cy="1917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FFFFFF"/>
                </a:solidFill>
                <a:latin typeface="微软雅黑"/>
                <a:ea typeface="微软雅黑"/>
                <a:cs typeface="微软雅黑"/>
                <a:sym typeface="微软雅黑"/>
              </a:rPr>
              <a:t>Pareto 非支配比较</a:t>
            </a:r>
            <a:endParaRPr lang="en-US" sz="1100"/>
          </a:p>
        </p:txBody>
      </p:sp>
      <p:sp>
        <p:nvSpPr>
          <p:cNvPr id="58" name="Freeform 58"/>
          <p:cNvSpPr/>
          <p:nvPr/>
        </p:nvSpPr>
        <p:spPr>
          <a:xfrm>
            <a:off x="8398055" y="1786391"/>
            <a:ext cx="228600" cy="152400"/>
          </a:xfrm>
          <a:custGeom>
            <a:avLst/>
            <a:gdLst/>
            <a:ahLst/>
            <a:cxnLst/>
            <a:rect l="l" t="t" r="r" b="b"/>
            <a:pathLst>
              <a:path w="228600" h="152400">
                <a:moveTo>
                  <a:pt x="0" y="76200"/>
                </a:moveTo>
                <a:lnTo>
                  <a:pt x="228600" y="76200"/>
                </a:lnTo>
                <a:lnTo>
                  <a:pt x="152400" y="152400"/>
                </a:lnTo>
                <a:lnTo>
                  <a:pt x="152400" y="0"/>
                </a:lnTo>
                <a:lnTo>
                  <a:pt x="228600" y="76200"/>
                </a:lnTo>
                <a:close/>
              </a:path>
            </a:pathLst>
          </a:custGeom>
          <a:solidFill>
            <a:srgbClr val="34495E">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59" name="Freeform 59"/>
          <p:cNvSpPr/>
          <p:nvPr/>
        </p:nvSpPr>
        <p:spPr>
          <a:xfrm>
            <a:off x="8778875" y="719455"/>
            <a:ext cx="1905000" cy="2286000"/>
          </a:xfrm>
          <a:custGeom>
            <a:avLst/>
            <a:gdLst/>
            <a:ahLst/>
            <a:cxnLst/>
            <a:rect l="l" t="t" r="r" b="b"/>
            <a:pathLst>
              <a:path w="1905000" h="2286000">
                <a:moveTo>
                  <a:pt x="1828800" y="0"/>
                </a:moveTo>
                <a:cubicBezTo>
                  <a:pt x="1870884" y="0"/>
                  <a:pt x="1905000" y="0"/>
                  <a:pt x="1905000" y="0"/>
                </a:cubicBezTo>
                <a:lnTo>
                  <a:pt x="1905000" y="2286000"/>
                </a:lnTo>
                <a:cubicBezTo>
                  <a:pt x="1905000" y="2286000"/>
                  <a:pt x="1870884" y="2286000"/>
                  <a:pt x="1828800" y="2286000"/>
                </a:cubicBezTo>
                <a:lnTo>
                  <a:pt x="76200" y="2286000"/>
                </a:lnTo>
                <a:cubicBezTo>
                  <a:pt x="34116" y="2286000"/>
                  <a:pt x="0" y="2286000"/>
                  <a:pt x="0" y="2286000"/>
                </a:cubicBezTo>
                <a:lnTo>
                  <a:pt x="0" y="0"/>
                </a:lnTo>
                <a:cubicBezTo>
                  <a:pt x="0" y="0"/>
                  <a:pt x="34116" y="0"/>
                  <a:pt x="76200" y="0"/>
                </a:cubicBezTo>
                <a:close/>
              </a:path>
            </a:pathLst>
          </a:custGeom>
          <a:solidFill>
            <a:srgbClr val="ECF0F1">
              <a:alpha val="100000"/>
            </a:srgbClr>
          </a:solidFill>
          <a:ln w="12700" cap="flat" cmpd="sng">
            <a:solidFill>
              <a:srgbClr val="95A5A6">
                <a:alpha val="100000"/>
              </a:srgbClr>
            </a:solidFill>
            <a:prstDash val="solid"/>
            <a:miter lim="1000000"/>
          </a:ln>
        </p:spPr>
        <p:txBody>
          <a:bodyPr vert="horz" wrap="square" lIns="91440" tIns="45720" rIns="91440" bIns="45720" rtlCol="0" anchor="ctr" anchorCtr="0"/>
          <a:lstStyle/>
          <a:p>
            <a:pPr algn="l">
              <a:defRPr/>
            </a:pPr>
            <a:endParaRPr/>
          </a:p>
        </p:txBody>
      </p:sp>
      <p:sp>
        <p:nvSpPr>
          <p:cNvPr id="60" name="AutoShape 60"/>
          <p:cNvSpPr/>
          <p:nvPr/>
        </p:nvSpPr>
        <p:spPr>
          <a:xfrm>
            <a:off x="8778875" y="725170"/>
            <a:ext cx="1158240" cy="25209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200" b="1" i="0" u="none" strike="noStrike" dirty="0" err="1">
                <a:solidFill>
                  <a:srgbClr val="2C3E50"/>
                </a:solidFill>
                <a:latin typeface="微软雅黑"/>
                <a:ea typeface="微软雅黑"/>
                <a:cs typeface="微软雅黑"/>
                <a:sym typeface="微软雅黑"/>
              </a:rPr>
              <a:t>阶段四：流程选型与交付</a:t>
            </a:r>
            <a:endParaRPr lang="en-US" sz="1100" dirty="0"/>
          </a:p>
        </p:txBody>
      </p:sp>
      <p:sp>
        <p:nvSpPr>
          <p:cNvPr id="61" name="Freeform 61"/>
          <p:cNvSpPr/>
          <p:nvPr/>
        </p:nvSpPr>
        <p:spPr>
          <a:xfrm>
            <a:off x="8931275" y="1024255"/>
            <a:ext cx="1600200" cy="381000"/>
          </a:xfrm>
          <a:custGeom>
            <a:avLst/>
            <a:gdLst/>
            <a:ahLst/>
            <a:cxnLst/>
            <a:rect l="l" t="t" r="r" b="b"/>
            <a:pathLst>
              <a:path w="1600200" h="381000">
                <a:moveTo>
                  <a:pt x="1562100" y="0"/>
                </a:moveTo>
                <a:cubicBezTo>
                  <a:pt x="1583143" y="0"/>
                  <a:pt x="1600200" y="0"/>
                  <a:pt x="1600200" y="0"/>
                </a:cubicBezTo>
                <a:lnTo>
                  <a:pt x="1600200" y="381000"/>
                </a:lnTo>
                <a:cubicBezTo>
                  <a:pt x="1600200" y="381000"/>
                  <a:pt x="1583143" y="381000"/>
                  <a:pt x="1562100" y="381000"/>
                </a:cubicBezTo>
                <a:lnTo>
                  <a:pt x="38100" y="381000"/>
                </a:lnTo>
                <a:cubicBezTo>
                  <a:pt x="17057" y="381000"/>
                  <a:pt x="0" y="381000"/>
                  <a:pt x="0" y="381000"/>
                </a:cubicBezTo>
                <a:lnTo>
                  <a:pt x="0" y="0"/>
                </a:lnTo>
                <a:cubicBezTo>
                  <a:pt x="0" y="0"/>
                  <a:pt x="17057" y="0"/>
                  <a:pt x="38100" y="0"/>
                </a:cubicBezTo>
                <a:close/>
              </a:path>
            </a:pathLst>
          </a:custGeom>
          <a:solidFill>
            <a:srgbClr val="34495E">
              <a:alpha val="100000"/>
            </a:srgbClr>
          </a:solidFill>
          <a:ln w="12700" cap="flat" cmpd="sng">
            <a:solidFill>
              <a:srgbClr val="2C3E50">
                <a:alpha val="100000"/>
              </a:srgbClr>
            </a:solidFill>
            <a:prstDash val="solid"/>
            <a:miter lim="1000000"/>
          </a:ln>
        </p:spPr>
        <p:txBody>
          <a:bodyPr vert="horz" wrap="square" lIns="91440" tIns="45720" rIns="91440" bIns="45720" rtlCol="0" anchor="ctr" anchorCtr="0"/>
          <a:lstStyle/>
          <a:p>
            <a:pPr algn="l">
              <a:defRPr/>
            </a:pPr>
            <a:endParaRPr/>
          </a:p>
        </p:txBody>
      </p:sp>
      <p:sp>
        <p:nvSpPr>
          <p:cNvPr id="62" name="AutoShape 62"/>
          <p:cNvSpPr/>
          <p:nvPr/>
        </p:nvSpPr>
        <p:spPr>
          <a:xfrm>
            <a:off x="9034816" y="1034415"/>
            <a:ext cx="64008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选定推荐生产流程</a:t>
            </a:r>
            <a:endParaRPr lang="en-US" sz="1100" dirty="0"/>
          </a:p>
        </p:txBody>
      </p:sp>
      <p:sp>
        <p:nvSpPr>
          <p:cNvPr id="63" name="AutoShape 63"/>
          <p:cNvSpPr/>
          <p:nvPr/>
        </p:nvSpPr>
        <p:spPr>
          <a:xfrm>
            <a:off x="9297035" y="1164590"/>
            <a:ext cx="868680" cy="191770"/>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750" b="0" i="0" u="none" strike="noStrike">
                <a:solidFill>
                  <a:srgbClr val="FFFFFF"/>
                </a:solidFill>
                <a:latin typeface="微软雅黑"/>
                <a:ea typeface="微软雅黑"/>
                <a:cs typeface="微软雅黑"/>
                <a:sym typeface="微软雅黑"/>
              </a:rPr>
              <a:t>落实到具体工作安排</a:t>
            </a:r>
            <a:endParaRPr lang="en-US" sz="1100"/>
          </a:p>
        </p:txBody>
      </p:sp>
      <p:sp>
        <p:nvSpPr>
          <p:cNvPr id="64" name="Freeform 64"/>
          <p:cNvSpPr/>
          <p:nvPr/>
        </p:nvSpPr>
        <p:spPr>
          <a:xfrm>
            <a:off x="8931275" y="1499235"/>
            <a:ext cx="1600200" cy="381000"/>
          </a:xfrm>
          <a:custGeom>
            <a:avLst/>
            <a:gdLst/>
            <a:ahLst/>
            <a:cxnLst/>
            <a:rect l="l" t="t" r="r" b="b"/>
            <a:pathLst>
              <a:path w="1600200" h="381000">
                <a:moveTo>
                  <a:pt x="1562100" y="0"/>
                </a:moveTo>
                <a:cubicBezTo>
                  <a:pt x="1583143" y="0"/>
                  <a:pt x="1600200" y="0"/>
                  <a:pt x="1600200" y="0"/>
                </a:cubicBezTo>
                <a:lnTo>
                  <a:pt x="1600200" y="381000"/>
                </a:lnTo>
                <a:cubicBezTo>
                  <a:pt x="1600200" y="381000"/>
                  <a:pt x="1583143" y="381000"/>
                  <a:pt x="1562100" y="381000"/>
                </a:cubicBezTo>
                <a:lnTo>
                  <a:pt x="38100" y="381000"/>
                </a:lnTo>
                <a:cubicBezTo>
                  <a:pt x="17057" y="381000"/>
                  <a:pt x="0" y="381000"/>
                  <a:pt x="0" y="381000"/>
                </a:cubicBezTo>
                <a:lnTo>
                  <a:pt x="0" y="0"/>
                </a:lnTo>
                <a:cubicBezTo>
                  <a:pt x="0" y="0"/>
                  <a:pt x="17057" y="0"/>
                  <a:pt x="38100" y="0"/>
                </a:cubicBezTo>
                <a:close/>
              </a:path>
            </a:pathLst>
          </a:custGeom>
          <a:solidFill>
            <a:srgbClr val="E74C3C">
              <a:alpha val="100000"/>
            </a:srgbClr>
          </a:solidFill>
          <a:ln w="12700" cap="flat" cmpd="sng">
            <a:solidFill>
              <a:srgbClr val="C0392B">
                <a:alpha val="100000"/>
              </a:srgbClr>
            </a:solidFill>
            <a:prstDash val="solid"/>
            <a:miter lim="1000000"/>
          </a:ln>
        </p:spPr>
        <p:txBody>
          <a:bodyPr vert="horz" wrap="square" lIns="91440" tIns="45720" rIns="91440" bIns="45720" rtlCol="0" anchor="ctr" anchorCtr="0"/>
          <a:lstStyle/>
          <a:p>
            <a:pPr algn="l">
              <a:defRPr/>
            </a:pPr>
            <a:endParaRPr/>
          </a:p>
        </p:txBody>
      </p:sp>
      <p:sp>
        <p:nvSpPr>
          <p:cNvPr id="65" name="AutoShape 65"/>
          <p:cNvSpPr/>
          <p:nvPr/>
        </p:nvSpPr>
        <p:spPr>
          <a:xfrm>
            <a:off x="9035700" y="1491615"/>
            <a:ext cx="54864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全链路元数据可追溯</a:t>
            </a:r>
            <a:endParaRPr lang="en-US" sz="1100" dirty="0"/>
          </a:p>
        </p:txBody>
      </p:sp>
      <p:sp>
        <p:nvSpPr>
          <p:cNvPr id="66" name="AutoShape 66"/>
          <p:cNvSpPr/>
          <p:nvPr/>
        </p:nvSpPr>
        <p:spPr>
          <a:xfrm>
            <a:off x="9297035" y="1621790"/>
            <a:ext cx="868680" cy="191770"/>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750" b="0" i="0" u="none" strike="noStrike" dirty="0" err="1">
                <a:solidFill>
                  <a:srgbClr val="FFFFFF"/>
                </a:solidFill>
                <a:latin typeface="微软雅黑"/>
                <a:ea typeface="微软雅黑"/>
                <a:cs typeface="微软雅黑"/>
                <a:sym typeface="微软雅黑"/>
              </a:rPr>
              <a:t>跟踪执行效果和异常</a:t>
            </a:r>
            <a:endParaRPr lang="en-US" sz="1100" dirty="0"/>
          </a:p>
        </p:txBody>
      </p:sp>
      <p:sp>
        <p:nvSpPr>
          <p:cNvPr id="67" name="Freeform 67"/>
          <p:cNvSpPr/>
          <p:nvPr/>
        </p:nvSpPr>
        <p:spPr>
          <a:xfrm>
            <a:off x="8931275" y="1938655"/>
            <a:ext cx="1600200" cy="381000"/>
          </a:xfrm>
          <a:custGeom>
            <a:avLst/>
            <a:gdLst/>
            <a:ahLst/>
            <a:cxnLst/>
            <a:rect l="l" t="t" r="r" b="b"/>
            <a:pathLst>
              <a:path w="1600200" h="381000">
                <a:moveTo>
                  <a:pt x="1562100" y="0"/>
                </a:moveTo>
                <a:cubicBezTo>
                  <a:pt x="1583143" y="0"/>
                  <a:pt x="1600200" y="0"/>
                  <a:pt x="1600200" y="0"/>
                </a:cubicBezTo>
                <a:lnTo>
                  <a:pt x="1600200" y="381000"/>
                </a:lnTo>
                <a:cubicBezTo>
                  <a:pt x="1600200" y="381000"/>
                  <a:pt x="1583143" y="381000"/>
                  <a:pt x="1562100" y="381000"/>
                </a:cubicBezTo>
                <a:lnTo>
                  <a:pt x="38100" y="381000"/>
                </a:lnTo>
                <a:cubicBezTo>
                  <a:pt x="17057" y="381000"/>
                  <a:pt x="0" y="381000"/>
                  <a:pt x="0" y="381000"/>
                </a:cubicBezTo>
                <a:lnTo>
                  <a:pt x="0" y="0"/>
                </a:lnTo>
                <a:cubicBezTo>
                  <a:pt x="0" y="0"/>
                  <a:pt x="17057" y="0"/>
                  <a:pt x="38100" y="0"/>
                </a:cubicBezTo>
                <a:close/>
              </a:path>
            </a:pathLst>
          </a:custGeom>
          <a:solidFill>
            <a:srgbClr val="F39C12">
              <a:alpha val="100000"/>
            </a:srgbClr>
          </a:solidFill>
          <a:ln w="12700" cap="flat" cmpd="sng">
            <a:solidFill>
              <a:srgbClr val="E67E22">
                <a:alpha val="100000"/>
              </a:srgbClr>
            </a:solidFill>
            <a:prstDash val="solid"/>
            <a:miter lim="1000000"/>
          </a:ln>
        </p:spPr>
        <p:txBody>
          <a:bodyPr vert="horz" wrap="square" lIns="91440" tIns="45720" rIns="91440" bIns="45720" rtlCol="0" anchor="ctr" anchorCtr="0"/>
          <a:lstStyle/>
          <a:p>
            <a:pPr algn="l">
              <a:defRPr/>
            </a:pPr>
            <a:endParaRPr/>
          </a:p>
        </p:txBody>
      </p:sp>
      <p:sp>
        <p:nvSpPr>
          <p:cNvPr id="68" name="AutoShape 68"/>
          <p:cNvSpPr/>
          <p:nvPr/>
        </p:nvSpPr>
        <p:spPr>
          <a:xfrm>
            <a:off x="9008815" y="1948815"/>
            <a:ext cx="54864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核心效用指标报告</a:t>
            </a:r>
            <a:endParaRPr lang="en-US" sz="1100" dirty="0"/>
          </a:p>
        </p:txBody>
      </p:sp>
      <p:sp>
        <p:nvSpPr>
          <p:cNvPr id="69" name="AutoShape 69"/>
          <p:cNvSpPr/>
          <p:nvPr/>
        </p:nvSpPr>
        <p:spPr>
          <a:xfrm>
            <a:off x="9274178" y="2078430"/>
            <a:ext cx="792480" cy="191770"/>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750" b="0" i="0" u="none" strike="noStrike" dirty="0" err="1">
                <a:solidFill>
                  <a:srgbClr val="FFFFFF"/>
                </a:solidFill>
                <a:latin typeface="微软雅黑"/>
                <a:ea typeface="微软雅黑"/>
                <a:cs typeface="微软雅黑"/>
                <a:sym typeface="微软雅黑"/>
              </a:rPr>
              <a:t>统计各项指标表现</a:t>
            </a:r>
            <a:endParaRPr lang="en-US" sz="1100" dirty="0"/>
          </a:p>
        </p:txBody>
      </p:sp>
      <p:sp>
        <p:nvSpPr>
          <p:cNvPr id="70" name="Freeform 70"/>
          <p:cNvSpPr/>
          <p:nvPr/>
        </p:nvSpPr>
        <p:spPr>
          <a:xfrm>
            <a:off x="8931275" y="2395855"/>
            <a:ext cx="1600200" cy="457200"/>
          </a:xfrm>
          <a:custGeom>
            <a:avLst/>
            <a:gdLst/>
            <a:ahLst/>
            <a:cxnLst/>
            <a:rect l="l" t="t" r="r" b="b"/>
            <a:pathLst>
              <a:path w="1600200" h="457200">
                <a:moveTo>
                  <a:pt x="1562100" y="0"/>
                </a:moveTo>
                <a:cubicBezTo>
                  <a:pt x="1583143" y="0"/>
                  <a:pt x="1600200" y="0"/>
                  <a:pt x="1600200" y="0"/>
                </a:cubicBezTo>
                <a:lnTo>
                  <a:pt x="1600200" y="457200"/>
                </a:lnTo>
                <a:cubicBezTo>
                  <a:pt x="1600200" y="457200"/>
                  <a:pt x="1583143" y="457200"/>
                  <a:pt x="1562100" y="457200"/>
                </a:cubicBezTo>
                <a:lnTo>
                  <a:pt x="38100" y="457200"/>
                </a:lnTo>
                <a:cubicBezTo>
                  <a:pt x="17057" y="457200"/>
                  <a:pt x="0" y="457200"/>
                  <a:pt x="0" y="457200"/>
                </a:cubicBezTo>
                <a:lnTo>
                  <a:pt x="0" y="0"/>
                </a:lnTo>
                <a:cubicBezTo>
                  <a:pt x="0" y="0"/>
                  <a:pt x="17057" y="0"/>
                  <a:pt x="38100" y="0"/>
                </a:cubicBezTo>
                <a:close/>
              </a:path>
            </a:pathLst>
          </a:custGeom>
          <a:solidFill>
            <a:srgbClr val="17A2B8">
              <a:alpha val="100000"/>
            </a:srgbClr>
          </a:solidFill>
          <a:ln w="12700" cap="flat" cmpd="sng">
            <a:solidFill>
              <a:srgbClr val="138496">
                <a:alpha val="100000"/>
              </a:srgbClr>
            </a:solidFill>
            <a:prstDash val="solid"/>
            <a:miter lim="1000000"/>
          </a:ln>
        </p:spPr>
        <p:txBody>
          <a:bodyPr vert="horz" wrap="square" lIns="91440" tIns="45720" rIns="91440" bIns="45720" rtlCol="0" anchor="ctr" anchorCtr="0"/>
          <a:lstStyle/>
          <a:p>
            <a:pPr algn="l">
              <a:defRPr/>
            </a:pPr>
            <a:endParaRPr/>
          </a:p>
        </p:txBody>
      </p:sp>
      <p:sp>
        <p:nvSpPr>
          <p:cNvPr id="71" name="AutoShape 71"/>
          <p:cNvSpPr/>
          <p:nvPr/>
        </p:nvSpPr>
        <p:spPr>
          <a:xfrm>
            <a:off x="8999858" y="2444115"/>
            <a:ext cx="54864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原始数据</a:t>
            </a:r>
            <a:r>
              <a:rPr lang="en-US" sz="900" b="0" i="0" u="none" strike="noStrike" dirty="0">
                <a:solidFill>
                  <a:srgbClr val="FFFFFF"/>
                </a:solidFill>
                <a:latin typeface="微软雅黑"/>
                <a:ea typeface="微软雅黑"/>
                <a:cs typeface="微软雅黑"/>
                <a:sym typeface="微软雅黑"/>
              </a:rPr>
              <a:t>/</a:t>
            </a:r>
            <a:r>
              <a:rPr lang="en-US" sz="900" b="0" i="0" u="none" strike="noStrike" dirty="0" err="1">
                <a:solidFill>
                  <a:srgbClr val="FFFFFF"/>
                </a:solidFill>
                <a:latin typeface="微软雅黑"/>
                <a:ea typeface="微软雅黑"/>
                <a:cs typeface="微软雅黑"/>
                <a:sym typeface="微软雅黑"/>
              </a:rPr>
              <a:t>配置</a:t>
            </a:r>
            <a:r>
              <a:rPr lang="en-US" sz="900" b="0" i="0" u="none" strike="noStrike" dirty="0">
                <a:solidFill>
                  <a:srgbClr val="FFFFFF"/>
                </a:solidFill>
                <a:latin typeface="微软雅黑"/>
                <a:ea typeface="微软雅黑"/>
                <a:cs typeface="微软雅黑"/>
                <a:sym typeface="微软雅黑"/>
              </a:rPr>
              <a:t>/</a:t>
            </a:r>
            <a:r>
              <a:rPr lang="en-US" sz="900" b="0" i="0" u="none" strike="noStrike" dirty="0" err="1">
                <a:solidFill>
                  <a:srgbClr val="FFFFFF"/>
                </a:solidFill>
                <a:latin typeface="微软雅黑"/>
                <a:ea typeface="微软雅黑"/>
                <a:cs typeface="微软雅黑"/>
                <a:sym typeface="微软雅黑"/>
              </a:rPr>
              <a:t>权重反查</a:t>
            </a:r>
            <a:endParaRPr lang="en-US" sz="1100" dirty="0"/>
          </a:p>
        </p:txBody>
      </p:sp>
      <p:sp>
        <p:nvSpPr>
          <p:cNvPr id="72" name="AutoShape 72"/>
          <p:cNvSpPr/>
          <p:nvPr/>
        </p:nvSpPr>
        <p:spPr>
          <a:xfrm>
            <a:off x="9220835" y="2574290"/>
            <a:ext cx="1021080" cy="19177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73" name="AutoShape 73"/>
          <p:cNvSpPr/>
          <p:nvPr/>
        </p:nvSpPr>
        <p:spPr>
          <a:xfrm>
            <a:off x="9354856" y="2599578"/>
            <a:ext cx="868680" cy="1917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dirty="0" err="1">
                <a:solidFill>
                  <a:srgbClr val="FFFFFF"/>
                </a:solidFill>
                <a:latin typeface="微软雅黑"/>
                <a:ea typeface="微软雅黑"/>
                <a:cs typeface="微软雅黑"/>
                <a:sym typeface="微软雅黑"/>
              </a:rPr>
              <a:t>论文与复现材料</a:t>
            </a:r>
            <a:endParaRPr lang="en-US" sz="1100" dirty="0"/>
          </a:p>
        </p:txBody>
      </p:sp>
      <p:sp>
        <p:nvSpPr>
          <p:cNvPr id="74" name="Freeform 74"/>
          <p:cNvSpPr/>
          <p:nvPr/>
        </p:nvSpPr>
        <p:spPr>
          <a:xfrm>
            <a:off x="3825875" y="3005455"/>
            <a:ext cx="5905500" cy="533400"/>
          </a:xfrm>
          <a:custGeom>
            <a:avLst/>
            <a:gdLst/>
            <a:ahLst/>
            <a:cxnLst/>
            <a:rect l="l" t="t" r="r" b="b"/>
            <a:pathLst>
              <a:path w="5905500" h="533400">
                <a:moveTo>
                  <a:pt x="5905500" y="0"/>
                </a:moveTo>
                <a:cubicBezTo>
                  <a:pt x="5905500" y="355603"/>
                  <a:pt x="4953000" y="533400"/>
                  <a:pt x="3048000" y="533400"/>
                </a:cubicBezTo>
                <a:cubicBezTo>
                  <a:pt x="1015997" y="533400"/>
                  <a:pt x="0" y="406397"/>
                  <a:pt x="0" y="152400"/>
                </a:cubicBezTo>
              </a:path>
            </a:pathLst>
          </a:custGeom>
          <a:noFill/>
          <a:ln w="25400" cap="flat" cmpd="sng">
            <a:solidFill>
              <a:srgbClr val="E74C3C">
                <a:alpha val="100000"/>
              </a:srgbClr>
            </a:solidFill>
            <a:prstDash val="solid"/>
            <a:miter lim="1000000"/>
          </a:ln>
        </p:spPr>
        <p:txBody>
          <a:bodyPr vert="horz" wrap="square" lIns="91440" tIns="45720" rIns="91440" bIns="45720" rtlCol="0" anchor="ctr" anchorCtr="0"/>
          <a:lstStyle/>
          <a:p>
            <a:pPr algn="l">
              <a:defRPr/>
            </a:pPr>
            <a:endParaRPr/>
          </a:p>
        </p:txBody>
      </p:sp>
      <p:sp>
        <p:nvSpPr>
          <p:cNvPr id="75" name="Freeform 75"/>
          <p:cNvSpPr/>
          <p:nvPr/>
        </p:nvSpPr>
        <p:spPr>
          <a:xfrm>
            <a:off x="3749675" y="3119755"/>
            <a:ext cx="152400" cy="76200"/>
          </a:xfrm>
          <a:custGeom>
            <a:avLst/>
            <a:gdLst/>
            <a:ahLst/>
            <a:cxnLst/>
            <a:rect l="l" t="t" r="r" b="b"/>
            <a:pathLst>
              <a:path w="152400" h="76200">
                <a:moveTo>
                  <a:pt x="76200" y="0"/>
                </a:moveTo>
                <a:lnTo>
                  <a:pt x="0" y="38100"/>
                </a:lnTo>
                <a:lnTo>
                  <a:pt x="76200" y="76200"/>
                </a:lnTo>
                <a:lnTo>
                  <a:pt x="152400" y="38100"/>
                </a:lnTo>
                <a:close/>
              </a:path>
            </a:pathLst>
          </a:custGeom>
          <a:solidFill>
            <a:srgbClr val="E74C3C">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76" name="AutoShape 76"/>
          <p:cNvSpPr/>
          <p:nvPr/>
        </p:nvSpPr>
        <p:spPr>
          <a:xfrm>
            <a:off x="6355715" y="3532505"/>
            <a:ext cx="1036320" cy="23241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050" b="1" i="0" u="none" strike="noStrike">
                <a:solidFill>
                  <a:srgbClr val="E74C3C"/>
                </a:solidFill>
                <a:latin typeface="微软雅黑"/>
                <a:ea typeface="微软雅黑"/>
                <a:cs typeface="微软雅黑"/>
                <a:sym typeface="微软雅黑"/>
              </a:rPr>
              <a:t>多规模选型 + 敏感性分析</a:t>
            </a:r>
            <a:endParaRPr lang="en-US" sz="1100"/>
          </a:p>
        </p:txBody>
      </p:sp>
      <p:sp>
        <p:nvSpPr>
          <p:cNvPr id="77" name="AutoShape 77"/>
          <p:cNvSpPr/>
          <p:nvPr/>
        </p:nvSpPr>
        <p:spPr>
          <a:xfrm>
            <a:off x="5913755" y="3701415"/>
            <a:ext cx="192024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a:solidFill>
                  <a:srgbClr val="E74C3C"/>
                </a:solidFill>
                <a:latin typeface="微软雅黑"/>
                <a:ea typeface="微软雅黑"/>
                <a:cs typeface="微软雅黑"/>
                <a:sym typeface="微软雅黑"/>
              </a:rPr>
              <a:t>为不同约束场景提供流程建议</a:t>
            </a:r>
            <a:endParaRPr lang="en-US" sz="1100"/>
          </a:p>
        </p:txBody>
      </p:sp>
      <p:sp>
        <p:nvSpPr>
          <p:cNvPr id="78" name="Freeform 78"/>
          <p:cNvSpPr/>
          <p:nvPr/>
        </p:nvSpPr>
        <p:spPr>
          <a:xfrm>
            <a:off x="1158875" y="4148455"/>
            <a:ext cx="9525000" cy="1143000"/>
          </a:xfrm>
          <a:custGeom>
            <a:avLst/>
            <a:gdLst/>
            <a:ahLst/>
            <a:cxnLst/>
            <a:rect l="l" t="t" r="r" b="b"/>
            <a:pathLst>
              <a:path w="9525000" h="1143000">
                <a:moveTo>
                  <a:pt x="9448800" y="0"/>
                </a:moveTo>
                <a:cubicBezTo>
                  <a:pt x="9490884" y="0"/>
                  <a:pt x="9525000" y="0"/>
                  <a:pt x="9525000" y="0"/>
                </a:cubicBezTo>
                <a:lnTo>
                  <a:pt x="9525000" y="1143000"/>
                </a:lnTo>
                <a:cubicBezTo>
                  <a:pt x="9525000" y="1143000"/>
                  <a:pt x="9490884" y="1143000"/>
                  <a:pt x="9448800" y="1143000"/>
                </a:cubicBezTo>
                <a:lnTo>
                  <a:pt x="76200" y="1143000"/>
                </a:lnTo>
                <a:cubicBezTo>
                  <a:pt x="34116" y="1143000"/>
                  <a:pt x="0" y="1143000"/>
                  <a:pt x="0" y="1143000"/>
                </a:cubicBezTo>
                <a:lnTo>
                  <a:pt x="0" y="0"/>
                </a:lnTo>
                <a:cubicBezTo>
                  <a:pt x="0" y="0"/>
                  <a:pt x="34116" y="0"/>
                  <a:pt x="76200" y="0"/>
                </a:cubicBezTo>
                <a:close/>
              </a:path>
            </a:pathLst>
          </a:custGeom>
          <a:solidFill>
            <a:srgbClr val="D1F2EB">
              <a:alpha val="100000"/>
            </a:srgbClr>
          </a:solidFill>
          <a:ln w="12700" cap="flat" cmpd="sng">
            <a:solidFill>
              <a:srgbClr val="52C41A">
                <a:alpha val="100000"/>
              </a:srgbClr>
            </a:solidFill>
            <a:prstDash val="solid"/>
            <a:miter lim="1000000"/>
          </a:ln>
        </p:spPr>
        <p:txBody>
          <a:bodyPr vert="horz" wrap="square" lIns="91440" tIns="45720" rIns="91440" bIns="45720" rtlCol="0" anchor="ctr" anchorCtr="0"/>
          <a:lstStyle/>
          <a:p>
            <a:pPr algn="l">
              <a:defRPr/>
            </a:pPr>
            <a:endParaRPr/>
          </a:p>
        </p:txBody>
      </p:sp>
      <p:sp>
        <p:nvSpPr>
          <p:cNvPr id="79" name="AutoShape 79"/>
          <p:cNvSpPr/>
          <p:nvPr/>
        </p:nvSpPr>
        <p:spPr>
          <a:xfrm>
            <a:off x="5349875" y="4148455"/>
            <a:ext cx="1387475" cy="299085"/>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1350" b="1" i="0" u="none" strike="noStrike">
                <a:solidFill>
                  <a:srgbClr val="2C3E50"/>
                </a:solidFill>
                <a:latin typeface="微软雅黑"/>
                <a:ea typeface="微软雅黑"/>
                <a:cs typeface="微软雅黑"/>
                <a:sym typeface="微软雅黑"/>
              </a:rPr>
              <a:t>研究带来的价值</a:t>
            </a:r>
            <a:endParaRPr lang="en-US" sz="1100"/>
          </a:p>
        </p:txBody>
      </p:sp>
      <p:sp>
        <p:nvSpPr>
          <p:cNvPr id="80" name="Freeform 80"/>
          <p:cNvSpPr/>
          <p:nvPr/>
        </p:nvSpPr>
        <p:spPr>
          <a:xfrm>
            <a:off x="1539875" y="4529455"/>
            <a:ext cx="1524000" cy="609600"/>
          </a:xfrm>
          <a:custGeom>
            <a:avLst/>
            <a:gdLst/>
            <a:ahLst/>
            <a:cxnLst/>
            <a:rect l="l" t="t" r="r" b="b"/>
            <a:pathLst>
              <a:path w="1524000" h="609600">
                <a:moveTo>
                  <a:pt x="1485900" y="0"/>
                </a:moveTo>
                <a:cubicBezTo>
                  <a:pt x="1506943" y="0"/>
                  <a:pt x="1524000" y="0"/>
                  <a:pt x="1524000" y="0"/>
                </a:cubicBezTo>
                <a:lnTo>
                  <a:pt x="1524000" y="609600"/>
                </a:lnTo>
                <a:cubicBezTo>
                  <a:pt x="1524000" y="609600"/>
                  <a:pt x="1506943" y="609600"/>
                  <a:pt x="1485900" y="609600"/>
                </a:cubicBezTo>
                <a:lnTo>
                  <a:pt x="38100" y="609600"/>
                </a:lnTo>
                <a:cubicBezTo>
                  <a:pt x="17057" y="609600"/>
                  <a:pt x="0" y="609600"/>
                  <a:pt x="0" y="609600"/>
                </a:cubicBezTo>
                <a:lnTo>
                  <a:pt x="0" y="0"/>
                </a:lnTo>
                <a:cubicBezTo>
                  <a:pt x="0" y="0"/>
                  <a:pt x="17057" y="0"/>
                  <a:pt x="38100" y="0"/>
                </a:cubicBezTo>
                <a:close/>
              </a:path>
            </a:pathLst>
          </a:custGeom>
          <a:solidFill>
            <a:srgbClr val="52C41A">
              <a:alpha val="100000"/>
            </a:srgbClr>
          </a:solidFill>
          <a:ln w="12700" cap="flat" cmpd="sng">
            <a:solidFill>
              <a:srgbClr val="389E0D">
                <a:alpha val="100000"/>
              </a:srgbClr>
            </a:solidFill>
            <a:prstDash val="solid"/>
            <a:miter lim="1000000"/>
          </a:ln>
        </p:spPr>
        <p:txBody>
          <a:bodyPr vert="horz" wrap="square" lIns="91440" tIns="45720" rIns="91440" bIns="45720" rtlCol="0" anchor="ctr" anchorCtr="0"/>
          <a:lstStyle/>
          <a:p>
            <a:pPr algn="l">
              <a:defRPr/>
            </a:pPr>
            <a:endParaRPr/>
          </a:p>
        </p:txBody>
      </p:sp>
      <p:sp>
        <p:nvSpPr>
          <p:cNvPr id="81" name="AutoShape 81"/>
          <p:cNvSpPr/>
          <p:nvPr/>
        </p:nvSpPr>
        <p:spPr>
          <a:xfrm>
            <a:off x="1837055" y="4561205"/>
            <a:ext cx="929640" cy="232410"/>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l" defTabSz="914400">
              <a:lnSpc>
                <a:spcPct val="100000"/>
              </a:lnSpc>
              <a:defRPr/>
            </a:pPr>
            <a:r>
              <a:rPr lang="en-US" sz="1050" b="1" i="0" u="none" strike="noStrike">
                <a:solidFill>
                  <a:srgbClr val="FFFFFF"/>
                </a:solidFill>
                <a:latin typeface="微软雅黑"/>
                <a:ea typeface="微软雅黑"/>
                <a:cs typeface="微软雅黑"/>
                <a:sym typeface="微软雅黑"/>
              </a:rPr>
              <a:t>标签制备成本测算</a:t>
            </a:r>
            <a:endParaRPr lang="en-US" sz="1100"/>
          </a:p>
        </p:txBody>
      </p:sp>
      <p:sp>
        <p:nvSpPr>
          <p:cNvPr id="82" name="AutoShape 82"/>
          <p:cNvSpPr/>
          <p:nvPr/>
        </p:nvSpPr>
        <p:spPr>
          <a:xfrm>
            <a:off x="1517015" y="4806179"/>
            <a:ext cx="91440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l" defTabSz="914400">
              <a:lnSpc>
                <a:spcPct val="100000"/>
              </a:lnSpc>
              <a:defRPr/>
            </a:pPr>
            <a:r>
              <a:rPr lang="en-US" sz="900" b="0" i="0" u="none" strike="noStrike" dirty="0">
                <a:solidFill>
                  <a:srgbClr val="FFFFFF"/>
                </a:solidFill>
                <a:latin typeface="微软雅黑"/>
                <a:ea typeface="微软雅黑"/>
                <a:cs typeface="微软雅黑"/>
                <a:sym typeface="微软雅黑"/>
              </a:rPr>
              <a:t>GPU </a:t>
            </a:r>
            <a:r>
              <a:rPr lang="en-US" sz="900" b="0" i="0" u="none" strike="noStrike" dirty="0" err="1">
                <a:solidFill>
                  <a:srgbClr val="FFFFFF"/>
                </a:solidFill>
                <a:latin typeface="微软雅黑"/>
                <a:ea typeface="微软雅黑"/>
                <a:cs typeface="微软雅黑"/>
                <a:sym typeface="微软雅黑"/>
              </a:rPr>
              <a:t>机时与人工工时待测算</a:t>
            </a:r>
            <a:endParaRPr lang="en-US" sz="1100" dirty="0"/>
          </a:p>
        </p:txBody>
      </p:sp>
      <p:sp>
        <p:nvSpPr>
          <p:cNvPr id="83" name="AutoShape 83"/>
          <p:cNvSpPr/>
          <p:nvPr/>
        </p:nvSpPr>
        <p:spPr>
          <a:xfrm>
            <a:off x="1890395" y="4844415"/>
            <a:ext cx="82296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84" name="AutoShape 84"/>
          <p:cNvSpPr/>
          <p:nvPr/>
        </p:nvSpPr>
        <p:spPr>
          <a:xfrm>
            <a:off x="1936115" y="4958715"/>
            <a:ext cx="73152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85" name="Freeform 85"/>
          <p:cNvSpPr/>
          <p:nvPr/>
        </p:nvSpPr>
        <p:spPr>
          <a:xfrm>
            <a:off x="3444875" y="4529455"/>
            <a:ext cx="1524000" cy="609600"/>
          </a:xfrm>
          <a:custGeom>
            <a:avLst/>
            <a:gdLst/>
            <a:ahLst/>
            <a:cxnLst/>
            <a:rect l="l" t="t" r="r" b="b"/>
            <a:pathLst>
              <a:path w="1524000" h="609600">
                <a:moveTo>
                  <a:pt x="1485900" y="0"/>
                </a:moveTo>
                <a:cubicBezTo>
                  <a:pt x="1506943" y="0"/>
                  <a:pt x="1524000" y="0"/>
                  <a:pt x="1524000" y="0"/>
                </a:cubicBezTo>
                <a:lnTo>
                  <a:pt x="1524000" y="609600"/>
                </a:lnTo>
                <a:cubicBezTo>
                  <a:pt x="1524000" y="609600"/>
                  <a:pt x="1506943" y="609600"/>
                  <a:pt x="1485900" y="609600"/>
                </a:cubicBezTo>
                <a:lnTo>
                  <a:pt x="38100" y="609600"/>
                </a:lnTo>
                <a:cubicBezTo>
                  <a:pt x="17057" y="609600"/>
                  <a:pt x="0" y="609600"/>
                  <a:pt x="0" y="609600"/>
                </a:cubicBezTo>
                <a:lnTo>
                  <a:pt x="0" y="0"/>
                </a:lnTo>
                <a:cubicBezTo>
                  <a:pt x="0" y="0"/>
                  <a:pt x="17057" y="0"/>
                  <a:pt x="38100" y="0"/>
                </a:cubicBezTo>
                <a:close/>
              </a:path>
            </a:pathLst>
          </a:custGeom>
          <a:solidFill>
            <a:srgbClr val="52C41A">
              <a:alpha val="100000"/>
            </a:srgbClr>
          </a:solidFill>
          <a:ln w="12700" cap="flat" cmpd="sng">
            <a:solidFill>
              <a:srgbClr val="389E0D">
                <a:alpha val="100000"/>
              </a:srgbClr>
            </a:solidFill>
            <a:prstDash val="solid"/>
            <a:miter lim="1000000"/>
          </a:ln>
        </p:spPr>
        <p:txBody>
          <a:bodyPr vert="horz" wrap="square" lIns="91440" tIns="45720" rIns="91440" bIns="45720" rtlCol="0" anchor="ctr" anchorCtr="0"/>
          <a:lstStyle/>
          <a:p>
            <a:pPr algn="l">
              <a:defRPr/>
            </a:pPr>
            <a:endParaRPr/>
          </a:p>
        </p:txBody>
      </p:sp>
      <p:sp>
        <p:nvSpPr>
          <p:cNvPr id="86" name="AutoShape 86"/>
          <p:cNvSpPr/>
          <p:nvPr/>
        </p:nvSpPr>
        <p:spPr>
          <a:xfrm>
            <a:off x="3795395" y="4561205"/>
            <a:ext cx="822960" cy="232410"/>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l" defTabSz="914400">
              <a:lnSpc>
                <a:spcPct val="100000"/>
              </a:lnSpc>
              <a:defRPr/>
            </a:pPr>
            <a:r>
              <a:rPr lang="en-US" sz="1050" b="1" i="0" u="none" strike="noStrike">
                <a:solidFill>
                  <a:srgbClr val="FFFFFF"/>
                </a:solidFill>
                <a:latin typeface="微软雅黑"/>
                <a:ea typeface="微软雅黑"/>
                <a:cs typeface="微软雅黑"/>
                <a:sym typeface="微软雅黑"/>
              </a:rPr>
              <a:t>标签质量诊断</a:t>
            </a:r>
            <a:endParaRPr lang="en-US" sz="1100"/>
          </a:p>
        </p:txBody>
      </p:sp>
      <p:sp>
        <p:nvSpPr>
          <p:cNvPr id="87" name="AutoShape 87"/>
          <p:cNvSpPr/>
          <p:nvPr/>
        </p:nvSpPr>
        <p:spPr>
          <a:xfrm>
            <a:off x="3399155" y="4758055"/>
            <a:ext cx="91440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验证漏检</a:t>
            </a:r>
            <a:r>
              <a:rPr lang="en-US" sz="900" b="0" i="0" u="none" strike="noStrike" dirty="0">
                <a:solidFill>
                  <a:srgbClr val="FFFFFF"/>
                </a:solidFill>
                <a:latin typeface="微软雅黑"/>
                <a:ea typeface="微软雅黑"/>
                <a:cs typeface="微软雅黑"/>
                <a:sym typeface="微软雅黑"/>
              </a:rPr>
              <a:t>/</a:t>
            </a:r>
            <a:r>
              <a:rPr lang="en-US" sz="900" b="0" i="0" u="none" strike="noStrike" dirty="0" err="1">
                <a:solidFill>
                  <a:srgbClr val="FFFFFF"/>
                </a:solidFill>
                <a:latin typeface="微软雅黑"/>
                <a:ea typeface="微软雅黑"/>
                <a:cs typeface="微软雅黑"/>
                <a:sym typeface="微软雅黑"/>
              </a:rPr>
              <a:t>误检能否下降</a:t>
            </a:r>
            <a:r>
              <a:rPr lang="en-US" sz="900" b="0" i="0" u="none" strike="noStrike" dirty="0">
                <a:solidFill>
                  <a:srgbClr val="FFFFFF"/>
                </a:solidFill>
                <a:latin typeface="微软雅黑"/>
                <a:ea typeface="微软雅黑"/>
                <a:cs typeface="微软雅黑"/>
                <a:sym typeface="微软雅黑"/>
              </a:rPr>
              <a:t>、</a:t>
            </a:r>
          </a:p>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下游</a:t>
            </a:r>
            <a:r>
              <a:rPr lang="en-US" sz="900" b="0" i="0" u="none" strike="noStrike" dirty="0">
                <a:solidFill>
                  <a:srgbClr val="FFFFFF"/>
                </a:solidFill>
                <a:latin typeface="微软雅黑"/>
                <a:ea typeface="微软雅黑"/>
                <a:cs typeface="微软雅黑"/>
                <a:sym typeface="微软雅黑"/>
              </a:rPr>
              <a:t> </a:t>
            </a:r>
            <a:r>
              <a:rPr lang="en-US" sz="900" b="0" i="0" u="none" strike="noStrike" dirty="0" err="1">
                <a:solidFill>
                  <a:srgbClr val="FFFFFF"/>
                </a:solidFill>
                <a:latin typeface="微软雅黑"/>
                <a:ea typeface="微软雅黑"/>
                <a:cs typeface="微软雅黑"/>
                <a:sym typeface="微软雅黑"/>
              </a:rPr>
              <a:t>mAP</a:t>
            </a:r>
            <a:r>
              <a:rPr lang="en-US" sz="900" b="0" i="0" u="none" strike="noStrike" dirty="0">
                <a:solidFill>
                  <a:srgbClr val="FFFFFF"/>
                </a:solidFill>
                <a:latin typeface="微软雅黑"/>
                <a:ea typeface="微软雅黑"/>
                <a:cs typeface="微软雅黑"/>
                <a:sym typeface="微软雅黑"/>
              </a:rPr>
              <a:t> </a:t>
            </a:r>
            <a:r>
              <a:rPr lang="en-US" sz="900" b="0" i="0" u="none" strike="noStrike" dirty="0" err="1">
                <a:solidFill>
                  <a:srgbClr val="FFFFFF"/>
                </a:solidFill>
                <a:latin typeface="微软雅黑"/>
                <a:ea typeface="微软雅黑"/>
                <a:cs typeface="微软雅黑"/>
                <a:sym typeface="微软雅黑"/>
              </a:rPr>
              <a:t>能否提升</a:t>
            </a:r>
            <a:endParaRPr lang="en-US" sz="1100" dirty="0"/>
          </a:p>
        </p:txBody>
      </p:sp>
      <p:sp>
        <p:nvSpPr>
          <p:cNvPr id="88" name="AutoShape 88"/>
          <p:cNvSpPr/>
          <p:nvPr/>
        </p:nvSpPr>
        <p:spPr>
          <a:xfrm>
            <a:off x="3795395" y="4844415"/>
            <a:ext cx="82296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89" name="AutoShape 89"/>
          <p:cNvSpPr/>
          <p:nvPr/>
        </p:nvSpPr>
        <p:spPr>
          <a:xfrm>
            <a:off x="3886835" y="4958715"/>
            <a:ext cx="64008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90" name="Freeform 90"/>
          <p:cNvSpPr/>
          <p:nvPr/>
        </p:nvSpPr>
        <p:spPr>
          <a:xfrm>
            <a:off x="5349875" y="4529455"/>
            <a:ext cx="1524000" cy="609600"/>
          </a:xfrm>
          <a:custGeom>
            <a:avLst/>
            <a:gdLst/>
            <a:ahLst/>
            <a:cxnLst/>
            <a:rect l="l" t="t" r="r" b="b"/>
            <a:pathLst>
              <a:path w="1524000" h="609600">
                <a:moveTo>
                  <a:pt x="1485900" y="0"/>
                </a:moveTo>
                <a:cubicBezTo>
                  <a:pt x="1506943" y="0"/>
                  <a:pt x="1524000" y="0"/>
                  <a:pt x="1524000" y="0"/>
                </a:cubicBezTo>
                <a:lnTo>
                  <a:pt x="1524000" y="609600"/>
                </a:lnTo>
                <a:cubicBezTo>
                  <a:pt x="1524000" y="609600"/>
                  <a:pt x="1506943" y="609600"/>
                  <a:pt x="1485900" y="609600"/>
                </a:cubicBezTo>
                <a:lnTo>
                  <a:pt x="38100" y="609600"/>
                </a:lnTo>
                <a:cubicBezTo>
                  <a:pt x="17057" y="609600"/>
                  <a:pt x="0" y="609600"/>
                  <a:pt x="0" y="609600"/>
                </a:cubicBezTo>
                <a:lnTo>
                  <a:pt x="0" y="0"/>
                </a:lnTo>
                <a:cubicBezTo>
                  <a:pt x="0" y="0"/>
                  <a:pt x="17057" y="0"/>
                  <a:pt x="38100" y="0"/>
                </a:cubicBezTo>
                <a:close/>
              </a:path>
            </a:pathLst>
          </a:custGeom>
          <a:solidFill>
            <a:srgbClr val="52C41A">
              <a:alpha val="100000"/>
            </a:srgbClr>
          </a:solidFill>
          <a:ln w="12700" cap="flat" cmpd="sng">
            <a:solidFill>
              <a:srgbClr val="389E0D">
                <a:alpha val="100000"/>
              </a:srgbClr>
            </a:solidFill>
            <a:prstDash val="solid"/>
            <a:miter lim="1000000"/>
          </a:ln>
        </p:spPr>
        <p:txBody>
          <a:bodyPr vert="horz" wrap="square" lIns="91440" tIns="45720" rIns="91440" bIns="45720" rtlCol="0" anchor="ctr" anchorCtr="0"/>
          <a:lstStyle/>
          <a:p>
            <a:pPr algn="l">
              <a:defRPr/>
            </a:pPr>
            <a:endParaRPr/>
          </a:p>
        </p:txBody>
      </p:sp>
      <p:sp>
        <p:nvSpPr>
          <p:cNvPr id="91" name="AutoShape 91"/>
          <p:cNvSpPr/>
          <p:nvPr/>
        </p:nvSpPr>
        <p:spPr>
          <a:xfrm>
            <a:off x="5647055" y="4561205"/>
            <a:ext cx="929640" cy="23241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050" b="1" i="0" u="none" strike="noStrike">
                <a:solidFill>
                  <a:srgbClr val="FFFFFF"/>
                </a:solidFill>
                <a:latin typeface="微软雅黑"/>
                <a:ea typeface="微软雅黑"/>
                <a:cs typeface="微软雅黑"/>
                <a:sym typeface="微软雅黑"/>
              </a:rPr>
              <a:t>人工负担可控</a:t>
            </a:r>
            <a:endParaRPr lang="en-US" sz="1100"/>
          </a:p>
        </p:txBody>
      </p:sp>
      <p:sp>
        <p:nvSpPr>
          <p:cNvPr id="92" name="AutoShape 92"/>
          <p:cNvSpPr/>
          <p:nvPr/>
        </p:nvSpPr>
        <p:spPr>
          <a:xfrm>
            <a:off x="5349875" y="4759960"/>
            <a:ext cx="73152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只做必要抽检与修正</a:t>
            </a:r>
            <a:endParaRPr lang="en-US" sz="1100" dirty="0"/>
          </a:p>
        </p:txBody>
      </p:sp>
      <p:sp>
        <p:nvSpPr>
          <p:cNvPr id="93" name="AutoShape 93"/>
          <p:cNvSpPr/>
          <p:nvPr/>
        </p:nvSpPr>
        <p:spPr>
          <a:xfrm>
            <a:off x="5746115" y="4844415"/>
            <a:ext cx="73152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94" name="AutoShape 94"/>
          <p:cNvSpPr/>
          <p:nvPr/>
        </p:nvSpPr>
        <p:spPr>
          <a:xfrm>
            <a:off x="5700395" y="4958715"/>
            <a:ext cx="82296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95" name="Freeform 95"/>
          <p:cNvSpPr/>
          <p:nvPr/>
        </p:nvSpPr>
        <p:spPr>
          <a:xfrm>
            <a:off x="7254875" y="4529455"/>
            <a:ext cx="1524000" cy="609600"/>
          </a:xfrm>
          <a:custGeom>
            <a:avLst/>
            <a:gdLst/>
            <a:ahLst/>
            <a:cxnLst/>
            <a:rect l="l" t="t" r="r" b="b"/>
            <a:pathLst>
              <a:path w="1524000" h="609600">
                <a:moveTo>
                  <a:pt x="1485900" y="0"/>
                </a:moveTo>
                <a:cubicBezTo>
                  <a:pt x="1506943" y="0"/>
                  <a:pt x="1524000" y="0"/>
                  <a:pt x="1524000" y="0"/>
                </a:cubicBezTo>
                <a:lnTo>
                  <a:pt x="1524000" y="609600"/>
                </a:lnTo>
                <a:cubicBezTo>
                  <a:pt x="1524000" y="609600"/>
                  <a:pt x="1506943" y="609600"/>
                  <a:pt x="1485900" y="609600"/>
                </a:cubicBezTo>
                <a:lnTo>
                  <a:pt x="38100" y="609600"/>
                </a:lnTo>
                <a:cubicBezTo>
                  <a:pt x="17057" y="609600"/>
                  <a:pt x="0" y="609600"/>
                  <a:pt x="0" y="609600"/>
                </a:cubicBezTo>
                <a:lnTo>
                  <a:pt x="0" y="0"/>
                </a:lnTo>
                <a:cubicBezTo>
                  <a:pt x="0" y="0"/>
                  <a:pt x="17057" y="0"/>
                  <a:pt x="38100" y="0"/>
                </a:cubicBezTo>
                <a:close/>
              </a:path>
            </a:pathLst>
          </a:custGeom>
          <a:solidFill>
            <a:srgbClr val="52C41A">
              <a:alpha val="100000"/>
            </a:srgbClr>
          </a:solidFill>
          <a:ln w="12700" cap="flat" cmpd="sng">
            <a:solidFill>
              <a:srgbClr val="389E0D">
                <a:alpha val="100000"/>
              </a:srgbClr>
            </a:solidFill>
            <a:prstDash val="solid"/>
            <a:miter lim="1000000"/>
          </a:ln>
        </p:spPr>
        <p:txBody>
          <a:bodyPr vert="horz" wrap="square" lIns="91440" tIns="45720" rIns="91440" bIns="45720" rtlCol="0" anchor="ctr" anchorCtr="0"/>
          <a:lstStyle/>
          <a:p>
            <a:pPr algn="l">
              <a:defRPr/>
            </a:pPr>
            <a:endParaRPr/>
          </a:p>
        </p:txBody>
      </p:sp>
      <p:sp>
        <p:nvSpPr>
          <p:cNvPr id="96" name="AutoShape 96"/>
          <p:cNvSpPr/>
          <p:nvPr/>
        </p:nvSpPr>
        <p:spPr>
          <a:xfrm>
            <a:off x="7605395" y="4561205"/>
            <a:ext cx="822960" cy="23241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050" b="1" i="0" u="none" strike="noStrike">
                <a:solidFill>
                  <a:srgbClr val="FFFFFF"/>
                </a:solidFill>
                <a:latin typeface="微软雅黑"/>
                <a:ea typeface="微软雅黑"/>
                <a:cs typeface="微软雅黑"/>
                <a:sym typeface="微软雅黑"/>
              </a:rPr>
              <a:t>流程可复现</a:t>
            </a:r>
            <a:endParaRPr lang="en-US" sz="1100"/>
          </a:p>
        </p:txBody>
      </p:sp>
      <p:sp>
        <p:nvSpPr>
          <p:cNvPr id="97" name="AutoShape 97"/>
          <p:cNvSpPr/>
          <p:nvPr/>
        </p:nvSpPr>
        <p:spPr>
          <a:xfrm>
            <a:off x="7224395" y="4725534"/>
            <a:ext cx="82296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可记录、可追溯、可反查</a:t>
            </a:r>
            <a:endParaRPr lang="en-US" sz="1100" dirty="0"/>
          </a:p>
        </p:txBody>
      </p:sp>
      <p:sp>
        <p:nvSpPr>
          <p:cNvPr id="98" name="AutoShape 98"/>
          <p:cNvSpPr/>
          <p:nvPr/>
        </p:nvSpPr>
        <p:spPr>
          <a:xfrm>
            <a:off x="7651115" y="4958715"/>
            <a:ext cx="73152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99" name="Freeform 99"/>
          <p:cNvSpPr/>
          <p:nvPr/>
        </p:nvSpPr>
        <p:spPr>
          <a:xfrm>
            <a:off x="9159875" y="4529455"/>
            <a:ext cx="1524000" cy="609600"/>
          </a:xfrm>
          <a:custGeom>
            <a:avLst/>
            <a:gdLst/>
            <a:ahLst/>
            <a:cxnLst/>
            <a:rect l="l" t="t" r="r" b="b"/>
            <a:pathLst>
              <a:path w="1524000" h="609600">
                <a:moveTo>
                  <a:pt x="1485900" y="0"/>
                </a:moveTo>
                <a:cubicBezTo>
                  <a:pt x="1506943" y="0"/>
                  <a:pt x="1524000" y="0"/>
                  <a:pt x="1524000" y="0"/>
                </a:cubicBezTo>
                <a:lnTo>
                  <a:pt x="1524000" y="609600"/>
                </a:lnTo>
                <a:cubicBezTo>
                  <a:pt x="1524000" y="609600"/>
                  <a:pt x="1506943" y="609600"/>
                  <a:pt x="1485900" y="609600"/>
                </a:cubicBezTo>
                <a:lnTo>
                  <a:pt x="38100" y="609600"/>
                </a:lnTo>
                <a:cubicBezTo>
                  <a:pt x="17057" y="609600"/>
                  <a:pt x="0" y="609600"/>
                  <a:pt x="0" y="609600"/>
                </a:cubicBezTo>
                <a:lnTo>
                  <a:pt x="0" y="0"/>
                </a:lnTo>
                <a:cubicBezTo>
                  <a:pt x="0" y="0"/>
                  <a:pt x="17057" y="0"/>
                  <a:pt x="38100" y="0"/>
                </a:cubicBezTo>
                <a:close/>
              </a:path>
            </a:pathLst>
          </a:custGeom>
          <a:solidFill>
            <a:srgbClr val="52C41A">
              <a:alpha val="100000"/>
            </a:srgbClr>
          </a:solidFill>
          <a:ln w="12700" cap="flat" cmpd="sng">
            <a:solidFill>
              <a:srgbClr val="389E0D">
                <a:alpha val="100000"/>
              </a:srgbClr>
            </a:solidFill>
            <a:prstDash val="solid"/>
            <a:miter lim="1000000"/>
          </a:ln>
        </p:spPr>
        <p:txBody>
          <a:bodyPr vert="horz" wrap="square" lIns="91440" tIns="45720" rIns="91440" bIns="45720" rtlCol="0" anchor="ctr" anchorCtr="0"/>
          <a:lstStyle/>
          <a:p>
            <a:pPr algn="l">
              <a:defRPr/>
            </a:pPr>
            <a:endParaRPr/>
          </a:p>
        </p:txBody>
      </p:sp>
      <p:sp>
        <p:nvSpPr>
          <p:cNvPr id="100" name="AutoShape 100"/>
          <p:cNvSpPr/>
          <p:nvPr/>
        </p:nvSpPr>
        <p:spPr>
          <a:xfrm>
            <a:off x="9190993" y="4547870"/>
            <a:ext cx="822960" cy="232410"/>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l" defTabSz="914400">
              <a:lnSpc>
                <a:spcPct val="100000"/>
              </a:lnSpc>
              <a:defRPr/>
            </a:pPr>
            <a:r>
              <a:rPr lang="en-US" sz="1050" b="1" i="0" u="none" strike="noStrike" dirty="0" err="1">
                <a:solidFill>
                  <a:srgbClr val="FFFFFF"/>
                </a:solidFill>
                <a:latin typeface="微软雅黑"/>
                <a:ea typeface="微软雅黑"/>
                <a:cs typeface="微软雅黑"/>
                <a:sym typeface="微软雅黑"/>
              </a:rPr>
              <a:t>非刚性目标流程参考</a:t>
            </a:r>
            <a:endParaRPr lang="en-US" sz="1100" dirty="0"/>
          </a:p>
        </p:txBody>
      </p:sp>
      <p:sp>
        <p:nvSpPr>
          <p:cNvPr id="101" name="AutoShape 101"/>
          <p:cNvSpPr/>
          <p:nvPr/>
        </p:nvSpPr>
        <p:spPr>
          <a:xfrm>
            <a:off x="9130030" y="4730115"/>
            <a:ext cx="73152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为同类非刚性目标</a:t>
            </a:r>
            <a:endParaRPr lang="en-US" sz="900" b="0" i="0" u="none" strike="noStrike" dirty="0">
              <a:solidFill>
                <a:srgbClr val="FFFFFF"/>
              </a:solidFill>
              <a:latin typeface="微软雅黑"/>
              <a:ea typeface="微软雅黑"/>
              <a:cs typeface="微软雅黑"/>
              <a:sym typeface="微软雅黑"/>
            </a:endParaRPr>
          </a:p>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提供流程参考</a:t>
            </a:r>
            <a:endParaRPr lang="en-US" sz="1100" dirty="0"/>
          </a:p>
        </p:txBody>
      </p:sp>
      <p:sp>
        <p:nvSpPr>
          <p:cNvPr id="102" name="AutoShape 102"/>
          <p:cNvSpPr/>
          <p:nvPr/>
        </p:nvSpPr>
        <p:spPr>
          <a:xfrm>
            <a:off x="9556115" y="4844415"/>
            <a:ext cx="73152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103" name="AutoShape 103"/>
          <p:cNvSpPr/>
          <p:nvPr/>
        </p:nvSpPr>
        <p:spPr>
          <a:xfrm>
            <a:off x="9556115" y="4958715"/>
            <a:ext cx="73152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104" name="Freeform 104"/>
          <p:cNvSpPr/>
          <p:nvPr/>
        </p:nvSpPr>
        <p:spPr>
          <a:xfrm>
            <a:off x="2301875" y="5596255"/>
            <a:ext cx="7620000" cy="609600"/>
          </a:xfrm>
          <a:custGeom>
            <a:avLst/>
            <a:gdLst/>
            <a:ahLst/>
            <a:cxnLst/>
            <a:rect l="l" t="t" r="r" b="b"/>
            <a:pathLst>
              <a:path w="7620000" h="609600">
                <a:moveTo>
                  <a:pt x="7543800" y="0"/>
                </a:moveTo>
                <a:cubicBezTo>
                  <a:pt x="7585884" y="0"/>
                  <a:pt x="7620000" y="0"/>
                  <a:pt x="7620000" y="0"/>
                </a:cubicBezTo>
                <a:lnTo>
                  <a:pt x="7620000" y="609600"/>
                </a:lnTo>
                <a:cubicBezTo>
                  <a:pt x="7620000" y="609600"/>
                  <a:pt x="7585884" y="609600"/>
                  <a:pt x="7543800" y="609600"/>
                </a:cubicBezTo>
                <a:lnTo>
                  <a:pt x="76200" y="609600"/>
                </a:lnTo>
                <a:cubicBezTo>
                  <a:pt x="34116" y="609600"/>
                  <a:pt x="0" y="609600"/>
                  <a:pt x="0" y="609600"/>
                </a:cubicBezTo>
                <a:lnTo>
                  <a:pt x="0" y="0"/>
                </a:lnTo>
                <a:cubicBezTo>
                  <a:pt x="0" y="0"/>
                  <a:pt x="34116" y="0"/>
                  <a:pt x="76200" y="0"/>
                </a:cubicBezTo>
                <a:close/>
              </a:path>
            </a:pathLst>
          </a:custGeom>
          <a:solidFill>
            <a:srgbClr val="FFF3CD">
              <a:alpha val="100000"/>
            </a:srgbClr>
          </a:solidFill>
          <a:ln w="12700" cap="flat" cmpd="sng">
            <a:solidFill>
              <a:srgbClr val="FFC107">
                <a:alpha val="100000"/>
              </a:srgbClr>
            </a:solidFill>
            <a:prstDash val="solid"/>
            <a:miter lim="1000000"/>
          </a:ln>
        </p:spPr>
        <p:txBody>
          <a:bodyPr vert="horz" wrap="square" lIns="91440" tIns="45720" rIns="91440" bIns="45720" rtlCol="0" anchor="ctr" anchorCtr="0"/>
          <a:lstStyle/>
          <a:p>
            <a:pPr algn="l">
              <a:defRPr/>
            </a:pPr>
            <a:endParaRPr/>
          </a:p>
        </p:txBody>
      </p:sp>
      <p:sp>
        <p:nvSpPr>
          <p:cNvPr id="105" name="AutoShape 105"/>
          <p:cNvSpPr/>
          <p:nvPr/>
        </p:nvSpPr>
        <p:spPr>
          <a:xfrm>
            <a:off x="5715635" y="5612130"/>
            <a:ext cx="792480" cy="252095"/>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1200" b="1" i="0" u="none" strike="noStrike">
                <a:solidFill>
                  <a:srgbClr val="856404"/>
                </a:solidFill>
                <a:latin typeface="微软雅黑"/>
                <a:ea typeface="微软雅黑"/>
                <a:cs typeface="微软雅黑"/>
                <a:sym typeface="微软雅黑"/>
              </a:rPr>
              <a:t>核心创新点</a:t>
            </a:r>
            <a:endParaRPr lang="en-US" sz="1100"/>
          </a:p>
        </p:txBody>
      </p:sp>
      <p:sp>
        <p:nvSpPr>
          <p:cNvPr id="106" name="AutoShape 106"/>
          <p:cNvSpPr/>
          <p:nvPr/>
        </p:nvSpPr>
        <p:spPr>
          <a:xfrm>
            <a:off x="3006725" y="5835015"/>
            <a:ext cx="87630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a:solidFill>
                  <a:srgbClr val="856404"/>
                </a:solidFill>
                <a:latin typeface="微软雅黑"/>
                <a:ea typeface="微软雅黑"/>
                <a:cs typeface="微软雅黑"/>
                <a:sym typeface="微软雅黑"/>
              </a:rPr>
              <a:t>GD定位+SAM3审核+YOLO裁判</a:t>
            </a:r>
            <a:endParaRPr lang="en-US" sz="1100"/>
          </a:p>
        </p:txBody>
      </p:sp>
      <p:sp>
        <p:nvSpPr>
          <p:cNvPr id="107" name="AutoShape 107"/>
          <p:cNvSpPr/>
          <p:nvPr/>
        </p:nvSpPr>
        <p:spPr>
          <a:xfrm>
            <a:off x="4557395" y="5835015"/>
            <a:ext cx="868680" cy="2298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a:solidFill>
                  <a:srgbClr val="856404"/>
                </a:solidFill>
                <a:latin typeface="微软雅黑"/>
                <a:ea typeface="微软雅黑"/>
                <a:cs typeface="微软雅黑"/>
                <a:sym typeface="微软雅黑"/>
              </a:rPr>
              <a:t>权限隔离与阶段门控</a:t>
            </a:r>
            <a:endParaRPr lang="en-US" sz="1100"/>
          </a:p>
        </p:txBody>
      </p:sp>
      <p:sp>
        <p:nvSpPr>
          <p:cNvPr id="108" name="AutoShape 108"/>
          <p:cNvSpPr/>
          <p:nvPr/>
        </p:nvSpPr>
        <p:spPr>
          <a:xfrm>
            <a:off x="6081395" y="5835015"/>
            <a:ext cx="82296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856404"/>
                </a:solidFill>
                <a:latin typeface="微软雅黑"/>
                <a:ea typeface="微软雅黑"/>
                <a:cs typeface="微软雅黑"/>
                <a:sym typeface="微软雅黑"/>
              </a:rPr>
              <a:t>精度</a:t>
            </a:r>
            <a:r>
              <a:rPr lang="en-US" sz="900" b="0" i="0" u="none" strike="noStrike" dirty="0">
                <a:solidFill>
                  <a:srgbClr val="856404"/>
                </a:solidFill>
                <a:latin typeface="微软雅黑"/>
                <a:ea typeface="微软雅黑"/>
                <a:cs typeface="微软雅黑"/>
                <a:sym typeface="微软雅黑"/>
              </a:rPr>
              <a:t>/</a:t>
            </a:r>
            <a:r>
              <a:rPr lang="en-US" sz="900" b="0" i="0" u="none" strike="noStrike" dirty="0" err="1">
                <a:solidFill>
                  <a:srgbClr val="856404"/>
                </a:solidFill>
                <a:latin typeface="微软雅黑"/>
                <a:ea typeface="微软雅黑"/>
                <a:cs typeface="微软雅黑"/>
                <a:sym typeface="微软雅黑"/>
              </a:rPr>
              <a:t>时间</a:t>
            </a:r>
            <a:r>
              <a:rPr lang="en-US" sz="900" b="0" i="0" u="none" strike="noStrike" dirty="0">
                <a:solidFill>
                  <a:srgbClr val="856404"/>
                </a:solidFill>
                <a:latin typeface="微软雅黑"/>
                <a:ea typeface="微软雅黑"/>
                <a:cs typeface="微软雅黑"/>
                <a:sym typeface="微软雅黑"/>
              </a:rPr>
              <a:t>/</a:t>
            </a:r>
            <a:r>
              <a:rPr lang="en-US" sz="900" b="0" i="0" u="none" strike="noStrike" dirty="0" err="1">
                <a:solidFill>
                  <a:srgbClr val="856404"/>
                </a:solidFill>
                <a:latin typeface="微软雅黑"/>
                <a:ea typeface="微软雅黑"/>
                <a:cs typeface="微软雅黑"/>
                <a:sym typeface="微软雅黑"/>
              </a:rPr>
              <a:t>人工</a:t>
            </a:r>
            <a:r>
              <a:rPr lang="en-US" sz="900" b="0" i="0" u="none" strike="noStrike" dirty="0">
                <a:solidFill>
                  <a:srgbClr val="856404"/>
                </a:solidFill>
                <a:latin typeface="微软雅黑"/>
                <a:ea typeface="微软雅黑"/>
                <a:cs typeface="微软雅黑"/>
                <a:sym typeface="微软雅黑"/>
              </a:rPr>
              <a:t> Pareto </a:t>
            </a:r>
            <a:r>
              <a:rPr lang="en-US" sz="900" b="0" i="0" u="none" strike="noStrike" dirty="0" err="1">
                <a:solidFill>
                  <a:srgbClr val="856404"/>
                </a:solidFill>
                <a:latin typeface="微软雅黑"/>
                <a:ea typeface="微软雅黑"/>
                <a:cs typeface="微软雅黑"/>
                <a:sym typeface="微软雅黑"/>
              </a:rPr>
              <a:t>权衡</a:t>
            </a:r>
            <a:endParaRPr lang="en-US" sz="1100" dirty="0"/>
          </a:p>
        </p:txBody>
      </p:sp>
      <p:sp>
        <p:nvSpPr>
          <p:cNvPr id="109" name="AutoShape 109"/>
          <p:cNvSpPr/>
          <p:nvPr/>
        </p:nvSpPr>
        <p:spPr>
          <a:xfrm>
            <a:off x="7651115" y="5835015"/>
            <a:ext cx="73152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856404"/>
                </a:solidFill>
                <a:latin typeface="微软雅黑"/>
                <a:ea typeface="微软雅黑"/>
                <a:cs typeface="微软雅黑"/>
                <a:sym typeface="微软雅黑"/>
              </a:rPr>
              <a:t>多规模流程选型</a:t>
            </a:r>
            <a:endParaRPr lang="en-US" sz="1100" dirty="0"/>
          </a:p>
        </p:txBody>
      </p:sp>
      <p:sp>
        <p:nvSpPr>
          <p:cNvPr id="110" name="AutoShape 110"/>
          <p:cNvSpPr/>
          <p:nvPr/>
        </p:nvSpPr>
        <p:spPr>
          <a:xfrm>
            <a:off x="5205095" y="5949315"/>
            <a:ext cx="1814195"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825" b="0" i="0" u="none" strike="noStrike" dirty="0">
                <a:solidFill>
                  <a:srgbClr val="856404"/>
                </a:solidFill>
                <a:latin typeface="微软雅黑"/>
                <a:ea typeface="微软雅黑"/>
                <a:cs typeface="微软雅黑"/>
                <a:sym typeface="微软雅黑"/>
              </a:rPr>
              <a:t>“</a:t>
            </a:r>
            <a:r>
              <a:rPr lang="en-US" sz="900" b="0" i="0" u="none" strike="noStrike" dirty="0" err="1">
                <a:solidFill>
                  <a:srgbClr val="856404"/>
                </a:solidFill>
                <a:latin typeface="微软雅黑"/>
                <a:ea typeface="微软雅黑"/>
                <a:cs typeface="微软雅黑"/>
                <a:sym typeface="微软雅黑"/>
              </a:rPr>
              <a:t>单次人工标注</a:t>
            </a:r>
            <a:r>
              <a:rPr lang="en-US" sz="825" b="0" i="0" u="none" strike="noStrike" dirty="0">
                <a:solidFill>
                  <a:srgbClr val="856404"/>
                </a:solidFill>
                <a:latin typeface="微软雅黑"/>
                <a:ea typeface="微软雅黑"/>
                <a:cs typeface="微软雅黑"/>
                <a:sym typeface="微软雅黑"/>
              </a:rPr>
              <a:t>”“</a:t>
            </a:r>
            <a:r>
              <a:rPr lang="en-US" sz="900" b="0" i="0" u="none" strike="noStrike" dirty="0" err="1">
                <a:solidFill>
                  <a:srgbClr val="856404"/>
                </a:solidFill>
                <a:latin typeface="微软雅黑"/>
                <a:ea typeface="微软雅黑"/>
                <a:cs typeface="微软雅黑"/>
                <a:sym typeface="微软雅黑"/>
              </a:rPr>
              <a:t>可复现的</a:t>
            </a:r>
            <a:r>
              <a:rPr lang="en-US" sz="825" b="0" i="0" u="none" strike="noStrike" dirty="0" err="1">
                <a:solidFill>
                  <a:srgbClr val="856404"/>
                </a:solidFill>
                <a:latin typeface="微软雅黑"/>
                <a:ea typeface="微软雅黑"/>
                <a:cs typeface="微软雅黑"/>
                <a:sym typeface="微软雅黑"/>
              </a:rPr>
              <a:t>+</a:t>
            </a:r>
            <a:r>
              <a:rPr lang="en-US" sz="900" b="0" i="0" u="none" strike="noStrike" dirty="0" err="1">
                <a:solidFill>
                  <a:srgbClr val="856404"/>
                </a:solidFill>
                <a:latin typeface="微软雅黑"/>
                <a:ea typeface="微软雅黑"/>
                <a:cs typeface="微软雅黑"/>
                <a:sym typeface="微软雅黑"/>
              </a:rPr>
              <a:t>伪标签生</a:t>
            </a:r>
            <a:r>
              <a:rPr lang="zh-CN" altLang="en-US" sz="900" b="0" i="0" u="none" strike="noStrike" dirty="0">
                <a:solidFill>
                  <a:srgbClr val="856404"/>
                </a:solidFill>
                <a:latin typeface="微软雅黑"/>
                <a:ea typeface="微软雅黑"/>
                <a:cs typeface="微软雅黑"/>
                <a:sym typeface="微软雅黑"/>
              </a:rPr>
              <a:t>成</a:t>
            </a:r>
            <a:r>
              <a:rPr lang="en-US" sz="900" b="0" i="0" u="none" strike="noStrike" dirty="0" err="1">
                <a:solidFill>
                  <a:srgbClr val="856404"/>
                </a:solidFill>
                <a:latin typeface="微软雅黑"/>
                <a:ea typeface="微软雅黑"/>
                <a:cs typeface="微软雅黑"/>
                <a:sym typeface="微软雅黑"/>
              </a:rPr>
              <a:t>流程</a:t>
            </a:r>
            <a:r>
              <a:rPr lang="en-US" sz="825" b="0" i="0" u="none" strike="noStrike" dirty="0">
                <a:solidFill>
                  <a:srgbClr val="856404"/>
                </a:solidFill>
                <a:latin typeface="微软雅黑"/>
                <a:ea typeface="微软雅黑"/>
                <a:cs typeface="微软雅黑"/>
                <a:sym typeface="微软雅黑"/>
              </a:rPr>
              <a:t>"</a:t>
            </a:r>
            <a:endParaRPr lang="en-US" sz="1100" dirty="0"/>
          </a:p>
        </p:txBody>
      </p:sp>
      <p:sp>
        <p:nvSpPr>
          <p:cNvPr id="111" name="Freeform 111"/>
          <p:cNvSpPr/>
          <p:nvPr/>
        </p:nvSpPr>
        <p:spPr>
          <a:xfrm>
            <a:off x="1200150" y="6243955"/>
            <a:ext cx="4191000" cy="571500"/>
          </a:xfrm>
          <a:custGeom>
            <a:avLst/>
            <a:gdLst/>
            <a:ahLst/>
            <a:cxnLst/>
            <a:rect l="l" t="t" r="r" b="b"/>
            <a:pathLst>
              <a:path w="3810000" h="457200">
                <a:moveTo>
                  <a:pt x="3771900" y="0"/>
                </a:moveTo>
                <a:cubicBezTo>
                  <a:pt x="3792943" y="0"/>
                  <a:pt x="3810000" y="0"/>
                  <a:pt x="3810000" y="0"/>
                </a:cubicBezTo>
                <a:lnTo>
                  <a:pt x="3810000" y="457200"/>
                </a:lnTo>
                <a:cubicBezTo>
                  <a:pt x="3810000" y="457200"/>
                  <a:pt x="3792943" y="457200"/>
                  <a:pt x="3771900" y="457200"/>
                </a:cubicBezTo>
                <a:lnTo>
                  <a:pt x="38100" y="457200"/>
                </a:lnTo>
                <a:cubicBezTo>
                  <a:pt x="17057" y="457200"/>
                  <a:pt x="0" y="457200"/>
                  <a:pt x="0" y="457200"/>
                </a:cubicBezTo>
                <a:lnTo>
                  <a:pt x="0" y="0"/>
                </a:lnTo>
                <a:cubicBezTo>
                  <a:pt x="0" y="0"/>
                  <a:pt x="17057" y="0"/>
                  <a:pt x="38100" y="0"/>
                </a:cubicBezTo>
                <a:close/>
              </a:path>
            </a:pathLst>
          </a:custGeom>
          <a:solidFill>
            <a:srgbClr val="F8F9FA">
              <a:alpha val="100000"/>
            </a:srgbClr>
          </a:solidFill>
          <a:ln w="12700" cap="flat" cmpd="sng">
            <a:solidFill>
              <a:srgbClr val="DEE2E6">
                <a:alpha val="100000"/>
              </a:srgbClr>
            </a:solidFill>
            <a:prstDash val="solid"/>
            <a:miter lim="1000000"/>
          </a:ln>
        </p:spPr>
        <p:txBody>
          <a:bodyPr vert="horz" wrap="square" lIns="91440" tIns="45720" rIns="91440" bIns="45720" rtlCol="0" anchor="ctr" anchorCtr="0"/>
          <a:lstStyle/>
          <a:p>
            <a:pPr algn="l">
              <a:defRPr/>
            </a:pPr>
            <a:endParaRPr dirty="0"/>
          </a:p>
        </p:txBody>
      </p:sp>
      <p:sp>
        <p:nvSpPr>
          <p:cNvPr id="112" name="AutoShape 112"/>
          <p:cNvSpPr/>
          <p:nvPr/>
        </p:nvSpPr>
        <p:spPr>
          <a:xfrm>
            <a:off x="1143635" y="6351905"/>
            <a:ext cx="609600" cy="232410"/>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1050" b="1" i="0" u="none" strike="noStrike" dirty="0" err="1">
                <a:solidFill>
                  <a:srgbClr val="2C3E50"/>
                </a:solidFill>
                <a:latin typeface="微软雅黑"/>
                <a:ea typeface="微软雅黑"/>
                <a:cs typeface="微软雅黑"/>
                <a:sym typeface="微软雅黑"/>
              </a:rPr>
              <a:t>流程说明</a:t>
            </a:r>
            <a:endParaRPr lang="en-US" sz="1100" dirty="0"/>
          </a:p>
        </p:txBody>
      </p:sp>
      <p:sp>
        <p:nvSpPr>
          <p:cNvPr id="113" name="Freeform 113"/>
          <p:cNvSpPr/>
          <p:nvPr/>
        </p:nvSpPr>
        <p:spPr>
          <a:xfrm>
            <a:off x="1250315" y="6563995"/>
            <a:ext cx="121920" cy="121920"/>
          </a:xfrm>
          <a:custGeom>
            <a:avLst/>
            <a:gdLst/>
            <a:ahLst/>
            <a:cxnLst/>
            <a:rect l="l" t="t" r="r" b="b"/>
            <a:pathLst>
              <a:path w="121920" h="121920">
                <a:moveTo>
                  <a:pt x="121920" y="60960"/>
                </a:moveTo>
                <a:cubicBezTo>
                  <a:pt x="121920" y="94626"/>
                  <a:pt x="94626" y="121920"/>
                  <a:pt x="60960" y="121920"/>
                </a:cubicBezTo>
                <a:cubicBezTo>
                  <a:pt x="27294" y="121920"/>
                  <a:pt x="0" y="94626"/>
                  <a:pt x="0" y="60960"/>
                </a:cubicBezTo>
                <a:cubicBezTo>
                  <a:pt x="0" y="27294"/>
                  <a:pt x="27294" y="0"/>
                  <a:pt x="60960" y="0"/>
                </a:cubicBezTo>
                <a:cubicBezTo>
                  <a:pt x="94626" y="0"/>
                  <a:pt x="121920" y="27294"/>
                  <a:pt x="121920" y="60960"/>
                </a:cubicBezTo>
                <a:close/>
              </a:path>
            </a:pathLst>
          </a:custGeom>
          <a:solidFill>
            <a:srgbClr val="3498DB">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114" name="AutoShape 114"/>
          <p:cNvSpPr/>
          <p:nvPr/>
        </p:nvSpPr>
        <p:spPr>
          <a:xfrm>
            <a:off x="1273175" y="6520815"/>
            <a:ext cx="73152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2C3E50"/>
                </a:solidFill>
                <a:latin typeface="微软雅黑"/>
                <a:ea typeface="微软雅黑"/>
                <a:cs typeface="微软雅黑"/>
                <a:sym typeface="微软雅黑"/>
              </a:rPr>
              <a:t>数据与测试治理</a:t>
            </a:r>
            <a:endParaRPr lang="en-US" sz="1100" dirty="0"/>
          </a:p>
        </p:txBody>
      </p:sp>
      <p:sp>
        <p:nvSpPr>
          <p:cNvPr id="115" name="Freeform 115"/>
          <p:cNvSpPr/>
          <p:nvPr/>
        </p:nvSpPr>
        <p:spPr>
          <a:xfrm>
            <a:off x="2209483" y="6574790"/>
            <a:ext cx="121920" cy="121920"/>
          </a:xfrm>
          <a:custGeom>
            <a:avLst/>
            <a:gdLst/>
            <a:ahLst/>
            <a:cxnLst/>
            <a:rect l="l" t="t" r="r" b="b"/>
            <a:pathLst>
              <a:path w="121920" h="121920">
                <a:moveTo>
                  <a:pt x="121920" y="60960"/>
                </a:moveTo>
                <a:cubicBezTo>
                  <a:pt x="121920" y="94626"/>
                  <a:pt x="94626" y="121920"/>
                  <a:pt x="60960" y="121920"/>
                </a:cubicBezTo>
                <a:cubicBezTo>
                  <a:pt x="27294" y="121920"/>
                  <a:pt x="0" y="94626"/>
                  <a:pt x="0" y="60960"/>
                </a:cubicBezTo>
                <a:cubicBezTo>
                  <a:pt x="0" y="27294"/>
                  <a:pt x="27294" y="0"/>
                  <a:pt x="60960" y="0"/>
                </a:cubicBezTo>
                <a:cubicBezTo>
                  <a:pt x="94626" y="0"/>
                  <a:pt x="121920" y="27294"/>
                  <a:pt x="121920" y="60960"/>
                </a:cubicBezTo>
                <a:close/>
              </a:path>
            </a:pathLst>
          </a:custGeom>
          <a:solidFill>
            <a:srgbClr val="27AE60">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116" name="AutoShape 116"/>
          <p:cNvSpPr/>
          <p:nvPr/>
        </p:nvSpPr>
        <p:spPr>
          <a:xfrm>
            <a:off x="2135822" y="6520815"/>
            <a:ext cx="767557" cy="19494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825" dirty="0">
                <a:solidFill>
                  <a:srgbClr val="2C3E50"/>
                </a:solidFill>
                <a:latin typeface="微软雅黑"/>
                <a:ea typeface="微软雅黑"/>
                <a:cs typeface="微软雅黑"/>
                <a:sym typeface="微软雅黑"/>
              </a:rPr>
              <a:t>   </a:t>
            </a:r>
            <a:r>
              <a:rPr lang="en-US" sz="900" b="0" i="0" u="none" strike="noStrike" dirty="0">
                <a:solidFill>
                  <a:srgbClr val="2C3E50"/>
                </a:solidFill>
                <a:latin typeface="微软雅黑"/>
                <a:ea typeface="微软雅黑"/>
                <a:cs typeface="微软雅黑"/>
                <a:sym typeface="微软雅黑"/>
              </a:rPr>
              <a:t>V1自动生成</a:t>
            </a:r>
            <a:endParaRPr lang="en-US" sz="1100" dirty="0"/>
          </a:p>
        </p:txBody>
      </p:sp>
      <p:sp>
        <p:nvSpPr>
          <p:cNvPr id="117" name="Freeform 117"/>
          <p:cNvSpPr/>
          <p:nvPr/>
        </p:nvSpPr>
        <p:spPr>
          <a:xfrm>
            <a:off x="2933859" y="6586855"/>
            <a:ext cx="121920" cy="121920"/>
          </a:xfrm>
          <a:custGeom>
            <a:avLst/>
            <a:gdLst/>
            <a:ahLst/>
            <a:cxnLst/>
            <a:rect l="l" t="t" r="r" b="b"/>
            <a:pathLst>
              <a:path w="121920" h="121920">
                <a:moveTo>
                  <a:pt x="121920" y="60960"/>
                </a:moveTo>
                <a:cubicBezTo>
                  <a:pt x="121920" y="94626"/>
                  <a:pt x="94626" y="121920"/>
                  <a:pt x="60960" y="121920"/>
                </a:cubicBezTo>
                <a:cubicBezTo>
                  <a:pt x="27294" y="121920"/>
                  <a:pt x="0" y="94626"/>
                  <a:pt x="0" y="60960"/>
                </a:cubicBezTo>
                <a:cubicBezTo>
                  <a:pt x="0" y="27294"/>
                  <a:pt x="27294" y="0"/>
                  <a:pt x="60960" y="0"/>
                </a:cubicBezTo>
                <a:cubicBezTo>
                  <a:pt x="94626" y="0"/>
                  <a:pt x="121920" y="27294"/>
                  <a:pt x="121920" y="60960"/>
                </a:cubicBezTo>
                <a:close/>
              </a:path>
            </a:pathLst>
          </a:custGeom>
          <a:solidFill>
            <a:srgbClr val="F39C12">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118" name="AutoShape 118"/>
          <p:cNvSpPr/>
          <p:nvPr/>
        </p:nvSpPr>
        <p:spPr>
          <a:xfrm>
            <a:off x="2987675" y="6529705"/>
            <a:ext cx="73152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a:solidFill>
                  <a:srgbClr val="2C3E50"/>
                </a:solidFill>
                <a:latin typeface="微软雅黑"/>
                <a:ea typeface="微软雅黑"/>
                <a:cs typeface="微软雅黑"/>
                <a:sym typeface="微软雅黑"/>
              </a:rPr>
              <a:t>SAM3后置</a:t>
            </a:r>
            <a:endParaRPr lang="en-US" sz="1100" dirty="0"/>
          </a:p>
        </p:txBody>
      </p:sp>
      <p:sp>
        <p:nvSpPr>
          <p:cNvPr id="119" name="Freeform 119"/>
          <p:cNvSpPr/>
          <p:nvPr/>
        </p:nvSpPr>
        <p:spPr>
          <a:xfrm>
            <a:off x="3673475" y="6563995"/>
            <a:ext cx="121920" cy="121920"/>
          </a:xfrm>
          <a:custGeom>
            <a:avLst/>
            <a:gdLst/>
            <a:ahLst/>
            <a:cxnLst/>
            <a:rect l="l" t="t" r="r" b="b"/>
            <a:pathLst>
              <a:path w="121920" h="121920">
                <a:moveTo>
                  <a:pt x="121920" y="60960"/>
                </a:moveTo>
                <a:cubicBezTo>
                  <a:pt x="121920" y="94626"/>
                  <a:pt x="94626" y="121920"/>
                  <a:pt x="60960" y="121920"/>
                </a:cubicBezTo>
                <a:cubicBezTo>
                  <a:pt x="27294" y="121920"/>
                  <a:pt x="0" y="94626"/>
                  <a:pt x="0" y="60960"/>
                </a:cubicBezTo>
                <a:cubicBezTo>
                  <a:pt x="0" y="27294"/>
                  <a:pt x="27294" y="0"/>
                  <a:pt x="60960" y="0"/>
                </a:cubicBezTo>
                <a:cubicBezTo>
                  <a:pt x="94626" y="0"/>
                  <a:pt x="121920" y="27294"/>
                  <a:pt x="121920" y="60960"/>
                </a:cubicBezTo>
                <a:close/>
              </a:path>
            </a:pathLst>
          </a:custGeom>
          <a:solidFill>
            <a:srgbClr val="95A5A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120" name="AutoShape 120"/>
          <p:cNvSpPr/>
          <p:nvPr/>
        </p:nvSpPr>
        <p:spPr>
          <a:xfrm>
            <a:off x="3749675" y="6510655"/>
            <a:ext cx="73152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2C3E50"/>
                </a:solidFill>
                <a:latin typeface="微软雅黑"/>
                <a:ea typeface="微软雅黑"/>
                <a:cs typeface="微软雅黑"/>
                <a:sym typeface="微软雅黑"/>
              </a:rPr>
              <a:t>稳定性复验</a:t>
            </a:r>
            <a:endParaRPr lang="en-US" sz="1100" dirty="0"/>
          </a:p>
        </p:txBody>
      </p:sp>
      <p:sp>
        <p:nvSpPr>
          <p:cNvPr id="121" name="Freeform 121"/>
          <p:cNvSpPr/>
          <p:nvPr/>
        </p:nvSpPr>
        <p:spPr>
          <a:xfrm>
            <a:off x="4427855" y="6616700"/>
            <a:ext cx="228600" cy="0"/>
          </a:xfrm>
          <a:custGeom>
            <a:avLst/>
            <a:gdLst/>
            <a:ahLst/>
            <a:cxnLst/>
            <a:rect l="l" t="t" r="r" b="b"/>
            <a:pathLst>
              <a:path w="228600">
                <a:moveTo>
                  <a:pt x="0" y="0"/>
                </a:moveTo>
                <a:lnTo>
                  <a:pt x="228600" y="0"/>
                </a:lnTo>
              </a:path>
            </a:pathLst>
          </a:custGeom>
          <a:solidFill>
            <a:srgbClr val="000000">
              <a:alpha val="100000"/>
            </a:srgbClr>
          </a:solidFill>
          <a:ln w="12700" cap="flat" cmpd="sng">
            <a:solidFill>
              <a:srgbClr val="E74C3C">
                <a:alpha val="100000"/>
              </a:srgbClr>
            </a:solidFill>
            <a:prstDash val="solid"/>
            <a:miter lim="1000000"/>
          </a:ln>
        </p:spPr>
        <p:txBody>
          <a:bodyPr vert="horz" wrap="square" lIns="91440" tIns="45720" rIns="91440" bIns="45720" rtlCol="0" anchor="ctr" anchorCtr="0"/>
          <a:lstStyle/>
          <a:p>
            <a:pPr algn="l">
              <a:defRPr/>
            </a:pPr>
            <a:endParaRPr/>
          </a:p>
        </p:txBody>
      </p:sp>
      <p:sp>
        <p:nvSpPr>
          <p:cNvPr id="122" name="AutoShape 122"/>
          <p:cNvSpPr/>
          <p:nvPr/>
        </p:nvSpPr>
        <p:spPr>
          <a:xfrm>
            <a:off x="4588193" y="6520815"/>
            <a:ext cx="73152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2C3E50"/>
                </a:solidFill>
                <a:latin typeface="微软雅黑"/>
                <a:ea typeface="微软雅黑"/>
                <a:cs typeface="微软雅黑"/>
                <a:sym typeface="微软雅黑"/>
              </a:rPr>
              <a:t>多规模选型</a:t>
            </a:r>
            <a:endParaRPr lang="en-US" sz="1100" dirty="0"/>
          </a:p>
        </p:txBody>
      </p:sp>
      <p:pic>
        <p:nvPicPr>
          <p:cNvPr id="123" name="Picture 123"/>
          <p:cNvPicPr>
            <a:picLocks noChangeAspect="1"/>
          </p:cNvPicPr>
          <p:nvPr/>
        </p:nvPicPr>
        <p:blipFill>
          <a:blip r:embed="rId4"/>
          <a:srcRect/>
          <a:stretch>
            <a:fillRect/>
          </a:stretch>
        </p:blipFill>
        <p:spPr>
          <a:xfrm>
            <a:off x="364490" y="119380"/>
            <a:ext cx="518160" cy="518160"/>
          </a:xfrm>
          <a:prstGeom prst="rect">
            <a:avLst/>
          </a:prstGeom>
          <a:noFill/>
          <a:ln w="25400" cap="flat" cmpd="sng">
            <a:noFill/>
            <a:prstDash val="solid"/>
            <a:round/>
          </a:ln>
        </p:spPr>
      </p:pic>
    </p:spTree>
    <p:extLst>
      <p:ext uri="{BB962C8B-B14F-4D97-AF65-F5344CB8AC3E}">
        <p14:creationId xmlns:p14="http://schemas.microsoft.com/office/powerpoint/2010/main" val="1594678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934" y="0"/>
            <a:ext cx="12214934" cy="3616960"/>
          </a:xfrm>
          <a:prstGeom prst="rect">
            <a:avLst/>
          </a:prstGeom>
          <a:solidFill>
            <a:srgbClr val="0A3760">
              <a:alpha val="100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pic>
        <p:nvPicPr>
          <p:cNvPr id="3" name="Picture 3"/>
          <p:cNvPicPr>
            <a:picLocks noChangeAspect="1"/>
          </p:cNvPicPr>
          <p:nvPr/>
        </p:nvPicPr>
        <p:blipFill>
          <a:blip r:embed="rId3"/>
          <a:srcRect/>
          <a:stretch>
            <a:fillRect/>
          </a:stretch>
        </p:blipFill>
        <p:spPr>
          <a:xfrm>
            <a:off x="4179656" y="602203"/>
            <a:ext cx="3832687" cy="1112297"/>
          </a:xfrm>
          <a:prstGeom prst="rect">
            <a:avLst/>
          </a:prstGeom>
          <a:ln w="12700">
            <a:noFill/>
            <a:prstDash val="solid"/>
          </a:ln>
        </p:spPr>
      </p:pic>
      <p:sp>
        <p:nvSpPr>
          <p:cNvPr id="4" name="Freeform 4"/>
          <p:cNvSpPr/>
          <p:nvPr/>
        </p:nvSpPr>
        <p:spPr>
          <a:xfrm>
            <a:off x="2965173" y="2922324"/>
            <a:ext cx="6261654" cy="1348631"/>
          </a:xfrm>
          <a:custGeom>
            <a:avLst/>
            <a:gdLst/>
            <a:ahLst/>
            <a:cxnLst/>
            <a:rect l="l" t="t" r="r" b="b"/>
            <a:pathLst>
              <a:path w="6261654" h="1348631">
                <a:moveTo>
                  <a:pt x="674315" y="0"/>
                </a:moveTo>
                <a:lnTo>
                  <a:pt x="674326" y="1"/>
                </a:lnTo>
                <a:lnTo>
                  <a:pt x="5558735" y="1"/>
                </a:lnTo>
                <a:lnTo>
                  <a:pt x="5558735" y="2885"/>
                </a:lnTo>
                <a:lnTo>
                  <a:pt x="5587340" y="1"/>
                </a:lnTo>
                <a:cubicBezTo>
                  <a:pt x="5959753" y="1"/>
                  <a:pt x="6261654" y="301902"/>
                  <a:pt x="6261654" y="674315"/>
                </a:cubicBezTo>
                <a:cubicBezTo>
                  <a:pt x="6261654" y="1046730"/>
                  <a:pt x="5959753" y="1348631"/>
                  <a:pt x="5587340"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FFFFFF">
              <a:alpha val="100000"/>
            </a:srgbClr>
          </a:solidFill>
          <a:ln w="38100" cap="flat">
            <a:solidFill>
              <a:srgbClr val="0A3760">
                <a:alpha val="100000"/>
              </a:srgbClr>
            </a:solidFill>
            <a:prstDash val="solid"/>
          </a:ln>
          <a:effectLst>
            <a:outerShdw blurRad="63500" sx="102000" sy="102000" algn="ctr" rotWithShape="0">
              <a:srgbClr val="000000">
                <a:alpha val="40000"/>
              </a:srgbClr>
            </a:outerShdw>
          </a:effectLst>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5" name="AutoShape 5"/>
          <p:cNvSpPr/>
          <p:nvPr/>
        </p:nvSpPr>
        <p:spPr>
          <a:xfrm>
            <a:off x="3670300" y="3271520"/>
            <a:ext cx="5556250" cy="1198880"/>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600" b="1" i="0" u="none" strike="noStrike">
                <a:solidFill>
                  <a:srgbClr val="000000"/>
                </a:solidFill>
                <a:latin typeface="微软雅黑"/>
                <a:ea typeface="微软雅黑"/>
                <a:cs typeface="微软雅黑"/>
                <a:sym typeface="微软雅黑"/>
              </a:rPr>
              <a:t>4.研究创新点与预期贡献</a:t>
            </a:r>
            <a:endParaRPr lang="en-US" sz="1100"/>
          </a:p>
          <a:p>
            <a:pPr marL="0" indent="0" algn="l" defTabSz="914400">
              <a:lnSpc>
                <a:spcPct val="100000"/>
              </a:lnSpc>
            </a:pPr>
            <a:r>
              <a:rPr lang="en-US" sz="3600" b="0" i="0" u="none" strike="noStrike">
                <a:solidFill>
                  <a:srgbClr val="000000"/>
                </a:solidFill>
                <a:latin typeface="等线"/>
                <a:ea typeface="等线"/>
                <a:cs typeface="等线"/>
                <a:sym typeface="等线"/>
              </a:rPr>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pic>
        <p:nvPicPr>
          <p:cNvPr id="3" name="Picture 3"/>
          <p:cNvPicPr>
            <a:picLocks noChangeAspect="1"/>
          </p:cNvPicPr>
          <p:nvPr/>
        </p:nvPicPr>
        <p:blipFill>
          <a:blip r:embed="rId4"/>
          <a:srcRect/>
          <a:stretch>
            <a:fillRect/>
          </a:stretch>
        </p:blipFill>
        <p:spPr>
          <a:xfrm>
            <a:off x="4018691" y="2980914"/>
            <a:ext cx="7724775" cy="1845797"/>
          </a:xfrm>
          <a:prstGeom prst="rect">
            <a:avLst/>
          </a:prstGeom>
          <a:noFill/>
          <a:ln w="25400" cap="flat" cmpd="sng">
            <a:noFill/>
            <a:prstDash val="solid"/>
            <a:round/>
          </a:ln>
        </p:spPr>
      </p:pic>
      <p:sp>
        <p:nvSpPr>
          <p:cNvPr id="7" name="AutoShape 7"/>
          <p:cNvSpPr/>
          <p:nvPr/>
        </p:nvSpPr>
        <p:spPr>
          <a:xfrm>
            <a:off x="5161144" y="3674244"/>
            <a:ext cx="6412026" cy="1050156"/>
          </a:xfrm>
          <a:prstGeom prst="roundRect">
            <a:avLst>
              <a:gd name="adj" fmla="val 0"/>
            </a:avLst>
          </a:prstGeom>
          <a:noFill/>
          <a:ln w="12700" cap="flat" cmpd="sng">
            <a:noFill/>
            <a:prstDash val="solid"/>
            <a:round/>
          </a:ln>
        </p:spPr>
        <p:txBody>
          <a:bodyPr vert="horz" wrap="square" lIns="0" tIns="0" rIns="0" bIns="0" rtlCol="0" anchor="t">
            <a:noAutofit/>
          </a:bodyPr>
          <a:lstStyle/>
          <a:p>
            <a:pPr algn="just">
              <a:defRPr/>
            </a:pPr>
            <a:r>
              <a:rPr kumimoji="1" lang="zh-CN" altLang="en-US" dirty="0">
                <a:latin typeface="Microsoft YaHei" panose="020B0503020204020204" pitchFamily="34" charset="-122"/>
                <a:ea typeface="Microsoft YaHei" panose="020B0503020204020204" pitchFamily="34" charset="-122"/>
                <a:sym typeface="MiSans"/>
              </a:rPr>
              <a:t>将经验</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文本提示转为可冻结的工程参数，按“独立评测</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主排序</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稳定区间</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硬冻结”四步法确定提示词与阈值与只凭经验试提示词、只看单一 </a:t>
            </a:r>
            <a:r>
              <a:rPr lang="en-US" altLang="zh-CN" dirty="0" err="1">
                <a:solidFill>
                  <a:srgbClr val="262626"/>
                </a:solidFill>
                <a:latin typeface="Microsoft YaHei" panose="020B0503020204020204" pitchFamily="34" charset="-122"/>
                <a:ea typeface="Microsoft YaHei" panose="020B0503020204020204" pitchFamily="34" charset="-122"/>
                <a:cs typeface="MiSans"/>
                <a:sym typeface="MiSans"/>
              </a:rPr>
              <a:t>mAP</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 </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不同</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稳定、高效、可复现。同时引入中心点偏移与边界容差 </a:t>
            </a:r>
            <a:r>
              <a:rPr lang="en-US" altLang="zh-CN" dirty="0" err="1">
                <a:solidFill>
                  <a:srgbClr val="262626"/>
                </a:solidFill>
                <a:latin typeface="Microsoft YaHei" panose="020B0503020204020204" pitchFamily="34" charset="-122"/>
                <a:ea typeface="Microsoft YaHei" panose="020B0503020204020204" pitchFamily="34" charset="-122"/>
                <a:cs typeface="MiSans"/>
                <a:sym typeface="MiSans"/>
              </a:rPr>
              <a:t>IoU</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 </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审计标注风格差异，通过模型</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测试集冲突仲裁及 </a:t>
            </a:r>
            <a:r>
              <a:rPr lang="en-US" altLang="zh-CN" dirty="0" err="1">
                <a:solidFill>
                  <a:srgbClr val="262626"/>
                </a:solidFill>
                <a:latin typeface="Microsoft YaHei" panose="020B0503020204020204" pitchFamily="34" charset="-122"/>
                <a:ea typeface="Microsoft YaHei" panose="020B0503020204020204" pitchFamily="34" charset="-122"/>
                <a:cs typeface="MiSans"/>
                <a:sym typeface="MiSans"/>
              </a:rPr>
              <a:t>IoF</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 </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包含率过滤阻断定位噪声；针对火焰类别设计保守验证策略，保障召回并压制误检。</a:t>
            </a:r>
            <a:endParaRPr lang="en-US" sz="1100" dirty="0">
              <a:latin typeface="Microsoft YaHei" panose="020B0503020204020204" pitchFamily="34" charset="-122"/>
              <a:ea typeface="Microsoft YaHei" panose="020B0503020204020204" pitchFamily="34" charset="-122"/>
            </a:endParaRPr>
          </a:p>
        </p:txBody>
      </p:sp>
      <p:sp>
        <p:nvSpPr>
          <p:cNvPr id="8" name="AutoShape 8"/>
          <p:cNvSpPr/>
          <p:nvPr/>
        </p:nvSpPr>
        <p:spPr>
          <a:xfrm>
            <a:off x="5150566" y="3164058"/>
            <a:ext cx="5528761" cy="480976"/>
          </a:xfrm>
          <a:prstGeom prst="roundRect">
            <a:avLst>
              <a:gd name="adj" fmla="val 0"/>
            </a:avLst>
          </a:prstGeom>
          <a:noFill/>
          <a:ln w="12700" cap="flat" cmpd="sng">
            <a:noFill/>
            <a:prstDash val="solid"/>
            <a:round/>
          </a:ln>
        </p:spPr>
        <p:txBody>
          <a:bodyPr vert="horz" wrap="square" lIns="0" tIns="0" rIns="0" bIns="0" rtlCol="0" anchor="ctr">
            <a:noAutofit/>
          </a:bodyPr>
          <a:lstStyle/>
          <a:p>
            <a:pPr marL="0" indent="0" algn="l" defTabSz="914400">
              <a:lnSpc>
                <a:spcPct val="100000"/>
              </a:lnSpc>
              <a:defRPr/>
            </a:pPr>
            <a:r>
              <a:rPr lang="en-US" sz="1800" b="1" i="0" u="none" strike="noStrike" dirty="0" err="1">
                <a:solidFill>
                  <a:srgbClr val="0A3760"/>
                </a:solidFill>
                <a:effectLst>
                  <a:outerShdw blurRad="38100" dist="25400" dir="5400000" algn="ctr">
                    <a:srgbClr val="6E747A">
                      <a:alpha val="43000"/>
                    </a:srgbClr>
                  </a:outerShdw>
                </a:effectLst>
                <a:latin typeface="Microsoft YaHei" panose="020B0503020204020204" pitchFamily="34" charset="-122"/>
                <a:ea typeface="Microsoft YaHei" panose="020B0503020204020204" pitchFamily="34" charset="-122"/>
                <a:cs typeface="MiSans"/>
                <a:sym typeface="MiSans"/>
              </a:rPr>
              <a:t>低预算提示冻结与噪声审计</a:t>
            </a:r>
            <a:endParaRPr lang="en-US" sz="1100" dirty="0">
              <a:latin typeface="Microsoft YaHei" panose="020B0503020204020204" pitchFamily="34" charset="-122"/>
              <a:ea typeface="Microsoft YaHei" panose="020B0503020204020204" pitchFamily="34" charset="-122"/>
            </a:endParaRPr>
          </a:p>
        </p:txBody>
      </p:sp>
      <p:sp>
        <p:nvSpPr>
          <p:cNvPr id="11" name="AutoShape 11"/>
          <p:cNvSpPr/>
          <p:nvPr/>
        </p:nvSpPr>
        <p:spPr>
          <a:xfrm>
            <a:off x="4036695" y="394335"/>
            <a:ext cx="6780530" cy="622935"/>
          </a:xfrm>
          <a:prstGeom prst="roundRect">
            <a:avLst>
              <a:gd name="adj" fmla="val 0"/>
            </a:avLst>
          </a:prstGeom>
          <a:noFill/>
          <a:ln w="25400" cap="flat" cmpd="sng">
            <a:noFill/>
            <a:prstDash val="solid"/>
            <a:round/>
          </a:ln>
        </p:spPr>
        <p:txBody>
          <a:bodyPr vert="horz" wrap="square" lIns="91440" tIns="45720" rIns="91440" bIns="45720" rtlCol="0" anchor="ctr" anchorCtr="0"/>
          <a:lstStyle/>
          <a:p>
            <a:pPr marL="0" indent="0" algn="l" defTabSz="914400">
              <a:lnSpc>
                <a:spcPct val="100000"/>
              </a:lnSpc>
              <a:defRPr/>
            </a:pPr>
            <a:r>
              <a:rPr lang="en-US" sz="2800" b="1" i="0" u="none" strike="noStrike" dirty="0" err="1">
                <a:solidFill>
                  <a:srgbClr val="0A3760"/>
                </a:solidFill>
                <a:effectLst>
                  <a:outerShdw blurRad="38100" dist="25400" dir="5400000" algn="ctr">
                    <a:srgbClr val="6E747A">
                      <a:alpha val="43000"/>
                    </a:srgbClr>
                  </a:outerShdw>
                </a:effectLst>
                <a:latin typeface="MiSans"/>
                <a:ea typeface="MiSans"/>
                <a:cs typeface="MiSans"/>
                <a:sym typeface="MiSans"/>
              </a:rPr>
              <a:t>拟形成的特色与贡献</a:t>
            </a:r>
            <a:endParaRPr lang="en-US" sz="1100" dirty="0"/>
          </a:p>
        </p:txBody>
      </p:sp>
      <p:grpSp>
        <p:nvGrpSpPr>
          <p:cNvPr id="37" name="グループ化 36">
            <a:extLst>
              <a:ext uri="{FF2B5EF4-FFF2-40B4-BE49-F238E27FC236}">
                <a16:creationId xmlns:a16="http://schemas.microsoft.com/office/drawing/2014/main" id="{7793F61B-1EC4-4B76-8BE3-60627EBE4811}"/>
              </a:ext>
            </a:extLst>
          </p:cNvPr>
          <p:cNvGrpSpPr/>
          <p:nvPr/>
        </p:nvGrpSpPr>
        <p:grpSpPr>
          <a:xfrm>
            <a:off x="4018690" y="1019904"/>
            <a:ext cx="7724775" cy="1845797"/>
            <a:chOff x="4018691" y="4924757"/>
            <a:chExt cx="7724775" cy="1845797"/>
          </a:xfrm>
        </p:grpSpPr>
        <p:pic>
          <p:nvPicPr>
            <p:cNvPr id="2" name="Picture 2"/>
            <p:cNvPicPr>
              <a:picLocks noChangeAspect="1"/>
            </p:cNvPicPr>
            <p:nvPr/>
          </p:nvPicPr>
          <p:blipFill>
            <a:blip r:embed="rId4"/>
            <a:srcRect/>
            <a:stretch>
              <a:fillRect/>
            </a:stretch>
          </p:blipFill>
          <p:spPr>
            <a:xfrm>
              <a:off x="4018691" y="4924757"/>
              <a:ext cx="7724775" cy="1845797"/>
            </a:xfrm>
            <a:prstGeom prst="rect">
              <a:avLst/>
            </a:prstGeom>
            <a:noFill/>
            <a:ln w="25400" cap="flat" cmpd="sng">
              <a:noFill/>
              <a:prstDash val="solid"/>
              <a:round/>
            </a:ln>
          </p:spPr>
        </p:pic>
        <p:sp>
          <p:nvSpPr>
            <p:cNvPr id="5" name="AutoShape 5"/>
            <p:cNvSpPr/>
            <p:nvPr/>
          </p:nvSpPr>
          <p:spPr>
            <a:xfrm>
              <a:off x="5161144" y="5581542"/>
              <a:ext cx="6412026" cy="1038666"/>
            </a:xfrm>
            <a:prstGeom prst="roundRect">
              <a:avLst>
                <a:gd name="adj" fmla="val 0"/>
              </a:avLst>
            </a:prstGeom>
            <a:noFill/>
            <a:ln w="25400" cap="flat" cmpd="sng">
              <a:noFill/>
              <a:prstDash val="solid"/>
              <a:round/>
            </a:ln>
          </p:spPr>
          <p:txBody>
            <a:bodyPr vert="horz" wrap="square" lIns="0" tIns="0" rIns="0" bIns="0" rtlCol="0" anchor="t" anchorCtr="0"/>
            <a:lstStyle/>
            <a:p>
              <a:pPr algn="just">
                <a:defRPr/>
              </a:pP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面向火烟边界弥散、非刚性等视觉特征，构建“</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Grounding DINO </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定位 </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 SAM3 </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审核补漏 </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 YOLO </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裁判”的三级级联架构；通过按角色分离权限，严格限制后置节点改框权力，避免多模型级联的负向修改与几何退化；引入阶段门控实现数据制备流程标准化，提升工业级复现性。与把大模型当更强标注器直接替换框不同</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避免负向修改与几何退化，提升可复现性。</a:t>
              </a:r>
            </a:p>
            <a:p>
              <a:pPr algn="just">
                <a:defRPr/>
              </a:pPr>
              <a:endParaRPr lang="en-US" sz="1100" dirty="0">
                <a:latin typeface="Microsoft YaHei" panose="020B0503020204020204" pitchFamily="34" charset="-122"/>
                <a:ea typeface="Microsoft YaHei" panose="020B0503020204020204" pitchFamily="34" charset="-122"/>
              </a:endParaRPr>
            </a:p>
          </p:txBody>
        </p:sp>
        <p:sp>
          <p:nvSpPr>
            <p:cNvPr id="6" name="AutoShape 6"/>
            <p:cNvSpPr/>
            <p:nvPr/>
          </p:nvSpPr>
          <p:spPr>
            <a:xfrm>
              <a:off x="5150566" y="5087473"/>
              <a:ext cx="5528761" cy="480976"/>
            </a:xfrm>
            <a:prstGeom prst="roundRect">
              <a:avLst>
                <a:gd name="adj" fmla="val 0"/>
              </a:avLst>
            </a:prstGeom>
            <a:noFill/>
            <a:ln w="12700" cap="flat" cmpd="sng">
              <a:noFill/>
              <a:prstDash val="solid"/>
              <a:round/>
            </a:ln>
          </p:spPr>
          <p:txBody>
            <a:bodyPr vert="horz" wrap="square" lIns="0" tIns="0" rIns="0" bIns="0" rtlCol="0" anchor="ctr">
              <a:noAutofit/>
            </a:bodyPr>
            <a:lstStyle/>
            <a:p>
              <a:pPr marL="0" indent="0" algn="l" defTabSz="914400">
                <a:lnSpc>
                  <a:spcPct val="100000"/>
                </a:lnSpc>
                <a:defRPr/>
              </a:pPr>
              <a:r>
                <a:rPr lang="zh-CN" altLang="en-US" sz="1800" b="1" i="0" u="none" strike="noStrike" dirty="0">
                  <a:solidFill>
                    <a:srgbClr val="0A3760"/>
                  </a:solidFill>
                  <a:effectLst>
                    <a:outerShdw blurRad="38100" dist="25400" dir="5400000" algn="ctr">
                      <a:srgbClr val="6E747A">
                        <a:alpha val="43000"/>
                      </a:srgbClr>
                    </a:outerShdw>
                  </a:effectLst>
                  <a:latin typeface="Microsoft YaHei" panose="020B0503020204020204" pitchFamily="34" charset="-122"/>
                  <a:ea typeface="Microsoft YaHei" panose="020B0503020204020204" pitchFamily="34" charset="-122"/>
                  <a:cs typeface="MiSans"/>
                  <a:sym typeface="MiSans"/>
                </a:rPr>
                <a:t>弱监督</a:t>
              </a:r>
              <a:r>
                <a:rPr lang="en-US" sz="1800" b="1" i="0" u="none" strike="noStrike" dirty="0" err="1">
                  <a:solidFill>
                    <a:srgbClr val="0A3760"/>
                  </a:solidFill>
                  <a:effectLst>
                    <a:outerShdw blurRad="38100" dist="25400" dir="5400000" algn="ctr">
                      <a:srgbClr val="6E747A">
                        <a:alpha val="43000"/>
                      </a:srgbClr>
                    </a:outerShdw>
                  </a:effectLst>
                  <a:latin typeface="Microsoft YaHei" panose="020B0503020204020204" pitchFamily="34" charset="-122"/>
                  <a:ea typeface="Microsoft YaHei" panose="020B0503020204020204" pitchFamily="34" charset="-122"/>
                  <a:cs typeface="MiSans"/>
                  <a:sym typeface="MiSans"/>
                </a:rPr>
                <a:t>异构大模型级联</a:t>
              </a:r>
              <a:r>
                <a:rPr lang="zh-CN" altLang="en-US" sz="1800" b="1" i="0" u="none" strike="noStrike" dirty="0">
                  <a:solidFill>
                    <a:srgbClr val="0A3760"/>
                  </a:solidFill>
                  <a:effectLst>
                    <a:outerShdw blurRad="38100" dist="25400" dir="5400000" algn="ctr">
                      <a:srgbClr val="6E747A">
                        <a:alpha val="43000"/>
                      </a:srgbClr>
                    </a:outerShdw>
                  </a:effectLst>
                  <a:latin typeface="Microsoft YaHei" panose="020B0503020204020204" pitchFamily="34" charset="-122"/>
                  <a:ea typeface="Microsoft YaHei" panose="020B0503020204020204" pitchFamily="34" charset="-122"/>
                  <a:cs typeface="MiSans"/>
                  <a:sym typeface="MiSans"/>
                </a:rPr>
                <a:t>伪标签生成</a:t>
              </a:r>
              <a:r>
                <a:rPr lang="en-US" sz="1800" b="1" i="0" u="none" strike="noStrike" dirty="0" err="1">
                  <a:solidFill>
                    <a:srgbClr val="0A3760"/>
                  </a:solidFill>
                  <a:effectLst>
                    <a:outerShdw blurRad="38100" dist="25400" dir="5400000" algn="ctr">
                      <a:srgbClr val="6E747A">
                        <a:alpha val="43000"/>
                      </a:srgbClr>
                    </a:outerShdw>
                  </a:effectLst>
                  <a:latin typeface="Microsoft YaHei" panose="020B0503020204020204" pitchFamily="34" charset="-122"/>
                  <a:ea typeface="Microsoft YaHei" panose="020B0503020204020204" pitchFamily="34" charset="-122"/>
                  <a:cs typeface="MiSans"/>
                  <a:sym typeface="MiSans"/>
                </a:rPr>
                <a:t>管线</a:t>
              </a:r>
              <a:endParaRPr lang="en-US" sz="1100" dirty="0">
                <a:latin typeface="Microsoft YaHei" panose="020B0503020204020204" pitchFamily="34" charset="-122"/>
                <a:ea typeface="Microsoft YaHei" panose="020B0503020204020204" pitchFamily="34" charset="-122"/>
              </a:endParaRPr>
            </a:p>
          </p:txBody>
        </p:sp>
        <p:pic>
          <p:nvPicPr>
            <p:cNvPr id="12" name="Picture 12"/>
            <p:cNvPicPr>
              <a:picLocks noChangeAspect="1"/>
            </p:cNvPicPr>
            <p:nvPr/>
          </p:nvPicPr>
          <p:blipFill>
            <a:blip r:embed="rId5"/>
            <a:srcRect/>
            <a:stretch>
              <a:fillRect/>
            </a:stretch>
          </p:blipFill>
          <p:spPr>
            <a:xfrm>
              <a:off x="4243636" y="5067225"/>
              <a:ext cx="722630" cy="722630"/>
            </a:xfrm>
            <a:prstGeom prst="rect">
              <a:avLst/>
            </a:prstGeom>
            <a:noFill/>
            <a:ln w="25400" cap="flat" cmpd="sng">
              <a:noFill/>
              <a:prstDash val="solid"/>
              <a:round/>
            </a:ln>
          </p:spPr>
        </p:pic>
      </p:grpSp>
      <p:pic>
        <p:nvPicPr>
          <p:cNvPr id="13" name="Picture 13"/>
          <p:cNvPicPr>
            <a:picLocks noChangeAspect="1"/>
          </p:cNvPicPr>
          <p:nvPr/>
        </p:nvPicPr>
        <p:blipFill>
          <a:blip r:embed="rId6"/>
          <a:srcRect/>
          <a:stretch>
            <a:fillRect/>
          </a:stretch>
        </p:blipFill>
        <p:spPr>
          <a:xfrm>
            <a:off x="4224655" y="3239770"/>
            <a:ext cx="722630" cy="722630"/>
          </a:xfrm>
          <a:prstGeom prst="rect">
            <a:avLst/>
          </a:prstGeom>
          <a:noFill/>
          <a:ln w="25400" cap="flat" cmpd="sng">
            <a:noFill/>
            <a:prstDash val="solid"/>
            <a:round/>
          </a:ln>
        </p:spPr>
      </p:pic>
      <p:pic>
        <p:nvPicPr>
          <p:cNvPr id="15" name="Picture 15"/>
          <p:cNvPicPr>
            <a:picLocks noChangeAspect="1"/>
          </p:cNvPicPr>
          <p:nvPr/>
        </p:nvPicPr>
        <p:blipFill>
          <a:blip r:embed="rId7"/>
          <a:srcRect/>
          <a:stretch>
            <a:fillRect/>
          </a:stretch>
        </p:blipFill>
        <p:spPr>
          <a:xfrm>
            <a:off x="10999470" y="509270"/>
            <a:ext cx="762000" cy="298450"/>
          </a:xfrm>
          <a:prstGeom prst="rect">
            <a:avLst/>
          </a:prstGeom>
          <a:noFill/>
          <a:ln w="25400" cap="flat" cmpd="sng">
            <a:noFill/>
            <a:prstDash val="solid"/>
            <a:round/>
          </a:ln>
        </p:spPr>
      </p:pic>
      <p:sp>
        <p:nvSpPr>
          <p:cNvPr id="17" name="Freeform 17"/>
          <p:cNvSpPr/>
          <p:nvPr/>
        </p:nvSpPr>
        <p:spPr>
          <a:xfrm>
            <a:off x="788278" y="2650790"/>
            <a:ext cx="3016554" cy="686405"/>
          </a:xfrm>
          <a:custGeom>
            <a:avLst/>
            <a:gdLst/>
            <a:ahLst/>
            <a:cxnLst/>
            <a:rect l="l" t="t" r="r" b="b"/>
            <a:pathLst>
              <a:path w="3016554" h="686405">
                <a:moveTo>
                  <a:pt x="725999" y="0"/>
                </a:moveTo>
                <a:lnTo>
                  <a:pt x="3016554" y="254950"/>
                </a:lnTo>
                <a:lnTo>
                  <a:pt x="2341206" y="627570"/>
                </a:lnTo>
                <a:lnTo>
                  <a:pt x="0" y="686405"/>
                </a:lnTo>
                <a:lnTo>
                  <a:pt x="725999" y="0"/>
                </a:lnTo>
                <a:close/>
              </a:path>
            </a:pathLst>
          </a:custGeom>
          <a:solidFill>
            <a:srgbClr val="465A66">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0" name="Freeform 20"/>
          <p:cNvSpPr/>
          <p:nvPr/>
        </p:nvSpPr>
        <p:spPr>
          <a:xfrm>
            <a:off x="1339812" y="2900255"/>
            <a:ext cx="2459391" cy="1444018"/>
          </a:xfrm>
          <a:custGeom>
            <a:avLst/>
            <a:gdLst/>
            <a:ahLst/>
            <a:cxnLst/>
            <a:rect l="l" t="t" r="r" b="b"/>
            <a:pathLst>
              <a:path w="2459391" h="1444018">
                <a:moveTo>
                  <a:pt x="2459391" y="0"/>
                </a:moveTo>
                <a:lnTo>
                  <a:pt x="2431316" y="350210"/>
                </a:lnTo>
                <a:lnTo>
                  <a:pt x="230217" y="1444018"/>
                </a:lnTo>
                <a:lnTo>
                  <a:pt x="0" y="1372057"/>
                </a:lnTo>
                <a:lnTo>
                  <a:pt x="2459391" y="0"/>
                </a:lnTo>
                <a:close/>
              </a:path>
            </a:pathLst>
          </a:custGeom>
          <a:solidFill>
            <a:srgbClr val="6FD57F">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1" name="Freeform 21"/>
          <p:cNvSpPr/>
          <p:nvPr/>
        </p:nvSpPr>
        <p:spPr>
          <a:xfrm>
            <a:off x="1339812" y="4257920"/>
            <a:ext cx="1682742" cy="570890"/>
          </a:xfrm>
          <a:custGeom>
            <a:avLst/>
            <a:gdLst/>
            <a:ahLst/>
            <a:cxnLst/>
            <a:rect l="l" t="t" r="r" b="b"/>
            <a:pathLst>
              <a:path w="1682742" h="570890">
                <a:moveTo>
                  <a:pt x="0" y="0"/>
                </a:moveTo>
                <a:lnTo>
                  <a:pt x="50651" y="172251"/>
                </a:lnTo>
                <a:lnTo>
                  <a:pt x="1277534" y="570890"/>
                </a:lnTo>
                <a:lnTo>
                  <a:pt x="1682742" y="565969"/>
                </a:lnTo>
                <a:lnTo>
                  <a:pt x="0" y="0"/>
                </a:lnTo>
                <a:close/>
              </a:path>
            </a:pathLst>
          </a:custGeom>
          <a:solidFill>
            <a:srgbClr val="465A66">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3" name="Freeform 23"/>
          <p:cNvSpPr/>
          <p:nvPr/>
        </p:nvSpPr>
        <p:spPr>
          <a:xfrm>
            <a:off x="1559300" y="4824013"/>
            <a:ext cx="1468881" cy="100745"/>
          </a:xfrm>
          <a:custGeom>
            <a:avLst/>
            <a:gdLst/>
            <a:ahLst/>
            <a:cxnLst/>
            <a:rect l="l" t="t" r="r" b="b"/>
            <a:pathLst>
              <a:path w="1468881" h="100745">
                <a:moveTo>
                  <a:pt x="95674" y="100745"/>
                </a:moveTo>
                <a:lnTo>
                  <a:pt x="1373207" y="100745"/>
                </a:lnTo>
                <a:lnTo>
                  <a:pt x="1468881" y="0"/>
                </a:lnTo>
                <a:lnTo>
                  <a:pt x="0" y="9595"/>
                </a:lnTo>
                <a:lnTo>
                  <a:pt x="95674" y="100745"/>
                </a:lnTo>
                <a:close/>
              </a:path>
            </a:pathLst>
          </a:custGeom>
          <a:solidFill>
            <a:srgbClr val="6FD57F">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5" name="AutoShape 25"/>
          <p:cNvSpPr/>
          <p:nvPr/>
        </p:nvSpPr>
        <p:spPr>
          <a:xfrm>
            <a:off x="1652160" y="5189638"/>
            <a:ext cx="1283161" cy="89952"/>
          </a:xfrm>
          <a:prstGeom prst="roundRect">
            <a:avLst>
              <a:gd name="adj" fmla="val 16667"/>
            </a:avLst>
          </a:prstGeom>
          <a:solidFill>
            <a:srgbClr val="465A66">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grpSp>
        <p:nvGrpSpPr>
          <p:cNvPr id="35" name="组合 34">
            <a:extLst>
              <a:ext uri="{FF2B5EF4-FFF2-40B4-BE49-F238E27FC236}">
                <a16:creationId xmlns:a16="http://schemas.microsoft.com/office/drawing/2014/main" id="{92435C59-AC21-C428-7FB5-59073E758E51}"/>
              </a:ext>
            </a:extLst>
          </p:cNvPr>
          <p:cNvGrpSpPr/>
          <p:nvPr/>
        </p:nvGrpSpPr>
        <p:grpSpPr>
          <a:xfrm>
            <a:off x="255773" y="1721150"/>
            <a:ext cx="3543430" cy="4208309"/>
            <a:chOff x="255773" y="1721150"/>
            <a:chExt cx="3543430" cy="4208309"/>
          </a:xfrm>
        </p:grpSpPr>
        <p:sp>
          <p:nvSpPr>
            <p:cNvPr id="16" name="Freeform 16"/>
            <p:cNvSpPr/>
            <p:nvPr/>
          </p:nvSpPr>
          <p:spPr>
            <a:xfrm>
              <a:off x="2227430" y="1721150"/>
              <a:ext cx="1202963" cy="642184"/>
            </a:xfrm>
            <a:custGeom>
              <a:avLst/>
              <a:gdLst/>
              <a:ahLst/>
              <a:cxnLst/>
              <a:rect l="l" t="t" r="r" b="b"/>
              <a:pathLst>
                <a:path w="1202963" h="642184">
                  <a:moveTo>
                    <a:pt x="274204" y="0"/>
                  </a:moveTo>
                  <a:lnTo>
                    <a:pt x="1202963" y="378176"/>
                  </a:lnTo>
                  <a:lnTo>
                    <a:pt x="787234" y="642184"/>
                  </a:lnTo>
                  <a:lnTo>
                    <a:pt x="0" y="249739"/>
                  </a:lnTo>
                  <a:lnTo>
                    <a:pt x="274204" y="0"/>
                  </a:lnTo>
                  <a:close/>
                </a:path>
              </a:pathLst>
            </a:custGeom>
            <a:solidFill>
              <a:srgbClr val="6FD57F">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18" name="Freeform 18"/>
            <p:cNvSpPr/>
            <p:nvPr/>
          </p:nvSpPr>
          <p:spPr>
            <a:xfrm>
              <a:off x="1011806" y="2070304"/>
              <a:ext cx="2787397" cy="1775040"/>
            </a:xfrm>
            <a:custGeom>
              <a:avLst/>
              <a:gdLst/>
              <a:ahLst/>
              <a:cxnLst/>
              <a:rect l="l" t="t" r="r" b="b"/>
              <a:pathLst>
                <a:path w="2787397" h="1775040">
                  <a:moveTo>
                    <a:pt x="2409349" y="0"/>
                  </a:moveTo>
                  <a:lnTo>
                    <a:pt x="2787397" y="697508"/>
                  </a:lnTo>
                  <a:lnTo>
                    <a:pt x="338550" y="1775040"/>
                  </a:lnTo>
                  <a:lnTo>
                    <a:pt x="0" y="1726935"/>
                  </a:lnTo>
                  <a:lnTo>
                    <a:pt x="2409349" y="0"/>
                  </a:lnTo>
                  <a:close/>
                </a:path>
              </a:pathLst>
            </a:custGeom>
            <a:solidFill>
              <a:srgbClr val="00ACCF">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19" name="Freeform 19"/>
            <p:cNvSpPr/>
            <p:nvPr/>
          </p:nvSpPr>
          <p:spPr>
            <a:xfrm>
              <a:off x="1013394" y="3787774"/>
              <a:ext cx="2245531" cy="623661"/>
            </a:xfrm>
            <a:custGeom>
              <a:avLst/>
              <a:gdLst/>
              <a:ahLst/>
              <a:cxnLst/>
              <a:rect l="l" t="t" r="r" b="b"/>
              <a:pathLst>
                <a:path w="2245531" h="623661">
                  <a:moveTo>
                    <a:pt x="0" y="0"/>
                  </a:moveTo>
                  <a:lnTo>
                    <a:pt x="95674" y="167909"/>
                  </a:lnTo>
                  <a:lnTo>
                    <a:pt x="1682741" y="623661"/>
                  </a:lnTo>
                  <a:lnTo>
                    <a:pt x="2245531" y="393386"/>
                  </a:lnTo>
                  <a:lnTo>
                    <a:pt x="0" y="0"/>
                  </a:lnTo>
                  <a:close/>
                </a:path>
              </a:pathLst>
            </a:custGeom>
            <a:solidFill>
              <a:srgbClr val="068F86">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2" name="Freeform 22"/>
            <p:cNvSpPr/>
            <p:nvPr/>
          </p:nvSpPr>
          <p:spPr>
            <a:xfrm>
              <a:off x="1564928" y="4185959"/>
              <a:ext cx="1682742" cy="652447"/>
            </a:xfrm>
            <a:custGeom>
              <a:avLst/>
              <a:gdLst/>
              <a:ahLst/>
              <a:cxnLst/>
              <a:rect l="l" t="t" r="r" b="b"/>
              <a:pathLst>
                <a:path w="1682742" h="652447">
                  <a:moveTo>
                    <a:pt x="1682742" y="0"/>
                  </a:moveTo>
                  <a:lnTo>
                    <a:pt x="1571302" y="350210"/>
                  </a:lnTo>
                  <a:lnTo>
                    <a:pt x="462476" y="647649"/>
                  </a:lnTo>
                  <a:lnTo>
                    <a:pt x="0" y="652447"/>
                  </a:lnTo>
                  <a:lnTo>
                    <a:pt x="1682742" y="0"/>
                  </a:lnTo>
                  <a:close/>
                </a:path>
              </a:pathLst>
            </a:custGeom>
            <a:solidFill>
              <a:srgbClr val="34CFBB">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4" name="AutoShape 24"/>
            <p:cNvSpPr/>
            <p:nvPr/>
          </p:nvSpPr>
          <p:spPr>
            <a:xfrm>
              <a:off x="1652160" y="5034711"/>
              <a:ext cx="1283161" cy="89952"/>
            </a:xfrm>
            <a:prstGeom prst="roundRect">
              <a:avLst>
                <a:gd name="adj" fmla="val 16667"/>
              </a:avLst>
            </a:prstGeom>
            <a:solidFill>
              <a:srgbClr val="465A66">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6" name="AutoShape 26"/>
            <p:cNvSpPr/>
            <p:nvPr/>
          </p:nvSpPr>
          <p:spPr>
            <a:xfrm>
              <a:off x="1652160" y="5344566"/>
              <a:ext cx="1283161" cy="89952"/>
            </a:xfrm>
            <a:prstGeom prst="roundRect">
              <a:avLst>
                <a:gd name="adj" fmla="val 16667"/>
              </a:avLst>
            </a:prstGeom>
            <a:solidFill>
              <a:srgbClr val="465A66">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7" name="AutoShape 27"/>
            <p:cNvSpPr/>
            <p:nvPr/>
          </p:nvSpPr>
          <p:spPr>
            <a:xfrm>
              <a:off x="1652160" y="5499493"/>
              <a:ext cx="1283161" cy="89952"/>
            </a:xfrm>
            <a:prstGeom prst="roundRect">
              <a:avLst>
                <a:gd name="adj" fmla="val 16667"/>
              </a:avLst>
            </a:prstGeom>
            <a:solidFill>
              <a:srgbClr val="465A66">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8" name="Freeform 28"/>
            <p:cNvSpPr/>
            <p:nvPr/>
          </p:nvSpPr>
          <p:spPr>
            <a:xfrm>
              <a:off x="1652160" y="5631955"/>
              <a:ext cx="1283161" cy="297504"/>
            </a:xfrm>
            <a:custGeom>
              <a:avLst/>
              <a:gdLst/>
              <a:ahLst/>
              <a:cxnLst/>
              <a:rect l="l" t="t" r="r" b="b"/>
              <a:pathLst>
                <a:path w="1283161" h="297504">
                  <a:moveTo>
                    <a:pt x="240943" y="196093"/>
                  </a:moveTo>
                  <a:lnTo>
                    <a:pt x="1033774" y="196093"/>
                  </a:lnTo>
                  <a:lnTo>
                    <a:pt x="1033774" y="270402"/>
                  </a:lnTo>
                  <a:cubicBezTo>
                    <a:pt x="1033774" y="285370"/>
                    <a:pt x="1019538" y="297504"/>
                    <a:pt x="1001979" y="297504"/>
                  </a:cubicBezTo>
                  <a:lnTo>
                    <a:pt x="272736" y="297504"/>
                  </a:lnTo>
                  <a:cubicBezTo>
                    <a:pt x="255177" y="297504"/>
                    <a:pt x="240943" y="285370"/>
                    <a:pt x="240943" y="270402"/>
                  </a:cubicBezTo>
                  <a:close/>
                  <a:moveTo>
                    <a:pt x="32620" y="61587"/>
                  </a:moveTo>
                  <a:lnTo>
                    <a:pt x="1250541" y="61587"/>
                  </a:lnTo>
                  <a:lnTo>
                    <a:pt x="1108053" y="196093"/>
                  </a:lnTo>
                  <a:lnTo>
                    <a:pt x="1033774" y="196093"/>
                  </a:lnTo>
                  <a:lnTo>
                    <a:pt x="1033774" y="161994"/>
                  </a:lnTo>
                  <a:cubicBezTo>
                    <a:pt x="1033774" y="147025"/>
                    <a:pt x="1019538" y="134892"/>
                    <a:pt x="1001979" y="134892"/>
                  </a:cubicBezTo>
                  <a:lnTo>
                    <a:pt x="272736" y="134892"/>
                  </a:lnTo>
                  <a:cubicBezTo>
                    <a:pt x="255177" y="134892"/>
                    <a:pt x="240943" y="147025"/>
                    <a:pt x="240943" y="161994"/>
                  </a:cubicBezTo>
                  <a:lnTo>
                    <a:pt x="240943" y="196093"/>
                  </a:lnTo>
                  <a:lnTo>
                    <a:pt x="175108" y="196093"/>
                  </a:lnTo>
                  <a:close/>
                  <a:moveTo>
                    <a:pt x="1283161" y="30794"/>
                  </a:moveTo>
                  <a:lnTo>
                    <a:pt x="1283161" y="51322"/>
                  </a:lnTo>
                  <a:cubicBezTo>
                    <a:pt x="1283161" y="56991"/>
                    <a:pt x="1277770" y="61587"/>
                    <a:pt x="1271119" y="61587"/>
                  </a:cubicBezTo>
                  <a:lnTo>
                    <a:pt x="1250541" y="61587"/>
                  </a:lnTo>
                  <a:close/>
                  <a:moveTo>
                    <a:pt x="0" y="30794"/>
                  </a:moveTo>
                  <a:lnTo>
                    <a:pt x="32620" y="61587"/>
                  </a:lnTo>
                  <a:lnTo>
                    <a:pt x="12042" y="61587"/>
                  </a:lnTo>
                  <a:cubicBezTo>
                    <a:pt x="5391" y="61587"/>
                    <a:pt x="0" y="56991"/>
                    <a:pt x="0" y="51322"/>
                  </a:cubicBezTo>
                  <a:close/>
                  <a:moveTo>
                    <a:pt x="12042" y="0"/>
                  </a:moveTo>
                  <a:lnTo>
                    <a:pt x="1271119" y="0"/>
                  </a:lnTo>
                  <a:cubicBezTo>
                    <a:pt x="1277770" y="0"/>
                    <a:pt x="1283161" y="4596"/>
                    <a:pt x="1283161" y="10265"/>
                  </a:cubicBezTo>
                  <a:lnTo>
                    <a:pt x="1283161" y="30794"/>
                  </a:lnTo>
                  <a:lnTo>
                    <a:pt x="0" y="30794"/>
                  </a:lnTo>
                  <a:lnTo>
                    <a:pt x="0" y="10265"/>
                  </a:lnTo>
                  <a:cubicBezTo>
                    <a:pt x="0" y="4596"/>
                    <a:pt x="5391" y="0"/>
                    <a:pt x="12042" y="0"/>
                  </a:cubicBezTo>
                  <a:close/>
                </a:path>
              </a:pathLst>
            </a:custGeom>
            <a:solidFill>
              <a:srgbClr val="465A66">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9" name="AutoShape 29"/>
            <p:cNvSpPr/>
            <p:nvPr/>
          </p:nvSpPr>
          <p:spPr>
            <a:xfrm rot="-2586808">
              <a:off x="255773" y="2029257"/>
              <a:ext cx="2350930" cy="587020"/>
            </a:xfrm>
            <a:prstGeom prst="trapezoid">
              <a:avLst>
                <a:gd name="adj" fmla="val 95892"/>
              </a:avLst>
            </a:prstGeom>
            <a:solidFill>
              <a:srgbClr val="0A3760">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grpSp>
      <p:sp>
        <p:nvSpPr>
          <p:cNvPr id="30" name="Freeform 30"/>
          <p:cNvSpPr/>
          <p:nvPr/>
        </p:nvSpPr>
        <p:spPr>
          <a:xfrm>
            <a:off x="2463804" y="1715685"/>
            <a:ext cx="958149" cy="399383"/>
          </a:xfrm>
          <a:custGeom>
            <a:avLst/>
            <a:gdLst/>
            <a:ahLst/>
            <a:cxnLst/>
            <a:rect l="l" t="t" r="r" b="b"/>
            <a:pathLst>
              <a:path w="958149" h="399383">
                <a:moveTo>
                  <a:pt x="958149" y="356206"/>
                </a:moveTo>
                <a:lnTo>
                  <a:pt x="97081" y="0"/>
                </a:lnTo>
                <a:lnTo>
                  <a:pt x="0" y="82754"/>
                </a:lnTo>
                <a:lnTo>
                  <a:pt x="856847" y="384990"/>
                </a:lnTo>
                <a:lnTo>
                  <a:pt x="894836" y="399383"/>
                </a:lnTo>
                <a:lnTo>
                  <a:pt x="958149" y="356206"/>
                </a:lnTo>
                <a:close/>
              </a:path>
            </a:pathLst>
          </a:custGeom>
          <a:solidFill>
            <a:srgbClr val="6FD57F">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31" name="Freeform 31"/>
          <p:cNvSpPr/>
          <p:nvPr/>
        </p:nvSpPr>
        <p:spPr>
          <a:xfrm>
            <a:off x="775434" y="2831081"/>
            <a:ext cx="447418" cy="510924"/>
          </a:xfrm>
          <a:custGeom>
            <a:avLst/>
            <a:gdLst/>
            <a:ahLst/>
            <a:cxnLst/>
            <a:rect l="l" t="t" r="r" b="b"/>
            <a:pathLst>
              <a:path w="447418" h="510924">
                <a:moveTo>
                  <a:pt x="388325" y="0"/>
                </a:moveTo>
                <a:lnTo>
                  <a:pt x="0" y="449755"/>
                </a:lnTo>
                <a:lnTo>
                  <a:pt x="4220" y="510924"/>
                </a:lnTo>
                <a:lnTo>
                  <a:pt x="447418" y="97147"/>
                </a:lnTo>
                <a:lnTo>
                  <a:pt x="388325" y="0"/>
                </a:lnTo>
                <a:close/>
              </a:path>
            </a:pathLst>
          </a:custGeom>
          <a:solidFill>
            <a:srgbClr val="0A3760">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32" name="Freeform 32"/>
          <p:cNvSpPr/>
          <p:nvPr/>
        </p:nvSpPr>
        <p:spPr>
          <a:xfrm>
            <a:off x="27305" y="180975"/>
            <a:ext cx="3730625" cy="642620"/>
          </a:xfrm>
          <a:custGeom>
            <a:avLst/>
            <a:gdLst/>
            <a:ahLst/>
            <a:cxnLst/>
            <a:rect l="l" t="t" r="r" b="b"/>
            <a:pathLst>
              <a:path w="3730625" h="642620">
                <a:moveTo>
                  <a:pt x="401749" y="0"/>
                </a:moveTo>
                <a:lnTo>
                  <a:pt x="401756" y="0"/>
                </a:lnTo>
                <a:lnTo>
                  <a:pt x="3311834" y="0"/>
                </a:lnTo>
                <a:lnTo>
                  <a:pt x="3311834" y="1374"/>
                </a:lnTo>
                <a:lnTo>
                  <a:pt x="3328876" y="0"/>
                </a:lnTo>
                <a:cubicBezTo>
                  <a:pt x="3550756" y="0"/>
                  <a:pt x="3730625" y="143855"/>
                  <a:pt x="3730625" y="321310"/>
                </a:cubicBezTo>
                <a:cubicBezTo>
                  <a:pt x="3730625" y="498765"/>
                  <a:pt x="3550756" y="642620"/>
                  <a:pt x="3328876" y="642620"/>
                </a:cubicBezTo>
                <a:lnTo>
                  <a:pt x="3311834" y="641246"/>
                </a:lnTo>
                <a:lnTo>
                  <a:pt x="3311834" y="642620"/>
                </a:lnTo>
                <a:lnTo>
                  <a:pt x="401749" y="642620"/>
                </a:lnTo>
                <a:cubicBezTo>
                  <a:pt x="179869" y="642620"/>
                  <a:pt x="0" y="498765"/>
                  <a:pt x="0" y="321310"/>
                </a:cubicBezTo>
                <a:cubicBezTo>
                  <a:pt x="0" y="143855"/>
                  <a:pt x="179869" y="0"/>
                  <a:pt x="401749"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l">
              <a:defRPr/>
            </a:pPr>
            <a:endParaRPr/>
          </a:p>
        </p:txBody>
      </p:sp>
      <p:pic>
        <p:nvPicPr>
          <p:cNvPr id="33" name="Picture 33"/>
          <p:cNvPicPr>
            <a:picLocks noChangeAspect="1"/>
          </p:cNvPicPr>
          <p:nvPr/>
        </p:nvPicPr>
        <p:blipFill>
          <a:blip r:embed="rId8"/>
          <a:srcRect/>
          <a:stretch>
            <a:fillRect/>
          </a:stretch>
        </p:blipFill>
        <p:spPr>
          <a:xfrm>
            <a:off x="189865" y="179705"/>
            <a:ext cx="699135" cy="617855"/>
          </a:xfrm>
          <a:prstGeom prst="rect">
            <a:avLst/>
          </a:prstGeom>
          <a:noFill/>
          <a:ln w="25400" cap="flat" cmpd="sng">
            <a:noFill/>
            <a:prstDash val="solid"/>
            <a:round/>
          </a:ln>
        </p:spPr>
      </p:pic>
      <p:sp>
        <p:nvSpPr>
          <p:cNvPr id="34" name="AutoShape 34"/>
          <p:cNvSpPr/>
          <p:nvPr/>
        </p:nvSpPr>
        <p:spPr>
          <a:xfrm>
            <a:off x="889001" y="265430"/>
            <a:ext cx="2240280"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l" defTabSz="914400">
              <a:lnSpc>
                <a:spcPct val="100000"/>
              </a:lnSpc>
              <a:defRPr/>
            </a:pPr>
            <a:r>
              <a:rPr lang="en-US" sz="2400" b="1" dirty="0">
                <a:solidFill>
                  <a:srgbClr val="FFFFFF"/>
                </a:solidFill>
                <a:latin typeface="微软雅黑" panose="020B0503020204020204" pitchFamily="34" charset="-122"/>
                <a:ea typeface="微软雅黑" panose="020B0503020204020204" pitchFamily="34" charset="-122"/>
                <a:cs typeface="字魂105号-简雅黑"/>
                <a:sym typeface="字魂105号-简雅黑"/>
              </a:rPr>
              <a:t>4.</a:t>
            </a:r>
            <a:r>
              <a:rPr lang="en-US" sz="2400" b="1" i="0" u="none" strike="noStrike" dirty="0">
                <a:solidFill>
                  <a:srgbClr val="FFFFFF"/>
                </a:solidFill>
                <a:latin typeface="微软雅黑" panose="020B0503020204020204" pitchFamily="34" charset="-122"/>
                <a:ea typeface="微软雅黑" panose="020B0503020204020204" pitchFamily="34" charset="-122"/>
                <a:cs typeface="字魂105号-简雅黑"/>
                <a:sym typeface="字魂105号-简雅黑"/>
              </a:rPr>
              <a:t> </a:t>
            </a:r>
            <a:r>
              <a:rPr lang="en-US" sz="2400" b="1" i="0" u="none" strike="noStrike" dirty="0" err="1">
                <a:solidFill>
                  <a:srgbClr val="FFFFFF"/>
                </a:solidFill>
                <a:latin typeface="微软雅黑" panose="020B0503020204020204" pitchFamily="34" charset="-122"/>
                <a:ea typeface="微软雅黑" panose="020B0503020204020204" pitchFamily="34" charset="-122"/>
                <a:cs typeface="字魂105号-简雅黑"/>
                <a:sym typeface="字魂105号-简雅黑"/>
              </a:rPr>
              <a:t>研究创新点</a:t>
            </a:r>
            <a:endParaRPr lang="en-US" sz="1100" dirty="0">
              <a:latin typeface="微软雅黑" panose="020B0503020204020204" pitchFamily="34" charset="-122"/>
              <a:ea typeface="微软雅黑" panose="020B0503020204020204" pitchFamily="34" charset="-122"/>
            </a:endParaRPr>
          </a:p>
        </p:txBody>
      </p:sp>
      <p:grpSp>
        <p:nvGrpSpPr>
          <p:cNvPr id="38" name="グループ化 37">
            <a:extLst>
              <a:ext uri="{FF2B5EF4-FFF2-40B4-BE49-F238E27FC236}">
                <a16:creationId xmlns:a16="http://schemas.microsoft.com/office/drawing/2014/main" id="{E058C78E-0E61-48F9-8CBB-569E7973C8FC}"/>
              </a:ext>
            </a:extLst>
          </p:cNvPr>
          <p:cNvGrpSpPr/>
          <p:nvPr/>
        </p:nvGrpSpPr>
        <p:grpSpPr>
          <a:xfrm>
            <a:off x="4018690" y="4956125"/>
            <a:ext cx="7724775" cy="1695450"/>
            <a:chOff x="4018966" y="1175051"/>
            <a:chExt cx="7724775" cy="1695450"/>
          </a:xfrm>
        </p:grpSpPr>
        <p:pic>
          <p:nvPicPr>
            <p:cNvPr id="4" name="Picture 4"/>
            <p:cNvPicPr>
              <a:picLocks noChangeAspect="1"/>
            </p:cNvPicPr>
            <p:nvPr/>
          </p:nvPicPr>
          <p:blipFill>
            <a:blip r:embed="rId4"/>
            <a:srcRect/>
            <a:stretch>
              <a:fillRect/>
            </a:stretch>
          </p:blipFill>
          <p:spPr>
            <a:xfrm>
              <a:off x="4018966" y="1175051"/>
              <a:ext cx="7724775" cy="1695450"/>
            </a:xfrm>
            <a:prstGeom prst="rect">
              <a:avLst/>
            </a:prstGeom>
            <a:noFill/>
            <a:ln w="25400" cap="flat" cmpd="sng">
              <a:noFill/>
              <a:prstDash val="solid"/>
              <a:round/>
            </a:ln>
          </p:spPr>
        </p:pic>
        <p:sp>
          <p:nvSpPr>
            <p:cNvPr id="9" name="AutoShape 9"/>
            <p:cNvSpPr/>
            <p:nvPr/>
          </p:nvSpPr>
          <p:spPr>
            <a:xfrm>
              <a:off x="5103598" y="1707496"/>
              <a:ext cx="6412026" cy="984570"/>
            </a:xfrm>
            <a:prstGeom prst="roundRect">
              <a:avLst>
                <a:gd name="adj" fmla="val 0"/>
              </a:avLst>
            </a:prstGeom>
            <a:noFill/>
            <a:ln w="12700" cap="flat" cmpd="sng">
              <a:noFill/>
              <a:prstDash val="solid"/>
              <a:round/>
            </a:ln>
          </p:spPr>
          <p:txBody>
            <a:bodyPr vert="horz" wrap="square" lIns="0" tIns="0" rIns="0" bIns="0" rtlCol="0" anchor="t">
              <a:noAutofit/>
            </a:bodyPr>
            <a:lstStyle/>
            <a:p>
              <a:pPr marL="0" indent="0" algn="just" defTabSz="914400">
                <a:lnSpc>
                  <a:spcPct val="150000"/>
                </a:lnSpc>
                <a:defRPr/>
              </a:pPr>
              <a:endParaRPr lang="en-US" sz="1100" dirty="0">
                <a:latin typeface="Microsoft YaHei" panose="020B0503020204020204" pitchFamily="34" charset="-122"/>
                <a:ea typeface="Microsoft YaHei" panose="020B0503020204020204" pitchFamily="34" charset="-122"/>
              </a:endParaRPr>
            </a:p>
          </p:txBody>
        </p:sp>
        <p:sp>
          <p:nvSpPr>
            <p:cNvPr id="10" name="AutoShape 10"/>
            <p:cNvSpPr/>
            <p:nvPr/>
          </p:nvSpPr>
          <p:spPr>
            <a:xfrm>
              <a:off x="5149296" y="1299698"/>
              <a:ext cx="5528761" cy="480976"/>
            </a:xfrm>
            <a:prstGeom prst="roundRect">
              <a:avLst>
                <a:gd name="adj" fmla="val 0"/>
              </a:avLst>
            </a:prstGeom>
            <a:noFill/>
            <a:ln w="12700" cap="flat" cmpd="sng">
              <a:noFill/>
              <a:prstDash val="solid"/>
              <a:round/>
            </a:ln>
          </p:spPr>
          <p:txBody>
            <a:bodyPr vert="horz" wrap="square" lIns="0" tIns="0" rIns="0" bIns="0" rtlCol="0" anchor="ctr">
              <a:noAutofit/>
            </a:bodyPr>
            <a:lstStyle/>
            <a:p>
              <a:pPr>
                <a:defRPr/>
              </a:pPr>
              <a:r>
                <a:rPr lang="zh-CN" altLang="en-US" sz="1800" b="1" dirty="0">
                  <a:solidFill>
                    <a:srgbClr val="0A3760"/>
                  </a:solidFill>
                  <a:effectLst>
                    <a:outerShdw blurRad="38100" dist="25400" dir="5400000" algn="ctr">
                      <a:srgbClr val="6E747A">
                        <a:alpha val="43000"/>
                      </a:srgbClr>
                    </a:outerShdw>
                  </a:effectLst>
                  <a:latin typeface="Microsoft YaHei" panose="020B0503020204020204" pitchFamily="34" charset="-122"/>
                  <a:ea typeface="Microsoft YaHei" panose="020B0503020204020204" pitchFamily="34" charset="-122"/>
                  <a:cs typeface="MiSans"/>
                  <a:sym typeface="MiSans"/>
                </a:rPr>
                <a:t>标注成本独立核算与跨尺度情景 </a:t>
              </a:r>
              <a:r>
                <a:rPr lang="en-US" altLang="zh-CN" sz="1800" b="1" dirty="0">
                  <a:solidFill>
                    <a:srgbClr val="0A3760"/>
                  </a:solidFill>
                  <a:effectLst>
                    <a:outerShdw blurRad="38100" dist="25400" dir="5400000" algn="ctr">
                      <a:srgbClr val="6E747A">
                        <a:alpha val="43000"/>
                      </a:srgbClr>
                    </a:outerShdw>
                  </a:effectLst>
                  <a:latin typeface="Microsoft YaHei" panose="020B0503020204020204" pitchFamily="34" charset="-122"/>
                  <a:ea typeface="Microsoft YaHei" panose="020B0503020204020204" pitchFamily="34" charset="-122"/>
                  <a:cs typeface="MiSans"/>
                  <a:sym typeface="MiSans"/>
                </a:rPr>
                <a:t>Pareto </a:t>
              </a:r>
              <a:r>
                <a:rPr lang="zh-CN" altLang="en-US" sz="1800" b="1" dirty="0">
                  <a:solidFill>
                    <a:srgbClr val="0A3760"/>
                  </a:solidFill>
                  <a:effectLst>
                    <a:outerShdw blurRad="38100" dist="25400" dir="5400000" algn="ctr">
                      <a:srgbClr val="6E747A">
                        <a:alpha val="43000"/>
                      </a:srgbClr>
                    </a:outerShdw>
                  </a:effectLst>
                  <a:latin typeface="Microsoft YaHei" panose="020B0503020204020204" pitchFamily="34" charset="-122"/>
                  <a:ea typeface="Microsoft YaHei" panose="020B0503020204020204" pitchFamily="34" charset="-122"/>
                  <a:cs typeface="MiSans"/>
                  <a:sym typeface="MiSans"/>
                </a:rPr>
                <a:t>选型矩阵</a:t>
              </a:r>
              <a:endParaRPr lang="en-US" sz="1100" dirty="0">
                <a:latin typeface="Microsoft YaHei" panose="020B0503020204020204" pitchFamily="34" charset="-122"/>
                <a:ea typeface="Microsoft YaHei" panose="020B0503020204020204" pitchFamily="34" charset="-122"/>
              </a:endParaRPr>
            </a:p>
          </p:txBody>
        </p:sp>
        <p:pic>
          <p:nvPicPr>
            <p:cNvPr id="14" name="Picture 14"/>
            <p:cNvPicPr>
              <a:picLocks noChangeAspect="1"/>
            </p:cNvPicPr>
            <p:nvPr/>
          </p:nvPicPr>
          <p:blipFill>
            <a:blip r:embed="rId9"/>
            <a:srcRect/>
            <a:stretch>
              <a:fillRect/>
            </a:stretch>
          </p:blipFill>
          <p:spPr>
            <a:xfrm>
              <a:off x="4239734" y="1321768"/>
              <a:ext cx="722630" cy="722630"/>
            </a:xfrm>
            <a:prstGeom prst="rect">
              <a:avLst/>
            </a:prstGeom>
            <a:noFill/>
            <a:ln w="25400" cap="flat" cmpd="sng">
              <a:noFill/>
              <a:prstDash val="solid"/>
              <a:round/>
            </a:ln>
          </p:spPr>
        </p:pic>
        <p:sp>
          <p:nvSpPr>
            <p:cNvPr id="39" name="テキスト ボックス 38">
              <a:extLst>
                <a:ext uri="{FF2B5EF4-FFF2-40B4-BE49-F238E27FC236}">
                  <a16:creationId xmlns:a16="http://schemas.microsoft.com/office/drawing/2014/main" id="{4275B96D-DAC6-4E79-A24F-E23B692EE35F}"/>
                </a:ext>
              </a:extLst>
            </p:cNvPr>
            <p:cNvSpPr txBox="1"/>
            <p:nvPr/>
          </p:nvSpPr>
          <p:spPr>
            <a:xfrm>
              <a:off x="5103598" y="1787309"/>
              <a:ext cx="6366328" cy="954107"/>
            </a:xfrm>
            <a:prstGeom prst="rect">
              <a:avLst/>
            </a:prstGeom>
            <a:noFill/>
          </p:spPr>
          <p:txBody>
            <a:bodyPr wrap="square" rtlCol="0">
              <a:spAutoFit/>
            </a:bodyPr>
            <a:lstStyle/>
            <a:p>
              <a:r>
                <a:rPr kumimoji="1" lang="zh-CN" altLang="en-US" dirty="0">
                  <a:latin typeface="Microsoft YaHei" panose="020B0503020204020204" pitchFamily="34" charset="-122"/>
                  <a:ea typeface="Microsoft YaHei" panose="020B0503020204020204" pitchFamily="34" charset="-122"/>
                </a:rPr>
                <a:t>独立核算各方案的人工工时与 </a:t>
              </a:r>
              <a:r>
                <a:rPr kumimoji="1" lang="en-US" altLang="zh-CN" dirty="0">
                  <a:latin typeface="Microsoft YaHei" panose="020B0503020204020204" pitchFamily="34" charset="-122"/>
                  <a:ea typeface="Microsoft YaHei" panose="020B0503020204020204" pitchFamily="34" charset="-122"/>
                </a:rPr>
                <a:t>GPU </a:t>
              </a:r>
              <a:r>
                <a:rPr kumimoji="1" lang="zh-CN" altLang="en-US" dirty="0">
                  <a:latin typeface="Microsoft YaHei" panose="020B0503020204020204" pitchFamily="34" charset="-122"/>
                  <a:ea typeface="Microsoft YaHei" panose="020B0503020204020204" pitchFamily="34" charset="-122"/>
                </a:rPr>
                <a:t>机时，在 </a:t>
              </a:r>
              <a:r>
                <a:rPr kumimoji="1" lang="en-US" altLang="zh-CN" dirty="0">
                  <a:latin typeface="Microsoft YaHei" panose="020B0503020204020204" pitchFamily="34" charset="-122"/>
                  <a:ea typeface="Microsoft YaHei" panose="020B0503020204020204" pitchFamily="34" charset="-122"/>
                </a:rPr>
                <a:t>1k</a:t>
              </a:r>
              <a:r>
                <a:rPr kumimoji="1" lang="zh-CN" altLang="en-US" dirty="0">
                  <a:latin typeface="Microsoft YaHei" panose="020B0503020204020204" pitchFamily="34" charset="-122"/>
                  <a:ea typeface="Microsoft YaHei" panose="020B0503020204020204" pitchFamily="34" charset="-122"/>
                </a:rPr>
                <a:t>、</a:t>
              </a:r>
              <a:r>
                <a:rPr kumimoji="1" lang="en-US" altLang="zh-CN" dirty="0">
                  <a:latin typeface="Microsoft YaHei" panose="020B0503020204020204" pitchFamily="34" charset="-122"/>
                  <a:ea typeface="Microsoft YaHei" panose="020B0503020204020204" pitchFamily="34" charset="-122"/>
                </a:rPr>
                <a:t>10k</a:t>
              </a:r>
              <a:r>
                <a:rPr kumimoji="1" lang="zh-CN" altLang="en-US" dirty="0">
                  <a:latin typeface="Microsoft YaHei" panose="020B0503020204020204" pitchFamily="34" charset="-122"/>
                  <a:ea typeface="Microsoft YaHei" panose="020B0503020204020204" pitchFamily="34" charset="-122"/>
                </a:rPr>
                <a:t>、</a:t>
              </a:r>
              <a:r>
                <a:rPr kumimoji="1" lang="en-US" altLang="zh-CN" dirty="0">
                  <a:latin typeface="Microsoft YaHei" panose="020B0503020204020204" pitchFamily="34" charset="-122"/>
                  <a:ea typeface="Microsoft YaHei" panose="020B0503020204020204" pitchFamily="34" charset="-122"/>
                </a:rPr>
                <a:t>100k </a:t>
              </a:r>
              <a:r>
                <a:rPr kumimoji="1" lang="zh-CN" altLang="en-US" dirty="0">
                  <a:latin typeface="Microsoft YaHei" panose="020B0503020204020204" pitchFamily="34" charset="-122"/>
                  <a:ea typeface="Microsoft YaHei" panose="020B0503020204020204" pitchFamily="34" charset="-122"/>
                </a:rPr>
                <a:t>规模下量化对比成本与交付周期的演变规律；综合下游检测效用与质量资源约束，引入 </a:t>
              </a:r>
              <a:r>
                <a:rPr kumimoji="1" lang="en-US" altLang="zh-CN" dirty="0">
                  <a:latin typeface="Microsoft YaHei" panose="020B0503020204020204" pitchFamily="34" charset="-122"/>
                  <a:ea typeface="Microsoft YaHei" panose="020B0503020204020204" pitchFamily="34" charset="-122"/>
                </a:rPr>
                <a:t>Pareto </a:t>
              </a:r>
              <a:r>
                <a:rPr kumimoji="1" lang="zh-CN" altLang="en-US" dirty="0">
                  <a:latin typeface="Microsoft YaHei" panose="020B0503020204020204" pitchFamily="34" charset="-122"/>
                  <a:ea typeface="Microsoft YaHei" panose="020B0503020204020204" pitchFamily="34" charset="-122"/>
                </a:rPr>
                <a:t>非支配比较给出跨尺度场景的流程选型矩阵。与只做技术指标对比不同</a:t>
              </a:r>
              <a:r>
                <a:rPr kumimoji="1" lang="en-US" altLang="zh-C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明确什么规模、什么约束下选人工 </a:t>
              </a:r>
              <a:r>
                <a:rPr kumimoji="1" lang="en-US" altLang="zh-CN" dirty="0">
                  <a:latin typeface="Microsoft YaHei" panose="020B0503020204020204" pitchFamily="34" charset="-122"/>
                  <a:ea typeface="Microsoft YaHei" panose="020B0503020204020204" pitchFamily="34" charset="-122"/>
                </a:rPr>
                <a:t>/ V1 / </a:t>
              </a:r>
              <a:r>
                <a:rPr kumimoji="1" lang="zh-CN" altLang="en-US" dirty="0">
                  <a:latin typeface="Microsoft YaHei" panose="020B0503020204020204" pitchFamily="34" charset="-122"/>
                  <a:ea typeface="Microsoft YaHei" panose="020B0503020204020204" pitchFamily="34" charset="-122"/>
                </a:rPr>
                <a:t>级联。</a:t>
              </a:r>
              <a:endParaRPr kumimoji="1" lang="ja-JP" altLang="en-US" dirty="0">
                <a:latin typeface="Microsoft YaHei" panose="020B0503020204020204" pitchFamily="34" charset="-122"/>
                <a:ea typeface="Microsoft YaHei" panose="020B0503020204020204" pitchFamily="34" charset="-122"/>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32080"/>
            <a:ext cx="6223159" cy="627304"/>
          </a:xfrm>
          <a:custGeom>
            <a:avLst/>
            <a:gdLst/>
            <a:ahLst/>
            <a:cxnLst/>
            <a:rect l="l" t="t" r="r" b="b"/>
            <a:pathLst>
              <a:path w="4054475" h="617220">
                <a:moveTo>
                  <a:pt x="436625" y="0"/>
                </a:moveTo>
                <a:lnTo>
                  <a:pt x="436631" y="0"/>
                </a:lnTo>
                <a:lnTo>
                  <a:pt x="3599329" y="0"/>
                </a:lnTo>
                <a:lnTo>
                  <a:pt x="3599329" y="1321"/>
                </a:lnTo>
                <a:lnTo>
                  <a:pt x="3617850" y="0"/>
                </a:lnTo>
                <a:cubicBezTo>
                  <a:pt x="3858992" y="0"/>
                  <a:pt x="4054475" y="138170"/>
                  <a:pt x="4054475" y="308610"/>
                </a:cubicBezTo>
                <a:cubicBezTo>
                  <a:pt x="4054475" y="479050"/>
                  <a:pt x="3858992" y="617220"/>
                  <a:pt x="3617850" y="617220"/>
                </a:cubicBezTo>
                <a:lnTo>
                  <a:pt x="3599329" y="615900"/>
                </a:lnTo>
                <a:lnTo>
                  <a:pt x="3599329" y="617220"/>
                </a:lnTo>
                <a:lnTo>
                  <a:pt x="436625" y="617220"/>
                </a:lnTo>
                <a:cubicBezTo>
                  <a:pt x="195483" y="617220"/>
                  <a:pt x="0" y="479050"/>
                  <a:pt x="0" y="308610"/>
                </a:cubicBezTo>
                <a:cubicBezTo>
                  <a:pt x="0" y="138170"/>
                  <a:pt x="195483" y="0"/>
                  <a:pt x="436625"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oAutofit/>
          </a:bodyPr>
          <a:lstStyle/>
          <a:p>
            <a:pPr marL="0" indent="0" algn="just" defTabSz="914400">
              <a:lnSpc>
                <a:spcPct val="100000"/>
              </a:lnSpc>
              <a:defRPr/>
            </a:pPr>
            <a:r>
              <a:rPr lang="en-US" sz="1800" b="0" i="0" u="none" strike="noStrike">
                <a:solidFill>
                  <a:srgbClr val="000000"/>
                </a:solidFill>
                <a:latin typeface="等线"/>
                <a:ea typeface="等线"/>
                <a:cs typeface="等线"/>
                <a:sym typeface="等线"/>
              </a:rPr>
              <a:t> </a:t>
            </a:r>
            <a:endParaRPr lang="en-US" sz="1100"/>
          </a:p>
        </p:txBody>
      </p:sp>
      <p:pic>
        <p:nvPicPr>
          <p:cNvPr id="3" name="Picture 3"/>
          <p:cNvPicPr>
            <a:picLocks noChangeAspect="1"/>
          </p:cNvPicPr>
          <p:nvPr/>
        </p:nvPicPr>
        <p:blipFill>
          <a:blip r:embed="rId3"/>
          <a:srcRect/>
          <a:stretch>
            <a:fillRect/>
          </a:stretch>
        </p:blipFill>
        <p:spPr>
          <a:xfrm>
            <a:off x="163195" y="132080"/>
            <a:ext cx="617855" cy="617855"/>
          </a:xfrm>
          <a:prstGeom prst="rect">
            <a:avLst/>
          </a:prstGeom>
          <a:ln w="12700" cap="flat" cmpd="sng">
            <a:noFill/>
            <a:prstDash val="solid"/>
            <a:round/>
          </a:ln>
        </p:spPr>
      </p:pic>
      <p:sp>
        <p:nvSpPr>
          <p:cNvPr id="4" name="AutoShape 4"/>
          <p:cNvSpPr/>
          <p:nvPr/>
        </p:nvSpPr>
        <p:spPr>
          <a:xfrm>
            <a:off x="781050" y="245745"/>
            <a:ext cx="5985510" cy="82994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zh-CN" altLang="en-US" sz="2400" b="1" i="0" u="none" strike="noStrike" dirty="0">
                <a:solidFill>
                  <a:srgbClr val="FFFFFF"/>
                </a:solidFill>
                <a:latin typeface="微软雅黑"/>
                <a:ea typeface="微软雅黑"/>
                <a:cs typeface="微软雅黑"/>
                <a:sym typeface="微软雅黑"/>
              </a:rPr>
              <a:t>弱监督异构大模型级联伪标签生成管线</a:t>
            </a:r>
          </a:p>
          <a:p>
            <a:pPr marL="0" indent="0" algn="just" defTabSz="914400">
              <a:lnSpc>
                <a:spcPct val="100000"/>
              </a:lnSpc>
              <a:defRPr/>
            </a:pPr>
            <a:endParaRPr lang="en-US" sz="1100" dirty="0"/>
          </a:p>
          <a:p>
            <a:pPr marL="0" indent="0" algn="just" defTabSz="914400">
              <a:lnSpc>
                <a:spcPct val="100000"/>
              </a:lnSpc>
            </a:pPr>
            <a:r>
              <a:rPr lang="en-US" sz="1100" b="0" i="0" u="none" strike="noStrike" dirty="0">
                <a:solidFill>
                  <a:srgbClr val="000000"/>
                </a:solidFill>
                <a:latin typeface="等线"/>
                <a:ea typeface="等线"/>
                <a:cs typeface="等线"/>
                <a:sym typeface="等线"/>
              </a:rPr>
              <a:t> </a:t>
            </a:r>
          </a:p>
        </p:txBody>
      </p:sp>
      <p:sp>
        <p:nvSpPr>
          <p:cNvPr id="5" name="AutoShape 5"/>
          <p:cNvSpPr/>
          <p:nvPr/>
        </p:nvSpPr>
        <p:spPr>
          <a:xfrm>
            <a:off x="635000" y="3048000"/>
            <a:ext cx="2032000" cy="1016000"/>
          </a:xfrm>
          <a:prstGeom prst="roundRect">
            <a:avLst>
              <a:gd name="adj" fmla="val 25000"/>
            </a:avLst>
          </a:prstGeom>
          <a:solidFill>
            <a:srgbClr val="FFFFFF">
              <a:alpha val="100000"/>
            </a:srgbClr>
          </a:solidFill>
          <a:ln w="25400" cap="flat" cmpd="sng">
            <a:solidFill>
              <a:srgbClr val="0A3760">
                <a:alpha val="100000"/>
              </a:srgbClr>
            </a:solidFill>
            <a:prstDash val="solid"/>
            <a:miter lim="1000000"/>
          </a:ln>
        </p:spPr>
        <p:txBody>
          <a:bodyPr vert="horz" wrap="square" lIns="91440" tIns="45720" rIns="91440" bIns="45720" rtlCol="0" anchor="ctr">
            <a:noAutofit/>
          </a:bodyPr>
          <a:lstStyle/>
          <a:p>
            <a:pPr marL="0" indent="0" algn="ctr" defTabSz="914400">
              <a:lnSpc>
                <a:spcPct val="108333"/>
              </a:lnSpc>
              <a:defRPr/>
            </a:pPr>
            <a:r>
              <a:rPr lang="en-US" sz="1600" b="1" i="0" u="none" strike="noStrike">
                <a:solidFill>
                  <a:srgbClr val="0A3760"/>
                </a:solidFill>
                <a:latin typeface="微软雅黑"/>
                <a:ea typeface="微软雅黑"/>
                <a:cs typeface="微软雅黑"/>
                <a:sym typeface="微软雅黑"/>
              </a:rPr>
              <a:t>输入火烟图像</a:t>
            </a:r>
            <a:endParaRPr lang="en-US" sz="1100"/>
          </a:p>
        </p:txBody>
      </p:sp>
      <p:cxnSp>
        <p:nvCxnSpPr>
          <p:cNvPr id="6" name="Connector 6"/>
          <p:cNvCxnSpPr/>
          <p:nvPr/>
        </p:nvCxnSpPr>
        <p:spPr>
          <a:xfrm rot="-85923">
            <a:off x="2730579" y="3549650"/>
            <a:ext cx="508000" cy="12700"/>
          </a:xfrm>
          <a:prstGeom prst="line">
            <a:avLst/>
          </a:prstGeom>
          <a:solidFill>
            <a:srgbClr val="DEE0E3">
              <a:alpha val="100000"/>
            </a:srgbClr>
          </a:solidFill>
          <a:ln w="25400" cap="rnd" cmpd="sng">
            <a:solidFill>
              <a:srgbClr val="0A3760">
                <a:alpha val="100000"/>
              </a:srgbClr>
            </a:solidFill>
            <a:prstDash val="solid"/>
            <a:round/>
            <a:headEnd type="none" w="lg" len="lg"/>
            <a:tailEnd type="none" w="med" len="med"/>
          </a:ln>
        </p:spPr>
      </p:cxnSp>
      <p:sp>
        <p:nvSpPr>
          <p:cNvPr id="7" name="AutoShape 7"/>
          <p:cNvSpPr/>
          <p:nvPr/>
        </p:nvSpPr>
        <p:spPr>
          <a:xfrm>
            <a:off x="3302000" y="3048000"/>
            <a:ext cx="2349500" cy="1016000"/>
          </a:xfrm>
          <a:prstGeom prst="roundRect">
            <a:avLst>
              <a:gd name="adj" fmla="val 25000"/>
            </a:avLst>
          </a:prstGeom>
          <a:solidFill>
            <a:srgbClr val="0A3760">
              <a:alpha val="100000"/>
            </a:srgbClr>
          </a:solidFill>
          <a:ln w="12700" cap="flat" cmpd="sng">
            <a:noFill/>
            <a:prstDash val="solid"/>
            <a:round/>
          </a:ln>
        </p:spPr>
        <p:txBody>
          <a:bodyPr vert="horz" wrap="square" lIns="91440" tIns="45720" rIns="91440" bIns="45720" rtlCol="0" anchor="ctr">
            <a:noAutofit/>
          </a:bodyPr>
          <a:lstStyle/>
          <a:p>
            <a:pPr marL="0" indent="0" algn="ctr" defTabSz="914400">
              <a:lnSpc>
                <a:spcPct val="108333"/>
              </a:lnSpc>
              <a:defRPr/>
            </a:pPr>
            <a:r>
              <a:rPr lang="en-US" sz="1500" b="1" i="0" u="none" strike="noStrike" dirty="0">
                <a:solidFill>
                  <a:srgbClr val="FFFFFF"/>
                </a:solidFill>
                <a:latin typeface="微软雅黑"/>
                <a:ea typeface="微软雅黑"/>
                <a:cs typeface="微软雅黑"/>
                <a:sym typeface="微软雅黑"/>
              </a:rPr>
              <a:t>Grounding DINO</a:t>
            </a:r>
            <a:endParaRPr lang="en-US" sz="1100" dirty="0"/>
          </a:p>
          <a:p>
            <a:pPr marL="0" indent="0" algn="ctr" defTabSz="914400">
              <a:lnSpc>
                <a:spcPct val="108333"/>
              </a:lnSpc>
            </a:pPr>
            <a:r>
              <a:rPr lang="en-US" sz="1300" b="0" i="0" u="none" strike="noStrike" dirty="0" err="1">
                <a:solidFill>
                  <a:srgbClr val="FFFFFF"/>
                </a:solidFill>
                <a:latin typeface="微软雅黑"/>
                <a:ea typeface="微软雅黑"/>
                <a:cs typeface="微软雅黑"/>
                <a:sym typeface="微软雅黑"/>
              </a:rPr>
              <a:t>批量生成</a:t>
            </a:r>
            <a:r>
              <a:rPr lang="en-US" sz="1300" b="0" i="0" u="none" strike="noStrike" dirty="0">
                <a:solidFill>
                  <a:srgbClr val="FFFFFF"/>
                </a:solidFill>
                <a:latin typeface="微软雅黑"/>
                <a:ea typeface="微软雅黑"/>
                <a:cs typeface="微软雅黑"/>
                <a:sym typeface="微软雅黑"/>
              </a:rPr>
              <a:t> V1 </a:t>
            </a:r>
            <a:r>
              <a:rPr lang="en-US" sz="1300" b="0" i="0" u="none" strike="noStrike" dirty="0" err="1">
                <a:solidFill>
                  <a:srgbClr val="FFFFFF"/>
                </a:solidFill>
                <a:latin typeface="微软雅黑"/>
                <a:ea typeface="微软雅黑"/>
                <a:cs typeface="微软雅黑"/>
                <a:sym typeface="微软雅黑"/>
              </a:rPr>
              <a:t>伪标签</a:t>
            </a:r>
            <a:endParaRPr lang="en-US" sz="1300" b="0" i="0" u="none" strike="noStrike" dirty="0">
              <a:solidFill>
                <a:srgbClr val="FFFFFF"/>
              </a:solidFill>
              <a:latin typeface="微软雅黑"/>
              <a:ea typeface="微软雅黑"/>
              <a:cs typeface="微软雅黑"/>
              <a:sym typeface="微软雅黑"/>
            </a:endParaRPr>
          </a:p>
        </p:txBody>
      </p:sp>
      <p:cxnSp>
        <p:nvCxnSpPr>
          <p:cNvPr id="8" name="Connector 8"/>
          <p:cNvCxnSpPr/>
          <p:nvPr/>
        </p:nvCxnSpPr>
        <p:spPr>
          <a:xfrm rot="-85923">
            <a:off x="5715079" y="3549650"/>
            <a:ext cx="508000" cy="12700"/>
          </a:xfrm>
          <a:prstGeom prst="line">
            <a:avLst/>
          </a:prstGeom>
          <a:solidFill>
            <a:srgbClr val="DEE0E3">
              <a:alpha val="100000"/>
            </a:srgbClr>
          </a:solidFill>
          <a:ln w="25400" cap="rnd" cmpd="sng">
            <a:solidFill>
              <a:srgbClr val="0A3760">
                <a:alpha val="100000"/>
              </a:srgbClr>
            </a:solidFill>
            <a:prstDash val="solid"/>
            <a:round/>
            <a:headEnd type="none" w="lg" len="lg"/>
            <a:tailEnd type="none" w="med" len="med"/>
          </a:ln>
        </p:spPr>
      </p:cxnSp>
      <p:sp>
        <p:nvSpPr>
          <p:cNvPr id="9" name="AutoShape 9"/>
          <p:cNvSpPr/>
          <p:nvPr/>
        </p:nvSpPr>
        <p:spPr>
          <a:xfrm>
            <a:off x="6286500" y="2984500"/>
            <a:ext cx="2667000" cy="1143000"/>
          </a:xfrm>
          <a:prstGeom prst="roundRect">
            <a:avLst>
              <a:gd name="adj" fmla="val 22220"/>
            </a:avLst>
          </a:prstGeom>
          <a:solidFill>
            <a:srgbClr val="FFFFFF">
              <a:alpha val="100000"/>
            </a:srgbClr>
          </a:solidFill>
          <a:ln w="25400" cap="flat" cmpd="sng">
            <a:solidFill>
              <a:srgbClr val="0A3760">
                <a:alpha val="100000"/>
              </a:srgbClr>
            </a:solidFill>
            <a:prstDash val="solid"/>
            <a:miter lim="1000000"/>
          </a:ln>
        </p:spPr>
        <p:txBody>
          <a:bodyPr vert="horz" wrap="square" lIns="91440" tIns="45720" rIns="91440" bIns="45720" rtlCol="0" anchor="ctr">
            <a:noAutofit/>
          </a:bodyPr>
          <a:lstStyle/>
          <a:p>
            <a:pPr marL="0" indent="0" algn="ctr" defTabSz="914400">
              <a:lnSpc>
                <a:spcPct val="108333"/>
              </a:lnSpc>
              <a:defRPr/>
            </a:pPr>
            <a:r>
              <a:rPr lang="en-US" sz="1500" b="1" i="0" u="none" strike="noStrike" dirty="0">
                <a:solidFill>
                  <a:srgbClr val="0A3760"/>
                </a:solidFill>
                <a:latin typeface="微软雅黑"/>
                <a:ea typeface="微软雅黑"/>
                <a:cs typeface="微软雅黑"/>
                <a:sym typeface="微软雅黑"/>
              </a:rPr>
              <a:t>SAM3 </a:t>
            </a:r>
            <a:r>
              <a:rPr lang="en-US" sz="1500" b="1" i="0" u="none" strike="noStrike" dirty="0" err="1">
                <a:solidFill>
                  <a:srgbClr val="0A3760"/>
                </a:solidFill>
                <a:latin typeface="微软雅黑"/>
                <a:ea typeface="微软雅黑"/>
                <a:cs typeface="微软雅黑"/>
                <a:sym typeface="微软雅黑"/>
              </a:rPr>
              <a:t>后置处理</a:t>
            </a:r>
            <a:endParaRPr lang="en-US" sz="1100" dirty="0"/>
          </a:p>
          <a:p>
            <a:pPr marL="0" indent="0" algn="ctr" defTabSz="914400">
              <a:lnSpc>
                <a:spcPct val="108333"/>
              </a:lnSpc>
            </a:pPr>
            <a:r>
              <a:rPr lang="en-US" sz="1200" b="0" i="0" u="none" strike="noStrike" dirty="0">
                <a:solidFill>
                  <a:srgbClr val="000000"/>
                </a:solidFill>
                <a:latin typeface="微软雅黑"/>
                <a:ea typeface="微软雅黑"/>
                <a:cs typeface="微软雅黑"/>
                <a:sym typeface="微软雅黑"/>
              </a:rPr>
              <a:t>Verifier </a:t>
            </a:r>
            <a:r>
              <a:rPr lang="en-US" sz="1200" b="0" i="0" u="none" strike="noStrike" dirty="0" err="1">
                <a:solidFill>
                  <a:srgbClr val="000000"/>
                </a:solidFill>
                <a:latin typeface="微软雅黑"/>
                <a:ea typeface="微软雅黑"/>
                <a:cs typeface="微软雅黑"/>
                <a:sym typeface="微软雅黑"/>
              </a:rPr>
              <a:t>审核</a:t>
            </a:r>
            <a:r>
              <a:rPr lang="en-US" sz="1200" b="0" i="0" u="none" strike="noStrike" dirty="0">
                <a:solidFill>
                  <a:srgbClr val="000000"/>
                </a:solidFill>
                <a:latin typeface="微软雅黑"/>
                <a:ea typeface="微软雅黑"/>
                <a:cs typeface="微软雅黑"/>
                <a:sym typeface="微软雅黑"/>
              </a:rPr>
              <a:t> / Append </a:t>
            </a:r>
            <a:r>
              <a:rPr lang="en-US" sz="1200" b="0" i="0" u="none" strike="noStrike" dirty="0" err="1">
                <a:solidFill>
                  <a:srgbClr val="000000"/>
                </a:solidFill>
                <a:latin typeface="微软雅黑"/>
                <a:ea typeface="微软雅黑"/>
                <a:cs typeface="微软雅黑"/>
                <a:sym typeface="微软雅黑"/>
              </a:rPr>
              <a:t>补漏</a:t>
            </a:r>
            <a:endParaRPr lang="en-US" sz="1200" b="0" i="0" u="none" strike="noStrike" dirty="0">
              <a:solidFill>
                <a:srgbClr val="000000"/>
              </a:solidFill>
              <a:latin typeface="微软雅黑"/>
              <a:ea typeface="微软雅黑"/>
              <a:cs typeface="微软雅黑"/>
              <a:sym typeface="微软雅黑"/>
            </a:endParaRPr>
          </a:p>
          <a:p>
            <a:pPr marL="0" indent="0" algn="ctr" defTabSz="914400">
              <a:lnSpc>
                <a:spcPct val="108333"/>
              </a:lnSpc>
            </a:pPr>
            <a:r>
              <a:rPr lang="en-US" sz="1200" b="0" i="0" u="none" strike="noStrike" dirty="0">
                <a:solidFill>
                  <a:srgbClr val="000000"/>
                </a:solidFill>
                <a:latin typeface="微软雅黑"/>
                <a:ea typeface="微软雅黑"/>
                <a:cs typeface="微软雅黑"/>
                <a:sym typeface="微软雅黑"/>
              </a:rPr>
              <a:t>Refiner </a:t>
            </a:r>
            <a:r>
              <a:rPr lang="en-US" sz="1200" b="0" i="0" u="none" strike="noStrike" dirty="0" err="1">
                <a:solidFill>
                  <a:srgbClr val="000000"/>
                </a:solidFill>
                <a:latin typeface="微软雅黑"/>
                <a:ea typeface="微软雅黑"/>
                <a:cs typeface="微软雅黑"/>
                <a:sym typeface="微软雅黑"/>
              </a:rPr>
              <a:t>调框（权限</a:t>
            </a:r>
            <a:r>
              <a:rPr lang="zh-CN" altLang="en-US" sz="1200" b="0" i="0" u="none" strike="noStrike" dirty="0">
                <a:solidFill>
                  <a:srgbClr val="000000"/>
                </a:solidFill>
                <a:latin typeface="微软雅黑"/>
                <a:ea typeface="微软雅黑"/>
                <a:cs typeface="微软雅黑"/>
                <a:sym typeface="微软雅黑"/>
              </a:rPr>
              <a:t>隔离</a:t>
            </a:r>
            <a:r>
              <a:rPr lang="en-US" sz="1200" b="0" i="0" u="none" strike="noStrike" dirty="0">
                <a:solidFill>
                  <a:srgbClr val="000000"/>
                </a:solidFill>
                <a:latin typeface="微软雅黑"/>
                <a:ea typeface="微软雅黑"/>
                <a:cs typeface="微软雅黑"/>
                <a:sym typeface="微软雅黑"/>
              </a:rPr>
              <a:t>）</a:t>
            </a:r>
          </a:p>
        </p:txBody>
      </p:sp>
      <p:cxnSp>
        <p:nvCxnSpPr>
          <p:cNvPr id="10" name="Connector 10"/>
          <p:cNvCxnSpPr/>
          <p:nvPr/>
        </p:nvCxnSpPr>
        <p:spPr>
          <a:xfrm rot="-85923">
            <a:off x="9017079" y="3549650"/>
            <a:ext cx="508000" cy="12700"/>
          </a:xfrm>
          <a:prstGeom prst="line">
            <a:avLst/>
          </a:prstGeom>
          <a:solidFill>
            <a:srgbClr val="DEE0E3">
              <a:alpha val="100000"/>
            </a:srgbClr>
          </a:solidFill>
          <a:ln w="25400" cap="rnd" cmpd="sng">
            <a:solidFill>
              <a:srgbClr val="0A3760">
                <a:alpha val="100000"/>
              </a:srgbClr>
            </a:solidFill>
            <a:prstDash val="solid"/>
            <a:round/>
            <a:headEnd type="none" w="lg" len="lg"/>
            <a:tailEnd type="none" w="med" len="med"/>
          </a:ln>
        </p:spPr>
      </p:cxnSp>
      <p:sp>
        <p:nvSpPr>
          <p:cNvPr id="11" name="AutoShape 11"/>
          <p:cNvSpPr/>
          <p:nvPr/>
        </p:nvSpPr>
        <p:spPr>
          <a:xfrm>
            <a:off x="9588500" y="3048000"/>
            <a:ext cx="2095500" cy="1016000"/>
          </a:xfrm>
          <a:prstGeom prst="roundRect">
            <a:avLst>
              <a:gd name="adj" fmla="val 25000"/>
            </a:avLst>
          </a:prstGeom>
          <a:solidFill>
            <a:srgbClr val="0A3760">
              <a:alpha val="100000"/>
            </a:srgbClr>
          </a:solidFill>
          <a:ln w="12700" cap="flat" cmpd="sng">
            <a:noFill/>
            <a:prstDash val="solid"/>
            <a:round/>
          </a:ln>
        </p:spPr>
        <p:txBody>
          <a:bodyPr vert="horz" wrap="square" lIns="91440" tIns="45720" rIns="91440" bIns="45720" rtlCol="0" anchor="ctr">
            <a:noAutofit/>
          </a:bodyPr>
          <a:lstStyle/>
          <a:p>
            <a:pPr marL="0" indent="0" algn="ctr" defTabSz="914400">
              <a:lnSpc>
                <a:spcPct val="108333"/>
              </a:lnSpc>
              <a:defRPr/>
            </a:pPr>
            <a:r>
              <a:rPr lang="en-US" sz="1500" b="1" i="0" u="none" strike="noStrike">
                <a:solidFill>
                  <a:srgbClr val="FFFFFF"/>
                </a:solidFill>
                <a:latin typeface="微软雅黑"/>
                <a:ea typeface="微软雅黑"/>
                <a:cs typeface="微软雅黑"/>
                <a:sym typeface="微软雅黑"/>
              </a:rPr>
              <a:t>YOLO 训练验证</a:t>
            </a:r>
            <a:endParaRPr lang="en-US" sz="1100"/>
          </a:p>
          <a:p>
            <a:pPr marL="0" indent="0" algn="ctr" defTabSz="914400">
              <a:lnSpc>
                <a:spcPct val="108333"/>
              </a:lnSpc>
            </a:pPr>
            <a:r>
              <a:rPr lang="en-US" sz="1200" b="0" i="0" u="none" strike="noStrike">
                <a:solidFill>
                  <a:srgbClr val="FFFFFF"/>
                </a:solidFill>
                <a:latin typeface="微软雅黑"/>
                <a:ea typeface="微软雅黑"/>
                <a:cs typeface="微软雅黑"/>
                <a:sym typeface="微软雅黑"/>
              </a:rPr>
              <a:t>下游效用裁判</a:t>
            </a:r>
          </a:p>
        </p:txBody>
      </p:sp>
      <p:sp>
        <p:nvSpPr>
          <p:cNvPr id="12" name="AutoShape 12"/>
          <p:cNvSpPr/>
          <p:nvPr/>
        </p:nvSpPr>
        <p:spPr>
          <a:xfrm>
            <a:off x="781050" y="5463616"/>
            <a:ext cx="10414000" cy="635000"/>
          </a:xfrm>
          <a:prstGeom prst="roundRect">
            <a:avLst>
              <a:gd name="adj" fmla="val 0"/>
            </a:avLst>
          </a:prstGeom>
          <a:noFill/>
          <a:ln w="12700" cap="flat" cmpd="sng">
            <a:noFill/>
            <a:prstDash val="solid"/>
            <a:round/>
          </a:ln>
        </p:spPr>
        <p:txBody>
          <a:bodyPr vert="horz" wrap="square" lIns="91440" tIns="45720" rIns="91440" bIns="45720" rtlCol="0" anchor="ctr">
            <a:noAutofit/>
          </a:bodyPr>
          <a:lstStyle/>
          <a:p>
            <a:pPr marL="0" indent="0" algn="ctr" defTabSz="914400">
              <a:lnSpc>
                <a:spcPct val="108333"/>
              </a:lnSpc>
              <a:defRPr/>
            </a:pPr>
            <a:r>
              <a:rPr lang="en-US" sz="1400" b="0" i="0" u="none" strike="noStrike" dirty="0" err="1">
                <a:solidFill>
                  <a:srgbClr val="000000"/>
                </a:solidFill>
                <a:latin typeface="微软雅黑"/>
                <a:ea typeface="微软雅黑"/>
                <a:cs typeface="微软雅黑"/>
                <a:sym typeface="微软雅黑"/>
              </a:rPr>
              <a:t>权限隔离：后置节点不默认覆盖</a:t>
            </a:r>
            <a:r>
              <a:rPr lang="en-US" sz="1400" b="0" i="0" u="none" strike="noStrike" dirty="0">
                <a:solidFill>
                  <a:srgbClr val="000000"/>
                </a:solidFill>
                <a:latin typeface="微软雅黑"/>
                <a:ea typeface="微软雅黑"/>
                <a:cs typeface="微软雅黑"/>
                <a:sym typeface="微软雅黑"/>
              </a:rPr>
              <a:t> V1；Stage-Gate 按 Go / Hold / Stop </a:t>
            </a:r>
            <a:r>
              <a:rPr lang="en-US" sz="1400" b="0" i="0" u="none" strike="noStrike" dirty="0" err="1">
                <a:solidFill>
                  <a:srgbClr val="000000"/>
                </a:solidFill>
                <a:latin typeface="微软雅黑"/>
                <a:ea typeface="微软雅黑"/>
                <a:cs typeface="微软雅黑"/>
                <a:sym typeface="微软雅黑"/>
              </a:rPr>
              <a:t>决定各分支去留</a:t>
            </a:r>
            <a:r>
              <a:rPr lang="en-US" sz="1400" b="0" i="0" u="none" strike="noStrike" dirty="0">
                <a:solidFill>
                  <a:srgbClr val="000000"/>
                </a:solidFill>
                <a:latin typeface="微软雅黑"/>
                <a:ea typeface="微软雅黑"/>
                <a:cs typeface="微软雅黑"/>
                <a:sym typeface="微软雅黑"/>
              </a:rPr>
              <a:t>。</a:t>
            </a:r>
            <a:endParaRPr lang="en-US" sz="1100" dirty="0"/>
          </a:p>
        </p:txBody>
      </p:sp>
      <p:sp>
        <p:nvSpPr>
          <p:cNvPr id="13" name="AutoShape 7">
            <a:extLst>
              <a:ext uri="{FF2B5EF4-FFF2-40B4-BE49-F238E27FC236}">
                <a16:creationId xmlns:a16="http://schemas.microsoft.com/office/drawing/2014/main" id="{34C1F2EC-1C48-465C-AF79-C20568439708}"/>
              </a:ext>
            </a:extLst>
          </p:cNvPr>
          <p:cNvSpPr/>
          <p:nvPr/>
        </p:nvSpPr>
        <p:spPr>
          <a:xfrm>
            <a:off x="3365499" y="1710395"/>
            <a:ext cx="1484407" cy="692146"/>
          </a:xfrm>
          <a:prstGeom prst="roundRect">
            <a:avLst>
              <a:gd name="adj" fmla="val 25000"/>
            </a:avLst>
          </a:prstGeom>
          <a:ln>
            <a:solidFill>
              <a:srgbClr val="0A3760"/>
            </a:solidFill>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rtlCol="0" anchor="ctr">
            <a:noAutofit/>
          </a:bodyPr>
          <a:lstStyle/>
          <a:p>
            <a:pPr algn="ctr">
              <a:lnSpc>
                <a:spcPct val="108333"/>
              </a:lnSpc>
              <a:defRPr/>
            </a:pPr>
            <a:r>
              <a:rPr lang="zh-CN" altLang="en-US" sz="1100" b="1" dirty="0">
                <a:solidFill>
                  <a:srgbClr val="0A3760"/>
                </a:solidFill>
                <a:latin typeface="微软雅黑"/>
                <a:ea typeface="微软雅黑"/>
                <a:cs typeface="微软雅黑"/>
                <a:sym typeface="微软雅黑"/>
              </a:rPr>
              <a:t>低预算语义提示基准确立算法</a:t>
            </a:r>
            <a:endParaRPr lang="en-US" sz="1050" b="0" i="0" u="none" strike="noStrike" dirty="0">
              <a:solidFill>
                <a:srgbClr val="0A3760"/>
              </a:solidFill>
              <a:latin typeface="微软雅黑"/>
              <a:ea typeface="微软雅黑"/>
              <a:cs typeface="微软雅黑"/>
              <a:sym typeface="微软雅黑"/>
            </a:endParaRPr>
          </a:p>
        </p:txBody>
      </p:sp>
      <p:cxnSp>
        <p:nvCxnSpPr>
          <p:cNvPr id="15" name="コネクタ: 曲線 14">
            <a:extLst>
              <a:ext uri="{FF2B5EF4-FFF2-40B4-BE49-F238E27FC236}">
                <a16:creationId xmlns:a16="http://schemas.microsoft.com/office/drawing/2014/main" id="{EC1261BB-81E6-467A-B381-BF57ECB1DCDA}"/>
              </a:ext>
            </a:extLst>
          </p:cNvPr>
          <p:cNvCxnSpPr>
            <a:stCxn id="13" idx="2"/>
            <a:endCxn id="7" idx="0"/>
          </p:cNvCxnSpPr>
          <p:nvPr/>
        </p:nvCxnSpPr>
        <p:spPr>
          <a:xfrm rot="16200000" flipH="1">
            <a:off x="3969497" y="2540746"/>
            <a:ext cx="645459" cy="369047"/>
          </a:xfrm>
          <a:prstGeom prst="curvedConnector3">
            <a:avLst/>
          </a:prstGeom>
          <a:ln>
            <a:solidFill>
              <a:srgbClr val="0A3760"/>
            </a:solidFill>
            <a:tailEnd type="triangle"/>
          </a:ln>
        </p:spPr>
        <p:style>
          <a:lnRef idx="1">
            <a:schemeClr val="accent1"/>
          </a:lnRef>
          <a:fillRef idx="0">
            <a:schemeClr val="accent1"/>
          </a:fillRef>
          <a:effectRef idx="0">
            <a:schemeClr val="accent1"/>
          </a:effectRef>
          <a:fontRef idx="minor">
            <a:schemeClr val="tx1"/>
          </a:fontRef>
        </p:style>
      </p:cxnSp>
      <p:sp>
        <p:nvSpPr>
          <p:cNvPr id="16" name="AutoShape 7">
            <a:extLst>
              <a:ext uri="{FF2B5EF4-FFF2-40B4-BE49-F238E27FC236}">
                <a16:creationId xmlns:a16="http://schemas.microsoft.com/office/drawing/2014/main" id="{050AE8C8-779D-4649-8EE8-288E189B3D8F}"/>
              </a:ext>
            </a:extLst>
          </p:cNvPr>
          <p:cNvSpPr/>
          <p:nvPr/>
        </p:nvSpPr>
        <p:spPr>
          <a:xfrm>
            <a:off x="9588500" y="1710395"/>
            <a:ext cx="1484407" cy="692146"/>
          </a:xfrm>
          <a:prstGeom prst="roundRect">
            <a:avLst>
              <a:gd name="adj" fmla="val 25000"/>
            </a:avLst>
          </a:prstGeom>
          <a:ln>
            <a:solidFill>
              <a:srgbClr val="0A3760"/>
            </a:solidFill>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rtlCol="0" anchor="ctr">
            <a:noAutofit/>
          </a:bodyPr>
          <a:lstStyle/>
          <a:p>
            <a:pPr algn="ctr">
              <a:lnSpc>
                <a:spcPct val="108333"/>
              </a:lnSpc>
              <a:defRPr/>
            </a:pPr>
            <a:r>
              <a:rPr lang="zh-CN" altLang="en-US" sz="1100" b="1" dirty="0">
                <a:solidFill>
                  <a:srgbClr val="0A3760"/>
                </a:solidFill>
                <a:latin typeface="微软雅黑"/>
                <a:ea typeface="微软雅黑"/>
                <a:cs typeface="微软雅黑"/>
                <a:sym typeface="微软雅黑"/>
              </a:rPr>
              <a:t>边界风格敏感性审计与冲突仲裁算法</a:t>
            </a:r>
            <a:endParaRPr lang="en-US" sz="1050" b="0" i="0" u="none" strike="noStrike" dirty="0">
              <a:solidFill>
                <a:srgbClr val="0A3760"/>
              </a:solidFill>
              <a:latin typeface="微软雅黑"/>
              <a:ea typeface="微软雅黑"/>
              <a:cs typeface="微软雅黑"/>
              <a:sym typeface="微软雅黑"/>
            </a:endParaRPr>
          </a:p>
        </p:txBody>
      </p:sp>
      <p:cxnSp>
        <p:nvCxnSpPr>
          <p:cNvPr id="17" name="コネクタ: 曲線 16">
            <a:extLst>
              <a:ext uri="{FF2B5EF4-FFF2-40B4-BE49-F238E27FC236}">
                <a16:creationId xmlns:a16="http://schemas.microsoft.com/office/drawing/2014/main" id="{BA448727-E1DF-4045-9629-A7CE2A5D71F0}"/>
              </a:ext>
            </a:extLst>
          </p:cNvPr>
          <p:cNvCxnSpPr>
            <a:cxnSpLocks/>
            <a:stCxn id="21" idx="0"/>
            <a:endCxn id="9" idx="2"/>
          </p:cNvCxnSpPr>
          <p:nvPr/>
        </p:nvCxnSpPr>
        <p:spPr>
          <a:xfrm rot="16200000" flipV="1">
            <a:off x="7505513" y="4241988"/>
            <a:ext cx="321985" cy="93010"/>
          </a:xfrm>
          <a:prstGeom prst="curvedConnector3">
            <a:avLst>
              <a:gd name="adj1" fmla="val 50000"/>
            </a:avLst>
          </a:prstGeom>
          <a:ln>
            <a:solidFill>
              <a:srgbClr val="0A3760"/>
            </a:solidFill>
            <a:tailEnd type="triangle"/>
          </a:ln>
        </p:spPr>
        <p:style>
          <a:lnRef idx="1">
            <a:schemeClr val="accent1"/>
          </a:lnRef>
          <a:fillRef idx="0">
            <a:schemeClr val="accent1"/>
          </a:fillRef>
          <a:effectRef idx="0">
            <a:schemeClr val="accent1"/>
          </a:effectRef>
          <a:fontRef idx="minor">
            <a:schemeClr val="tx1"/>
          </a:fontRef>
        </p:style>
      </p:cxnSp>
      <p:sp>
        <p:nvSpPr>
          <p:cNvPr id="21" name="AutoShape 7">
            <a:extLst>
              <a:ext uri="{FF2B5EF4-FFF2-40B4-BE49-F238E27FC236}">
                <a16:creationId xmlns:a16="http://schemas.microsoft.com/office/drawing/2014/main" id="{E68834AE-94D8-4A45-A1F4-058224F11B72}"/>
              </a:ext>
            </a:extLst>
          </p:cNvPr>
          <p:cNvSpPr/>
          <p:nvPr/>
        </p:nvSpPr>
        <p:spPr>
          <a:xfrm>
            <a:off x="6970806" y="4449485"/>
            <a:ext cx="1484407" cy="692146"/>
          </a:xfrm>
          <a:prstGeom prst="roundRect">
            <a:avLst>
              <a:gd name="adj" fmla="val 25000"/>
            </a:avLst>
          </a:prstGeom>
          <a:ln>
            <a:solidFill>
              <a:srgbClr val="0A3760"/>
            </a:solidFill>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rtlCol="0" anchor="ctr">
            <a:noAutofit/>
          </a:bodyPr>
          <a:lstStyle/>
          <a:p>
            <a:pPr algn="ctr">
              <a:lnSpc>
                <a:spcPct val="108333"/>
              </a:lnSpc>
              <a:defRPr/>
            </a:pPr>
            <a:r>
              <a:rPr lang="zh-CN" altLang="en-US" sz="1100" b="1" dirty="0">
                <a:solidFill>
                  <a:srgbClr val="0A3760"/>
                </a:solidFill>
                <a:latin typeface="微软雅黑"/>
                <a:ea typeface="微软雅黑"/>
                <a:cs typeface="微软雅黑"/>
                <a:sym typeface="微软雅黑"/>
              </a:rPr>
              <a:t> 针对火的</a:t>
            </a:r>
            <a:r>
              <a:rPr lang="en-US" altLang="zh-CN" sz="1100" b="1" dirty="0" err="1">
                <a:solidFill>
                  <a:srgbClr val="0A3760"/>
                </a:solidFill>
                <a:latin typeface="微软雅黑"/>
                <a:ea typeface="微软雅黑"/>
                <a:cs typeface="微软雅黑"/>
                <a:sym typeface="微软雅黑"/>
              </a:rPr>
              <a:t>IoF</a:t>
            </a:r>
            <a:r>
              <a:rPr lang="en-US" altLang="zh-CN" sz="1100" b="1" dirty="0">
                <a:solidFill>
                  <a:srgbClr val="0A3760"/>
                </a:solidFill>
                <a:latin typeface="微软雅黑"/>
                <a:ea typeface="微软雅黑"/>
                <a:cs typeface="微软雅黑"/>
                <a:sym typeface="微软雅黑"/>
              </a:rPr>
              <a:t> </a:t>
            </a:r>
            <a:r>
              <a:rPr lang="zh-CN" altLang="en-US" sz="1100" b="1" dirty="0">
                <a:solidFill>
                  <a:srgbClr val="0A3760"/>
                </a:solidFill>
                <a:latin typeface="微软雅黑"/>
                <a:ea typeface="微软雅黑"/>
                <a:cs typeface="微软雅黑"/>
                <a:sym typeface="微软雅黑"/>
              </a:rPr>
              <a:t>包含率过滤与保守验证策略算法</a:t>
            </a:r>
            <a:endParaRPr lang="en-US" sz="1050" b="0" i="0" u="none" strike="noStrike" dirty="0">
              <a:solidFill>
                <a:srgbClr val="0A3760"/>
              </a:solidFill>
              <a:latin typeface="微软雅黑"/>
              <a:ea typeface="微软雅黑"/>
              <a:cs typeface="微软雅黑"/>
              <a:sym typeface="微软雅黑"/>
            </a:endParaRPr>
          </a:p>
        </p:txBody>
      </p:sp>
      <p:cxnSp>
        <p:nvCxnSpPr>
          <p:cNvPr id="22" name="コネクタ: 曲線 21">
            <a:extLst>
              <a:ext uri="{FF2B5EF4-FFF2-40B4-BE49-F238E27FC236}">
                <a16:creationId xmlns:a16="http://schemas.microsoft.com/office/drawing/2014/main" id="{980A9EBC-C9BF-435A-9451-9B3D454D955F}"/>
              </a:ext>
            </a:extLst>
          </p:cNvPr>
          <p:cNvCxnSpPr>
            <a:cxnSpLocks/>
            <a:stCxn id="16" idx="2"/>
            <a:endCxn id="11" idx="0"/>
          </p:cNvCxnSpPr>
          <p:nvPr/>
        </p:nvCxnSpPr>
        <p:spPr>
          <a:xfrm rot="16200000" flipH="1">
            <a:off x="10160748" y="2572497"/>
            <a:ext cx="645459" cy="305546"/>
          </a:xfrm>
          <a:prstGeom prst="curvedConnector3">
            <a:avLst/>
          </a:prstGeom>
          <a:ln>
            <a:solidFill>
              <a:srgbClr val="0A376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四角形: 角を丸くする 5">
            <a:extLst>
              <a:ext uri="{FF2B5EF4-FFF2-40B4-BE49-F238E27FC236}">
                <a16:creationId xmlns:a16="http://schemas.microsoft.com/office/drawing/2014/main" id="{23C0E232-3C3F-4BAF-9BCC-ECC0BB94B263}"/>
              </a:ext>
            </a:extLst>
          </p:cNvPr>
          <p:cNvSpPr/>
          <p:nvPr/>
        </p:nvSpPr>
        <p:spPr>
          <a:xfrm>
            <a:off x="6446518" y="862965"/>
            <a:ext cx="4373884" cy="5918835"/>
          </a:xfrm>
          <a:prstGeom prst="roundRect">
            <a:avLst/>
          </a:prstGeom>
          <a:solidFill>
            <a:srgbClr val="D6DCE5">
              <a:alpha val="5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Freeform 2"/>
          <p:cNvSpPr/>
          <p:nvPr/>
        </p:nvSpPr>
        <p:spPr>
          <a:xfrm>
            <a:off x="0" y="132080"/>
            <a:ext cx="4805680" cy="600000"/>
          </a:xfrm>
          <a:custGeom>
            <a:avLst/>
            <a:gdLst/>
            <a:ahLst/>
            <a:cxnLst/>
            <a:rect l="l" t="t" r="r" b="b"/>
            <a:pathLst>
              <a:path w="4054475" h="617220">
                <a:moveTo>
                  <a:pt x="436625" y="0"/>
                </a:moveTo>
                <a:lnTo>
                  <a:pt x="436631" y="0"/>
                </a:lnTo>
                <a:lnTo>
                  <a:pt x="3599329" y="0"/>
                </a:lnTo>
                <a:lnTo>
                  <a:pt x="3599329" y="1321"/>
                </a:lnTo>
                <a:lnTo>
                  <a:pt x="3617850" y="0"/>
                </a:lnTo>
                <a:cubicBezTo>
                  <a:pt x="3858992" y="0"/>
                  <a:pt x="4054475" y="138170"/>
                  <a:pt x="4054475" y="308610"/>
                </a:cubicBezTo>
                <a:cubicBezTo>
                  <a:pt x="4054475" y="479050"/>
                  <a:pt x="3858992" y="617220"/>
                  <a:pt x="3617850" y="617220"/>
                </a:cubicBezTo>
                <a:lnTo>
                  <a:pt x="3599329" y="615900"/>
                </a:lnTo>
                <a:lnTo>
                  <a:pt x="3599329" y="617220"/>
                </a:lnTo>
                <a:lnTo>
                  <a:pt x="436625" y="617220"/>
                </a:lnTo>
                <a:cubicBezTo>
                  <a:pt x="195483" y="617220"/>
                  <a:pt x="0" y="479050"/>
                  <a:pt x="0" y="308610"/>
                </a:cubicBezTo>
                <a:cubicBezTo>
                  <a:pt x="0" y="138170"/>
                  <a:pt x="195483" y="0"/>
                  <a:pt x="436625"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oAutofit/>
          </a:bodyPr>
          <a:lstStyle/>
          <a:p>
            <a:pPr marL="0" indent="0" algn="just" defTabSz="914400">
              <a:lnSpc>
                <a:spcPct val="100000"/>
              </a:lnSpc>
              <a:defRPr/>
            </a:pPr>
            <a:r>
              <a:rPr lang="en-US" sz="1800" b="0" i="0" u="none" strike="noStrike">
                <a:solidFill>
                  <a:srgbClr val="000000"/>
                </a:solidFill>
                <a:latin typeface="等线"/>
                <a:ea typeface="等线"/>
                <a:cs typeface="等线"/>
                <a:sym typeface="等线"/>
              </a:rPr>
              <a:t> </a:t>
            </a:r>
            <a:endParaRPr lang="en-US" sz="1100"/>
          </a:p>
        </p:txBody>
      </p:sp>
      <p:pic>
        <p:nvPicPr>
          <p:cNvPr id="3" name="Picture 3"/>
          <p:cNvPicPr>
            <a:picLocks noChangeAspect="1"/>
          </p:cNvPicPr>
          <p:nvPr/>
        </p:nvPicPr>
        <p:blipFill>
          <a:blip r:embed="rId3"/>
          <a:srcRect/>
          <a:stretch>
            <a:fillRect/>
          </a:stretch>
        </p:blipFill>
        <p:spPr>
          <a:xfrm>
            <a:off x="163195" y="132080"/>
            <a:ext cx="617855" cy="617855"/>
          </a:xfrm>
          <a:prstGeom prst="rect">
            <a:avLst/>
          </a:prstGeom>
          <a:ln w="12700" cap="flat" cmpd="sng">
            <a:noFill/>
            <a:prstDash val="solid"/>
            <a:round/>
          </a:ln>
        </p:spPr>
      </p:pic>
      <p:sp>
        <p:nvSpPr>
          <p:cNvPr id="4" name="AutoShape 4"/>
          <p:cNvSpPr/>
          <p:nvPr/>
        </p:nvSpPr>
        <p:spPr>
          <a:xfrm>
            <a:off x="781050" y="245745"/>
            <a:ext cx="3858895" cy="82994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zh-CN" altLang="en-US" sz="2400" b="1" dirty="0">
                <a:solidFill>
                  <a:srgbClr val="FFFFFF"/>
                </a:solidFill>
                <a:latin typeface="微软雅黑"/>
                <a:ea typeface="微软雅黑"/>
                <a:cs typeface="微软雅黑"/>
                <a:sym typeface="微软雅黑"/>
              </a:rPr>
              <a:t>低预算提示冻结与噪声审计</a:t>
            </a:r>
          </a:p>
          <a:p>
            <a:pPr marL="0" indent="0" algn="just" defTabSz="914400">
              <a:lnSpc>
                <a:spcPct val="100000"/>
              </a:lnSpc>
            </a:pPr>
            <a:endParaRPr lang="en-US" sz="1100" b="0" i="0" u="none" strike="noStrike" dirty="0">
              <a:solidFill>
                <a:srgbClr val="000000"/>
              </a:solidFill>
              <a:latin typeface="等线"/>
              <a:ea typeface="等线"/>
              <a:cs typeface="等线"/>
              <a:sym typeface="等线"/>
            </a:endParaRPr>
          </a:p>
        </p:txBody>
      </p:sp>
      <p:pic>
        <p:nvPicPr>
          <p:cNvPr id="17" name="図 16">
            <a:extLst>
              <a:ext uri="{FF2B5EF4-FFF2-40B4-BE49-F238E27FC236}">
                <a16:creationId xmlns:a16="http://schemas.microsoft.com/office/drawing/2014/main" id="{541E2B9A-D3DC-4260-A9BB-CB902E667FDB}"/>
              </a:ext>
            </a:extLst>
          </p:cNvPr>
          <p:cNvPicPr>
            <a:picLocks noChangeAspect="1"/>
          </p:cNvPicPr>
          <p:nvPr/>
        </p:nvPicPr>
        <p:blipFill>
          <a:blip r:embed="rId4"/>
          <a:stretch>
            <a:fillRect/>
          </a:stretch>
        </p:blipFill>
        <p:spPr>
          <a:xfrm>
            <a:off x="640228" y="1206575"/>
            <a:ext cx="5485354" cy="5651425"/>
          </a:xfrm>
          <a:prstGeom prst="rect">
            <a:avLst/>
          </a:prstGeom>
        </p:spPr>
      </p:pic>
      <p:sp>
        <p:nvSpPr>
          <p:cNvPr id="18" name="AutoShape 7">
            <a:extLst>
              <a:ext uri="{FF2B5EF4-FFF2-40B4-BE49-F238E27FC236}">
                <a16:creationId xmlns:a16="http://schemas.microsoft.com/office/drawing/2014/main" id="{6BC5392E-3024-4832-A7B2-ED140CD68A7E}"/>
              </a:ext>
            </a:extLst>
          </p:cNvPr>
          <p:cNvSpPr/>
          <p:nvPr/>
        </p:nvSpPr>
        <p:spPr>
          <a:xfrm>
            <a:off x="640228" y="862965"/>
            <a:ext cx="5455772" cy="343610"/>
          </a:xfrm>
          <a:prstGeom prst="roundRect">
            <a:avLst>
              <a:gd name="adj" fmla="val 25000"/>
            </a:avLst>
          </a:prstGeom>
          <a:ln>
            <a:solidFill>
              <a:srgbClr val="0A3760"/>
            </a:solidFill>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rtlCol="0" anchor="ctr">
            <a:noAutofit/>
          </a:bodyPr>
          <a:lstStyle/>
          <a:p>
            <a:pPr algn="ctr">
              <a:lnSpc>
                <a:spcPct val="108333"/>
              </a:lnSpc>
              <a:defRPr/>
            </a:pPr>
            <a:r>
              <a:rPr lang="zh-CN" altLang="en-US" b="1" dirty="0">
                <a:solidFill>
                  <a:srgbClr val="0A3760"/>
                </a:solidFill>
                <a:latin typeface="微软雅黑"/>
                <a:ea typeface="微软雅黑"/>
                <a:cs typeface="微软雅黑"/>
                <a:sym typeface="微软雅黑"/>
              </a:rPr>
              <a:t>低预算语义提示基准确立算法</a:t>
            </a:r>
            <a:endParaRPr lang="en-US" b="0" i="0" u="none" strike="noStrike" dirty="0">
              <a:solidFill>
                <a:srgbClr val="0A3760"/>
              </a:solidFill>
              <a:latin typeface="微软雅黑"/>
              <a:ea typeface="微软雅黑"/>
              <a:cs typeface="微软雅黑"/>
              <a:sym typeface="微软雅黑"/>
            </a:endParaRPr>
          </a:p>
        </p:txBody>
      </p:sp>
      <p:sp>
        <p:nvSpPr>
          <p:cNvPr id="5" name="テキスト ボックス 4">
            <a:extLst>
              <a:ext uri="{FF2B5EF4-FFF2-40B4-BE49-F238E27FC236}">
                <a16:creationId xmlns:a16="http://schemas.microsoft.com/office/drawing/2014/main" id="{AC16E56C-8D49-4DF7-B725-90C8FDB9CF1E}"/>
              </a:ext>
            </a:extLst>
          </p:cNvPr>
          <p:cNvSpPr txBox="1"/>
          <p:nvPr/>
        </p:nvSpPr>
        <p:spPr>
          <a:xfrm>
            <a:off x="6446518" y="990943"/>
            <a:ext cx="2478405" cy="993477"/>
          </a:xfrm>
          <a:prstGeom prst="rect">
            <a:avLst/>
          </a:prstGeom>
          <a:noFill/>
        </p:spPr>
        <p:txBody>
          <a:bodyPr wrap="square" rtlCol="0">
            <a:spAutoFit/>
          </a:bodyPr>
          <a:lstStyle/>
          <a:p>
            <a:endParaRPr kumimoji="1" lang="zh-CN" altLang="en-US" sz="1100" dirty="0">
              <a:latin typeface="Microsoft YaHei" panose="020B0503020204020204" pitchFamily="34" charset="-122"/>
              <a:ea typeface="Microsoft YaHei" panose="020B0503020204020204" pitchFamily="34" charset="-122"/>
            </a:endParaRPr>
          </a:p>
          <a:p>
            <a:pPr>
              <a:lnSpc>
                <a:spcPct val="150000"/>
              </a:lnSpc>
            </a:pPr>
            <a:r>
              <a:rPr kumimoji="1" lang="zh-CN" altLang="en-US" sz="1100" b="1" dirty="0">
                <a:solidFill>
                  <a:srgbClr val="0A3760"/>
                </a:solidFill>
                <a:latin typeface="Microsoft YaHei" panose="020B0503020204020204" pitchFamily="34" charset="-122"/>
                <a:ea typeface="Microsoft YaHei" panose="020B0503020204020204" pitchFamily="34" charset="-122"/>
              </a:rPr>
              <a:t>■ 参数空间初始化</a:t>
            </a:r>
            <a:endParaRPr kumimoji="1" lang="en-US" altLang="zh-CN" sz="1100" b="1" dirty="0">
              <a:solidFill>
                <a:srgbClr val="0A3760"/>
              </a:solidFill>
              <a:latin typeface="Microsoft YaHei" panose="020B0503020204020204" pitchFamily="34" charset="-122"/>
              <a:ea typeface="Microsoft YaHei" panose="020B0503020204020204" pitchFamily="34" charset="-122"/>
            </a:endParaRPr>
          </a:p>
          <a:p>
            <a:pPr>
              <a:lnSpc>
                <a:spcPct val="150000"/>
              </a:lnSpc>
            </a:pPr>
            <a:r>
              <a:rPr kumimoji="1" lang="zh-CN" altLang="en-US" sz="1100" dirty="0">
                <a:solidFill>
                  <a:srgbClr val="0A3760"/>
                </a:solidFill>
                <a:latin typeface="Microsoft YaHei" panose="020B0503020204020204" pitchFamily="34" charset="-122"/>
                <a:ea typeface="Microsoft YaHei" panose="020B0503020204020204" pitchFamily="34" charset="-122"/>
              </a:rPr>
              <a:t>构建包含语义多样化描述的候选集 </a:t>
            </a:r>
            <a:r>
              <a:rPr kumimoji="1" lang="en-US" altLang="zh-CN" sz="1100" dirty="0">
                <a:solidFill>
                  <a:srgbClr val="0A3760"/>
                </a:solidFill>
                <a:latin typeface="Microsoft YaHei" panose="020B0503020204020204" pitchFamily="34" charset="-122"/>
                <a:ea typeface="Microsoft YaHei" panose="020B0503020204020204" pitchFamily="34" charset="-122"/>
              </a:rPr>
              <a:t>P </a:t>
            </a:r>
            <a:r>
              <a:rPr kumimoji="1" lang="zh-CN" altLang="en-US" sz="1100" dirty="0">
                <a:solidFill>
                  <a:srgbClr val="0A3760"/>
                </a:solidFill>
                <a:latin typeface="Microsoft YaHei" panose="020B0503020204020204" pitchFamily="34" charset="-122"/>
                <a:ea typeface="Microsoft YaHei" panose="020B0503020204020204" pitchFamily="34" charset="-122"/>
              </a:rPr>
              <a:t>与连续阈值空间 </a:t>
            </a:r>
            <a:r>
              <a:rPr kumimoji="1" lang="en-US" altLang="zh-CN" sz="1100" dirty="0">
                <a:solidFill>
                  <a:srgbClr val="0A3760"/>
                </a:solidFill>
                <a:latin typeface="Microsoft YaHei" panose="020B0503020204020204" pitchFamily="34" charset="-122"/>
                <a:ea typeface="Microsoft YaHei" panose="020B0503020204020204" pitchFamily="34" charset="-122"/>
              </a:rPr>
              <a:t>T</a:t>
            </a:r>
            <a:r>
              <a:rPr kumimoji="1" lang="zh-CN" altLang="en-US" sz="1100" dirty="0">
                <a:solidFill>
                  <a:srgbClr val="0A3760"/>
                </a:solidFill>
                <a:latin typeface="Microsoft YaHei" panose="020B0503020204020204" pitchFamily="34" charset="-122"/>
                <a:ea typeface="Microsoft YaHei" panose="020B0503020204020204" pitchFamily="34" charset="-122"/>
              </a:rPr>
              <a:t>。</a:t>
            </a:r>
          </a:p>
        </p:txBody>
      </p:sp>
      <p:sp>
        <p:nvSpPr>
          <p:cNvPr id="10" name="テキスト ボックス 9">
            <a:extLst>
              <a:ext uri="{FF2B5EF4-FFF2-40B4-BE49-F238E27FC236}">
                <a16:creationId xmlns:a16="http://schemas.microsoft.com/office/drawing/2014/main" id="{26BFA1CE-72C0-4990-9907-6E3A7D90ADAA}"/>
              </a:ext>
            </a:extLst>
          </p:cNvPr>
          <p:cNvSpPr txBox="1"/>
          <p:nvPr/>
        </p:nvSpPr>
        <p:spPr>
          <a:xfrm>
            <a:off x="6446518" y="2520196"/>
            <a:ext cx="4497706" cy="1332031"/>
          </a:xfrm>
          <a:prstGeom prst="rect">
            <a:avLst/>
          </a:prstGeom>
          <a:noFill/>
        </p:spPr>
        <p:txBody>
          <a:bodyPr wrap="square" rtlCol="0">
            <a:spAutoFit/>
          </a:bodyPr>
          <a:lstStyle/>
          <a:p>
            <a:pPr>
              <a:lnSpc>
                <a:spcPct val="150000"/>
              </a:lnSpc>
            </a:pPr>
            <a:r>
              <a:rPr kumimoji="1" lang="zh-CN" altLang="en-US" sz="1100" b="1" dirty="0">
                <a:solidFill>
                  <a:srgbClr val="0A3760"/>
                </a:solidFill>
                <a:latin typeface="Microsoft YaHei" panose="020B0503020204020204" pitchFamily="34" charset="-122"/>
                <a:ea typeface="Microsoft YaHei" panose="020B0503020204020204" pitchFamily="34" charset="-122"/>
              </a:rPr>
              <a:t>■ 多维度统计评估 </a:t>
            </a:r>
            <a:r>
              <a:rPr kumimoji="1" lang="zh-CN" altLang="en-US" sz="1100" dirty="0">
                <a:solidFill>
                  <a:srgbClr val="0A3760"/>
                </a:solidFill>
                <a:latin typeface="Microsoft YaHei" panose="020B0503020204020204" pitchFamily="34" charset="-122"/>
                <a:ea typeface="Microsoft YaHei" panose="020B0503020204020204" pitchFamily="34" charset="-122"/>
              </a:rPr>
              <a:t> </a:t>
            </a:r>
            <a:endParaRPr kumimoji="1" lang="en-US" altLang="zh-CN" sz="1100" dirty="0">
              <a:solidFill>
                <a:srgbClr val="0A3760"/>
              </a:solidFill>
              <a:latin typeface="Microsoft YaHei" panose="020B0503020204020204" pitchFamily="34" charset="-122"/>
              <a:ea typeface="Microsoft YaHei" panose="020B0503020204020204" pitchFamily="34" charset="-122"/>
            </a:endParaRPr>
          </a:p>
          <a:p>
            <a:pPr>
              <a:lnSpc>
                <a:spcPct val="150000"/>
              </a:lnSpc>
            </a:pPr>
            <a:r>
              <a:rPr kumimoji="1" lang="zh-CN" altLang="en-US" sz="1100" dirty="0">
                <a:solidFill>
                  <a:srgbClr val="0A3760"/>
                </a:solidFill>
                <a:latin typeface="Microsoft YaHei" panose="020B0503020204020204" pitchFamily="34" charset="-122"/>
                <a:ea typeface="Microsoft YaHei" panose="020B0503020204020204" pitchFamily="34" charset="-122"/>
              </a:rPr>
              <a:t>为了全面量化检测性能，构建了一个包含检测精度（</a:t>
            </a:r>
            <a:r>
              <a:rPr kumimoji="1" lang="en-US" altLang="zh-CN" sz="1100" dirty="0" err="1">
                <a:solidFill>
                  <a:srgbClr val="0A3760"/>
                </a:solidFill>
                <a:latin typeface="Microsoft YaHei" panose="020B0503020204020204" pitchFamily="34" charset="-122"/>
                <a:ea typeface="Microsoft YaHei" panose="020B0503020204020204" pitchFamily="34" charset="-122"/>
              </a:rPr>
              <a:t>mAP</a:t>
            </a:r>
            <a:r>
              <a:rPr kumimoji="1" lang="zh-CN" altLang="en-US" sz="1100" dirty="0">
                <a:solidFill>
                  <a:srgbClr val="0A3760"/>
                </a:solidFill>
                <a:latin typeface="Microsoft YaHei" panose="020B0503020204020204" pitchFamily="34" charset="-122"/>
                <a:ea typeface="Microsoft YaHei" panose="020B0503020204020204" pitchFamily="34" charset="-122"/>
              </a:rPr>
              <a:t>）、定位质量（</a:t>
            </a:r>
            <a:r>
              <a:rPr kumimoji="1" lang="en-US" altLang="zh-CN" sz="1100" dirty="0" err="1">
                <a:solidFill>
                  <a:srgbClr val="0A3760"/>
                </a:solidFill>
                <a:latin typeface="Microsoft YaHei" panose="020B0503020204020204" pitchFamily="34" charset="-122"/>
                <a:ea typeface="Microsoft YaHei" panose="020B0503020204020204" pitchFamily="34" charset="-122"/>
              </a:rPr>
              <a:t>IoU</a:t>
            </a:r>
            <a:r>
              <a:rPr kumimoji="1" lang="zh-CN" altLang="en-US" sz="1100" dirty="0">
                <a:solidFill>
                  <a:srgbClr val="0A3760"/>
                </a:solidFill>
                <a:latin typeface="Microsoft YaHei" panose="020B0503020204020204" pitchFamily="34" charset="-122"/>
                <a:ea typeface="Microsoft YaHei" panose="020B0503020204020204" pitchFamily="34" charset="-122"/>
              </a:rPr>
              <a:t>）与检测均衡性（</a:t>
            </a:r>
            <a:r>
              <a:rPr kumimoji="1" lang="en-US" altLang="zh-CN" sz="1100" dirty="0">
                <a:solidFill>
                  <a:srgbClr val="0A3760"/>
                </a:solidFill>
                <a:latin typeface="Microsoft YaHei" panose="020B0503020204020204" pitchFamily="34" charset="-122"/>
                <a:ea typeface="Microsoft YaHei" panose="020B0503020204020204" pitchFamily="34" charset="-122"/>
              </a:rPr>
              <a:t>F1-score</a:t>
            </a:r>
            <a:r>
              <a:rPr kumimoji="1" lang="zh-CN" altLang="en-US" sz="1100" dirty="0">
                <a:solidFill>
                  <a:srgbClr val="0A3760"/>
                </a:solidFill>
                <a:latin typeface="Microsoft YaHei" panose="020B0503020204020204" pitchFamily="34" charset="-122"/>
                <a:ea typeface="Microsoft YaHei" panose="020B0503020204020204" pitchFamily="34" charset="-122"/>
              </a:rPr>
              <a:t>）的多维度指标空间。此外，为了量化评估的不确定性，利用 </a:t>
            </a:r>
            <a:r>
              <a:rPr kumimoji="1" lang="en-US" altLang="zh-CN" sz="1100" dirty="0">
                <a:solidFill>
                  <a:srgbClr val="0A3760"/>
                </a:solidFill>
                <a:latin typeface="Microsoft YaHei" panose="020B0503020204020204" pitchFamily="34" charset="-122"/>
                <a:ea typeface="Microsoft YaHei" panose="020B0503020204020204" pitchFamily="34" charset="-122"/>
              </a:rPr>
              <a:t>Bootstrap </a:t>
            </a:r>
            <a:r>
              <a:rPr kumimoji="1" lang="zh-CN" altLang="en-US" sz="1100" dirty="0">
                <a:solidFill>
                  <a:srgbClr val="0A3760"/>
                </a:solidFill>
                <a:latin typeface="Microsoft YaHei" panose="020B0503020204020204" pitchFamily="34" charset="-122"/>
                <a:ea typeface="Microsoft YaHei" panose="020B0503020204020204" pitchFamily="34" charset="-122"/>
              </a:rPr>
              <a:t>重采样法 对指标分布进行建模，从而获得具有置信度保证的性能度量。</a:t>
            </a:r>
          </a:p>
        </p:txBody>
      </p:sp>
      <p:sp>
        <p:nvSpPr>
          <p:cNvPr id="11" name="テキスト ボックス 10">
            <a:extLst>
              <a:ext uri="{FF2B5EF4-FFF2-40B4-BE49-F238E27FC236}">
                <a16:creationId xmlns:a16="http://schemas.microsoft.com/office/drawing/2014/main" id="{EBCBAEB0-F147-437E-AFF2-9C7E6F6EA32E}"/>
              </a:ext>
            </a:extLst>
          </p:cNvPr>
          <p:cNvSpPr txBox="1"/>
          <p:nvPr/>
        </p:nvSpPr>
        <p:spPr>
          <a:xfrm>
            <a:off x="6446520" y="4251230"/>
            <a:ext cx="4431030" cy="1585947"/>
          </a:xfrm>
          <a:prstGeom prst="rect">
            <a:avLst/>
          </a:prstGeom>
          <a:noFill/>
        </p:spPr>
        <p:txBody>
          <a:bodyPr wrap="square" rtlCol="0">
            <a:spAutoFit/>
          </a:bodyPr>
          <a:lstStyle/>
          <a:p>
            <a:pPr>
              <a:lnSpc>
                <a:spcPct val="150000"/>
              </a:lnSpc>
            </a:pPr>
            <a:r>
              <a:rPr kumimoji="1" lang="zh-CN" altLang="en-US" sz="1100" b="1" dirty="0">
                <a:solidFill>
                  <a:srgbClr val="0A3760"/>
                </a:solidFill>
                <a:latin typeface="Microsoft YaHei" panose="020B0503020204020204" pitchFamily="34" charset="-122"/>
                <a:ea typeface="Microsoft YaHei" panose="020B0503020204020204" pitchFamily="34" charset="-122"/>
              </a:rPr>
              <a:t>■ 层级化决策机制</a:t>
            </a:r>
            <a:endParaRPr kumimoji="1" lang="en-US" altLang="zh-CN" sz="1100" b="1" dirty="0">
              <a:solidFill>
                <a:srgbClr val="0A3760"/>
              </a:solidFill>
              <a:latin typeface="Microsoft YaHei" panose="020B0503020204020204" pitchFamily="34" charset="-122"/>
              <a:ea typeface="Microsoft YaHei" panose="020B0503020204020204" pitchFamily="34" charset="-122"/>
            </a:endParaRPr>
          </a:p>
          <a:p>
            <a:pPr>
              <a:lnSpc>
                <a:spcPct val="150000"/>
              </a:lnSpc>
            </a:pPr>
            <a:r>
              <a:rPr kumimoji="1" lang="zh-CN" altLang="en-US" sz="1100" dirty="0">
                <a:solidFill>
                  <a:srgbClr val="0A3760"/>
                </a:solidFill>
                <a:latin typeface="Microsoft YaHei" panose="020B0503020204020204" pitchFamily="34" charset="-122"/>
                <a:ea typeface="Microsoft YaHei" panose="020B0503020204020204" pitchFamily="34" charset="-122"/>
              </a:rPr>
              <a:t>针对检测任务中“检测召回”与“定位精度”的权衡问题，我们设计了一种级联优先级策略。决策逻辑优先优化全局检测精度（</a:t>
            </a:r>
            <a:r>
              <a:rPr kumimoji="1" lang="en-US" altLang="zh-CN" sz="1100" dirty="0" err="1">
                <a:solidFill>
                  <a:srgbClr val="0A3760"/>
                </a:solidFill>
                <a:latin typeface="Microsoft YaHei" panose="020B0503020204020204" pitchFamily="34" charset="-122"/>
                <a:ea typeface="Microsoft YaHei" panose="020B0503020204020204" pitchFamily="34" charset="-122"/>
              </a:rPr>
              <a:t>mAP</a:t>
            </a:r>
            <a:r>
              <a:rPr kumimoji="1" lang="zh-CN" altLang="en-US" sz="1100" dirty="0">
                <a:solidFill>
                  <a:srgbClr val="0A3760"/>
                </a:solidFill>
                <a:latin typeface="Microsoft YaHei" panose="020B0503020204020204" pitchFamily="34" charset="-122"/>
                <a:ea typeface="Microsoft YaHei" panose="020B0503020204020204" pitchFamily="34" charset="-122"/>
              </a:rPr>
              <a:t>），并在同等精度水平下，通过 </a:t>
            </a:r>
            <a:r>
              <a:rPr kumimoji="1" lang="en-US" altLang="zh-CN" sz="1100" dirty="0">
                <a:solidFill>
                  <a:srgbClr val="0A3760"/>
                </a:solidFill>
                <a:latin typeface="Microsoft YaHei" panose="020B0503020204020204" pitchFamily="34" charset="-122"/>
                <a:ea typeface="Microsoft YaHei" panose="020B0503020204020204" pitchFamily="34" charset="-122"/>
              </a:rPr>
              <a:t>AP75</a:t>
            </a:r>
            <a:r>
              <a:rPr kumimoji="1" lang="zh-CN" altLang="en-US" sz="1100" dirty="0">
                <a:solidFill>
                  <a:srgbClr val="0A3760"/>
                </a:solidFill>
                <a:latin typeface="Microsoft YaHei" panose="020B0503020204020204" pitchFamily="34" charset="-122"/>
                <a:ea typeface="Microsoft YaHei" panose="020B0503020204020204" pitchFamily="34" charset="-122"/>
              </a:rPr>
              <a:t>约束定位质量，最终通过 </a:t>
            </a:r>
            <a:r>
              <a:rPr kumimoji="1" lang="en-US" altLang="zh-CN" sz="1100" dirty="0">
                <a:solidFill>
                  <a:srgbClr val="0A3760"/>
                </a:solidFill>
                <a:latin typeface="Microsoft YaHei" panose="020B0503020204020204" pitchFamily="34" charset="-122"/>
                <a:ea typeface="Microsoft YaHei" panose="020B0503020204020204" pitchFamily="34" charset="-122"/>
              </a:rPr>
              <a:t>F1</a:t>
            </a:r>
            <a:r>
              <a:rPr kumimoji="1" lang="zh-CN" altLang="en-US" sz="1100" dirty="0">
                <a:solidFill>
                  <a:srgbClr val="0A3760"/>
                </a:solidFill>
                <a:latin typeface="Microsoft YaHei" panose="020B0503020204020204" pitchFamily="34" charset="-122"/>
                <a:ea typeface="Microsoft YaHei" panose="020B0503020204020204" pitchFamily="34" charset="-122"/>
              </a:rPr>
              <a:t>分数进行精细化调优。该策略确保了选出的提示词在复杂环境下具备高度的鲁棒性。</a:t>
            </a:r>
          </a:p>
        </p:txBody>
      </p:sp>
      <p:sp>
        <p:nvSpPr>
          <p:cNvPr id="12" name="テキスト ボックス 11">
            <a:extLst>
              <a:ext uri="{FF2B5EF4-FFF2-40B4-BE49-F238E27FC236}">
                <a16:creationId xmlns:a16="http://schemas.microsoft.com/office/drawing/2014/main" id="{B118AE3D-5424-46D2-8FC7-701DEC59D94C}"/>
              </a:ext>
            </a:extLst>
          </p:cNvPr>
          <p:cNvSpPr txBox="1"/>
          <p:nvPr/>
        </p:nvSpPr>
        <p:spPr>
          <a:xfrm>
            <a:off x="6503666" y="5837177"/>
            <a:ext cx="4373884" cy="824200"/>
          </a:xfrm>
          <a:prstGeom prst="rect">
            <a:avLst/>
          </a:prstGeom>
          <a:noFill/>
        </p:spPr>
        <p:txBody>
          <a:bodyPr wrap="square" rtlCol="0">
            <a:spAutoFit/>
          </a:bodyPr>
          <a:lstStyle/>
          <a:p>
            <a:pPr>
              <a:lnSpc>
                <a:spcPct val="150000"/>
              </a:lnSpc>
            </a:pPr>
            <a:r>
              <a:rPr kumimoji="1" lang="zh-CN" altLang="en-US" sz="1100" b="1" dirty="0">
                <a:solidFill>
                  <a:srgbClr val="0A3760"/>
                </a:solidFill>
                <a:latin typeface="Microsoft YaHei" panose="020B0503020204020204" pitchFamily="34" charset="-122"/>
                <a:ea typeface="Microsoft YaHei" panose="020B0503020204020204" pitchFamily="34" charset="-122"/>
              </a:rPr>
              <a:t>■ 配置持久化</a:t>
            </a:r>
            <a:endParaRPr kumimoji="1" lang="en-US" altLang="zh-CN" sz="1100" b="1" dirty="0">
              <a:solidFill>
                <a:srgbClr val="0A3760"/>
              </a:solidFill>
              <a:latin typeface="Microsoft YaHei" panose="020B0503020204020204" pitchFamily="34" charset="-122"/>
              <a:ea typeface="Microsoft YaHei" panose="020B0503020204020204" pitchFamily="34" charset="-122"/>
            </a:endParaRPr>
          </a:p>
          <a:p>
            <a:pPr>
              <a:lnSpc>
                <a:spcPct val="150000"/>
              </a:lnSpc>
            </a:pPr>
            <a:r>
              <a:rPr kumimoji="1" lang="zh-CN" altLang="en-US" sz="1100" dirty="0">
                <a:solidFill>
                  <a:srgbClr val="0A3760"/>
                </a:solidFill>
                <a:latin typeface="Microsoft YaHei" panose="020B0503020204020204" pitchFamily="34" charset="-122"/>
                <a:ea typeface="Microsoft YaHei" panose="020B0503020204020204" pitchFamily="34" charset="-122"/>
              </a:rPr>
              <a:t>最终通过自动化映射，将最优参数空间 </a:t>
            </a:r>
            <a:r>
              <a:rPr kumimoji="1" lang="en-US" altLang="zh-CN" sz="1100" dirty="0">
                <a:solidFill>
                  <a:srgbClr val="0A3760"/>
                </a:solidFill>
                <a:latin typeface="Microsoft YaHei" panose="020B0503020204020204" pitchFamily="34" charset="-122"/>
                <a:ea typeface="Microsoft YaHei" panose="020B0503020204020204" pitchFamily="34" charset="-122"/>
              </a:rPr>
              <a:t>argmax(J) </a:t>
            </a:r>
            <a:r>
              <a:rPr kumimoji="1" lang="zh-CN" altLang="en-US" sz="1100" dirty="0">
                <a:solidFill>
                  <a:srgbClr val="0A3760"/>
                </a:solidFill>
                <a:latin typeface="Microsoft YaHei" panose="020B0503020204020204" pitchFamily="34" charset="-122"/>
                <a:ea typeface="Microsoft YaHei" panose="020B0503020204020204" pitchFamily="34" charset="-122"/>
              </a:rPr>
              <a:t>转化为可直接用于推理的结构化配置</a:t>
            </a:r>
            <a:endParaRPr kumimoji="1" lang="ja-JP" altLang="en-US" sz="1100" dirty="0">
              <a:solidFill>
                <a:srgbClr val="0A3760"/>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8297214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32079"/>
            <a:ext cx="4548504" cy="518161"/>
          </a:xfrm>
          <a:custGeom>
            <a:avLst/>
            <a:gdLst/>
            <a:ahLst/>
            <a:cxnLst/>
            <a:rect l="l" t="t" r="r" b="b"/>
            <a:pathLst>
              <a:path w="4054475" h="617220">
                <a:moveTo>
                  <a:pt x="436625" y="0"/>
                </a:moveTo>
                <a:lnTo>
                  <a:pt x="436631" y="0"/>
                </a:lnTo>
                <a:lnTo>
                  <a:pt x="3599329" y="0"/>
                </a:lnTo>
                <a:lnTo>
                  <a:pt x="3599329" y="1321"/>
                </a:lnTo>
                <a:lnTo>
                  <a:pt x="3617850" y="0"/>
                </a:lnTo>
                <a:cubicBezTo>
                  <a:pt x="3858992" y="0"/>
                  <a:pt x="4054475" y="138170"/>
                  <a:pt x="4054475" y="308610"/>
                </a:cubicBezTo>
                <a:cubicBezTo>
                  <a:pt x="4054475" y="479050"/>
                  <a:pt x="3858992" y="617220"/>
                  <a:pt x="3617850" y="617220"/>
                </a:cubicBezTo>
                <a:lnTo>
                  <a:pt x="3599329" y="615900"/>
                </a:lnTo>
                <a:lnTo>
                  <a:pt x="3599329" y="617220"/>
                </a:lnTo>
                <a:lnTo>
                  <a:pt x="436625" y="617220"/>
                </a:lnTo>
                <a:cubicBezTo>
                  <a:pt x="195483" y="617220"/>
                  <a:pt x="0" y="479050"/>
                  <a:pt x="0" y="308610"/>
                </a:cubicBezTo>
                <a:cubicBezTo>
                  <a:pt x="0" y="138170"/>
                  <a:pt x="195483" y="0"/>
                  <a:pt x="436625"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oAutofit/>
          </a:bodyPr>
          <a:lstStyle/>
          <a:p>
            <a:pPr marL="0" indent="0" algn="just" defTabSz="914400">
              <a:lnSpc>
                <a:spcPct val="100000"/>
              </a:lnSpc>
              <a:defRPr/>
            </a:pPr>
            <a:r>
              <a:rPr lang="en-US" sz="1800" b="0" i="0" u="none" strike="noStrike">
                <a:solidFill>
                  <a:srgbClr val="000000"/>
                </a:solidFill>
                <a:latin typeface="等线"/>
                <a:ea typeface="等线"/>
                <a:cs typeface="等线"/>
                <a:sym typeface="等线"/>
              </a:rPr>
              <a:t> </a:t>
            </a:r>
            <a:endParaRPr lang="en-US" sz="1100"/>
          </a:p>
        </p:txBody>
      </p:sp>
      <p:pic>
        <p:nvPicPr>
          <p:cNvPr id="3" name="Picture 3"/>
          <p:cNvPicPr>
            <a:picLocks noChangeAspect="1"/>
          </p:cNvPicPr>
          <p:nvPr/>
        </p:nvPicPr>
        <p:blipFill>
          <a:blip r:embed="rId3"/>
          <a:srcRect/>
          <a:stretch>
            <a:fillRect/>
          </a:stretch>
        </p:blipFill>
        <p:spPr>
          <a:xfrm>
            <a:off x="163195" y="132080"/>
            <a:ext cx="617855" cy="617855"/>
          </a:xfrm>
          <a:prstGeom prst="rect">
            <a:avLst/>
          </a:prstGeom>
          <a:ln w="12700" cap="flat" cmpd="sng">
            <a:noFill/>
            <a:prstDash val="solid"/>
            <a:round/>
          </a:ln>
        </p:spPr>
      </p:pic>
      <p:sp>
        <p:nvSpPr>
          <p:cNvPr id="97" name="AutoShape 7">
            <a:extLst>
              <a:ext uri="{FF2B5EF4-FFF2-40B4-BE49-F238E27FC236}">
                <a16:creationId xmlns:a16="http://schemas.microsoft.com/office/drawing/2014/main" id="{D49CBA3F-1F40-40E6-A6DA-FBC5D13B22ED}"/>
              </a:ext>
            </a:extLst>
          </p:cNvPr>
          <p:cNvSpPr/>
          <p:nvPr/>
        </p:nvSpPr>
        <p:spPr>
          <a:xfrm>
            <a:off x="248398" y="845745"/>
            <a:ext cx="5455772" cy="343610"/>
          </a:xfrm>
          <a:prstGeom prst="roundRect">
            <a:avLst>
              <a:gd name="adj" fmla="val 25000"/>
            </a:avLst>
          </a:prstGeom>
          <a:ln>
            <a:solidFill>
              <a:srgbClr val="0A3760"/>
            </a:solidFill>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rtlCol="0" anchor="ctr">
            <a:noAutofit/>
          </a:bodyPr>
          <a:lstStyle/>
          <a:p>
            <a:pPr algn="ctr">
              <a:lnSpc>
                <a:spcPct val="108333"/>
              </a:lnSpc>
              <a:defRPr/>
            </a:pPr>
            <a:r>
              <a:rPr lang="zh-CN" altLang="en-US" b="1" dirty="0">
                <a:solidFill>
                  <a:srgbClr val="0A3760"/>
                </a:solidFill>
                <a:latin typeface="微软雅黑"/>
                <a:ea typeface="微软雅黑"/>
                <a:cs typeface="微软雅黑"/>
                <a:sym typeface="微软雅黑"/>
              </a:rPr>
              <a:t>针对火的</a:t>
            </a:r>
            <a:r>
              <a:rPr lang="en-US" altLang="zh-CN" b="1" dirty="0" err="1">
                <a:solidFill>
                  <a:srgbClr val="0A3760"/>
                </a:solidFill>
                <a:latin typeface="微软雅黑"/>
                <a:ea typeface="微软雅黑"/>
                <a:cs typeface="微软雅黑"/>
                <a:sym typeface="微软雅黑"/>
              </a:rPr>
              <a:t>IoF</a:t>
            </a:r>
            <a:r>
              <a:rPr lang="en-US" altLang="zh-CN" b="1" dirty="0">
                <a:solidFill>
                  <a:srgbClr val="0A3760"/>
                </a:solidFill>
                <a:latin typeface="微软雅黑"/>
                <a:ea typeface="微软雅黑"/>
                <a:cs typeface="微软雅黑"/>
                <a:sym typeface="微软雅黑"/>
              </a:rPr>
              <a:t> </a:t>
            </a:r>
            <a:r>
              <a:rPr lang="zh-CN" altLang="en-US" b="1" dirty="0">
                <a:solidFill>
                  <a:srgbClr val="0A3760"/>
                </a:solidFill>
                <a:latin typeface="微软雅黑"/>
                <a:ea typeface="微软雅黑"/>
                <a:cs typeface="微软雅黑"/>
                <a:sym typeface="微软雅黑"/>
              </a:rPr>
              <a:t>包含率过滤与保守验证策略算法</a:t>
            </a:r>
            <a:endParaRPr lang="en-US" b="0" i="0" u="none" strike="noStrike" dirty="0">
              <a:solidFill>
                <a:srgbClr val="0A3760"/>
              </a:solidFill>
              <a:latin typeface="微软雅黑"/>
              <a:ea typeface="微软雅黑"/>
              <a:cs typeface="微软雅黑"/>
              <a:sym typeface="微软雅黑"/>
            </a:endParaRPr>
          </a:p>
        </p:txBody>
      </p:sp>
      <p:pic>
        <p:nvPicPr>
          <p:cNvPr id="99" name="図 98">
            <a:extLst>
              <a:ext uri="{FF2B5EF4-FFF2-40B4-BE49-F238E27FC236}">
                <a16:creationId xmlns:a16="http://schemas.microsoft.com/office/drawing/2014/main" id="{B9A66D0E-F0F3-493C-8619-3C84FD182A85}"/>
              </a:ext>
            </a:extLst>
          </p:cNvPr>
          <p:cNvPicPr>
            <a:picLocks noChangeAspect="1"/>
          </p:cNvPicPr>
          <p:nvPr/>
        </p:nvPicPr>
        <p:blipFill>
          <a:blip r:embed="rId4"/>
          <a:stretch>
            <a:fillRect/>
          </a:stretch>
        </p:blipFill>
        <p:spPr>
          <a:xfrm>
            <a:off x="248398" y="1283820"/>
            <a:ext cx="11449050" cy="1832564"/>
          </a:xfrm>
          <a:prstGeom prst="rect">
            <a:avLst/>
          </a:prstGeom>
        </p:spPr>
      </p:pic>
      <p:sp>
        <p:nvSpPr>
          <p:cNvPr id="100" name="テキスト ボックス 99">
            <a:extLst>
              <a:ext uri="{FF2B5EF4-FFF2-40B4-BE49-F238E27FC236}">
                <a16:creationId xmlns:a16="http://schemas.microsoft.com/office/drawing/2014/main" id="{8EB95454-F168-479D-B51C-EA6AE40F99FD}"/>
              </a:ext>
            </a:extLst>
          </p:cNvPr>
          <p:cNvSpPr txBox="1"/>
          <p:nvPr/>
        </p:nvSpPr>
        <p:spPr>
          <a:xfrm>
            <a:off x="248398" y="3429000"/>
            <a:ext cx="5180852" cy="1277273"/>
          </a:xfrm>
          <a:prstGeom prst="rect">
            <a:avLst/>
          </a:prstGeom>
          <a:noFill/>
        </p:spPr>
        <p:txBody>
          <a:bodyPr wrap="square" rtlCol="0">
            <a:spAutoFit/>
          </a:bodyPr>
          <a:lstStyle/>
          <a:p>
            <a:r>
              <a:rPr kumimoji="1" lang="zh-CN" altLang="en-US" sz="1100" b="1" dirty="0">
                <a:solidFill>
                  <a:srgbClr val="0A3760"/>
                </a:solidFill>
                <a:latin typeface="Microsoft YaHei" panose="020B0503020204020204" pitchFamily="34" charset="-122"/>
                <a:ea typeface="Microsoft YaHei" panose="020B0503020204020204" pitchFamily="34" charset="-122"/>
              </a:rPr>
              <a:t>阶段 </a:t>
            </a:r>
            <a:r>
              <a:rPr kumimoji="1" lang="en-US" altLang="zh-CN" sz="1100" b="1" dirty="0">
                <a:solidFill>
                  <a:srgbClr val="0A3760"/>
                </a:solidFill>
                <a:latin typeface="Microsoft YaHei" panose="020B0503020204020204" pitchFamily="34" charset="-122"/>
                <a:ea typeface="Microsoft YaHei" panose="020B0503020204020204" pitchFamily="34" charset="-122"/>
              </a:rPr>
              <a:t>I</a:t>
            </a:r>
            <a:r>
              <a:rPr kumimoji="1" lang="zh-CN" altLang="en-US" sz="1100" b="1" dirty="0">
                <a:solidFill>
                  <a:srgbClr val="0A3760"/>
                </a:solidFill>
                <a:latin typeface="Microsoft YaHei" panose="020B0503020204020204" pitchFamily="34" charset="-122"/>
                <a:ea typeface="Microsoft YaHei" panose="020B0503020204020204" pitchFamily="34" charset="-122"/>
              </a:rPr>
              <a:t>：基于语义驱动的误检抑制</a:t>
            </a:r>
            <a:endParaRPr kumimoji="1" lang="en-US" altLang="zh-CN" sz="1100" b="1" dirty="0">
              <a:solidFill>
                <a:srgbClr val="0A3760"/>
              </a:solidFill>
              <a:latin typeface="Microsoft YaHei" panose="020B0503020204020204" pitchFamily="34" charset="-122"/>
              <a:ea typeface="Microsoft YaHei" panose="020B0503020204020204" pitchFamily="34" charset="-122"/>
            </a:endParaRPr>
          </a:p>
          <a:p>
            <a:r>
              <a:rPr kumimoji="1" lang="zh-CN" altLang="en-US" sz="1100" dirty="0">
                <a:solidFill>
                  <a:srgbClr val="0A3760"/>
                </a:solidFill>
                <a:latin typeface="Microsoft YaHei" panose="020B0503020204020204" pitchFamily="34" charset="-122"/>
                <a:ea typeface="Microsoft YaHei" panose="020B0503020204020204" pitchFamily="34" charset="-122"/>
              </a:rPr>
              <a:t>通过“验证门槛</a:t>
            </a:r>
            <a:r>
              <a:rPr kumimoji="1" lang="en-US" altLang="zh-CN" sz="1100" dirty="0">
                <a:solidFill>
                  <a:srgbClr val="0A3760"/>
                </a:solidFill>
                <a:latin typeface="Microsoft YaHei" panose="020B0503020204020204" pitchFamily="34" charset="-122"/>
                <a:ea typeface="Microsoft YaHei" panose="020B0503020204020204" pitchFamily="34" charset="-122"/>
              </a:rPr>
              <a:t>”</a:t>
            </a:r>
            <a:r>
              <a:rPr kumimoji="1" lang="zh-CN" altLang="en-US" sz="1100" dirty="0">
                <a:solidFill>
                  <a:srgbClr val="0A3760"/>
                </a:solidFill>
                <a:latin typeface="Microsoft YaHei" panose="020B0503020204020204" pitchFamily="34" charset="-122"/>
                <a:ea typeface="Microsoft YaHei" panose="020B0503020204020204" pitchFamily="34" charset="-122"/>
              </a:rPr>
              <a:t>将 </a:t>
            </a:r>
            <a:r>
              <a:rPr kumimoji="1" lang="en-US" altLang="zh-CN" sz="1100" dirty="0">
                <a:solidFill>
                  <a:srgbClr val="0A3760"/>
                </a:solidFill>
                <a:latin typeface="Microsoft YaHei" panose="020B0503020204020204" pitchFamily="34" charset="-122"/>
                <a:ea typeface="Microsoft YaHei" panose="020B0503020204020204" pitchFamily="34" charset="-122"/>
              </a:rPr>
              <a:t>DINO </a:t>
            </a:r>
            <a:r>
              <a:rPr kumimoji="1" lang="zh-CN" altLang="en-US" sz="1100" dirty="0">
                <a:solidFill>
                  <a:srgbClr val="0A3760"/>
                </a:solidFill>
                <a:latin typeface="Microsoft YaHei" panose="020B0503020204020204" pitchFamily="34" charset="-122"/>
                <a:ea typeface="Microsoft YaHei" panose="020B0503020204020204" pitchFamily="34" charset="-122"/>
              </a:rPr>
              <a:t>定位的框与 </a:t>
            </a:r>
            <a:r>
              <a:rPr kumimoji="1" lang="en-US" altLang="zh-CN" sz="1100" dirty="0">
                <a:solidFill>
                  <a:srgbClr val="0A3760"/>
                </a:solidFill>
                <a:latin typeface="Microsoft YaHei" panose="020B0503020204020204" pitchFamily="34" charset="-122"/>
                <a:ea typeface="Microsoft YaHei" panose="020B0503020204020204" pitchFamily="34" charset="-122"/>
              </a:rPr>
              <a:t>SAM3 </a:t>
            </a:r>
            <a:r>
              <a:rPr kumimoji="1" lang="zh-CN" altLang="en-US" sz="1100" dirty="0">
                <a:solidFill>
                  <a:srgbClr val="0A3760"/>
                </a:solidFill>
                <a:latin typeface="Microsoft YaHei" panose="020B0503020204020204" pitchFamily="34" charset="-122"/>
                <a:ea typeface="Microsoft YaHei" panose="020B0503020204020204" pitchFamily="34" charset="-122"/>
              </a:rPr>
              <a:t>语义 </a:t>
            </a:r>
            <a:r>
              <a:rPr kumimoji="1" lang="en-US" altLang="zh-CN" sz="1100" dirty="0">
                <a:solidFill>
                  <a:srgbClr val="0A3760"/>
                </a:solidFill>
                <a:latin typeface="Microsoft YaHei" panose="020B0503020204020204" pitchFamily="34" charset="-122"/>
                <a:ea typeface="Microsoft YaHei" panose="020B0503020204020204" pitchFamily="34" charset="-122"/>
              </a:rPr>
              <a:t>Mask </a:t>
            </a:r>
            <a:r>
              <a:rPr kumimoji="1" lang="zh-CN" altLang="en-US" sz="1100" dirty="0">
                <a:solidFill>
                  <a:srgbClr val="0A3760"/>
                </a:solidFill>
                <a:latin typeface="Microsoft YaHei" panose="020B0503020204020204" pitchFamily="34" charset="-122"/>
                <a:ea typeface="Microsoft YaHei" panose="020B0503020204020204" pitchFamily="34" charset="-122"/>
              </a:rPr>
              <a:t>进行匹配审核。</a:t>
            </a:r>
          </a:p>
          <a:p>
            <a:r>
              <a:rPr kumimoji="1" lang="zh-CN" altLang="en-US" sz="1100" dirty="0">
                <a:solidFill>
                  <a:srgbClr val="0A3760"/>
                </a:solidFill>
                <a:latin typeface="Microsoft YaHei" panose="020B0503020204020204" pitchFamily="34" charset="-122"/>
                <a:ea typeface="Microsoft YaHei" panose="020B0503020204020204" pitchFamily="34" charset="-122"/>
              </a:rPr>
              <a:t>多维评估指标 ：</a:t>
            </a:r>
          </a:p>
          <a:p>
            <a:r>
              <a:rPr kumimoji="1" lang="zh-CN" altLang="en-US" sz="1100" dirty="0">
                <a:solidFill>
                  <a:srgbClr val="0A3760"/>
                </a:solidFill>
                <a:latin typeface="Microsoft YaHei" panose="020B0503020204020204" pitchFamily="34" charset="-122"/>
                <a:ea typeface="Microsoft YaHei" panose="020B0503020204020204" pitchFamily="34" charset="-122"/>
              </a:rPr>
              <a:t>语义覆盖度 </a:t>
            </a:r>
            <a:r>
              <a:rPr kumimoji="1" lang="en-US" altLang="zh-CN" sz="1100" dirty="0">
                <a:solidFill>
                  <a:srgbClr val="0A3760"/>
                </a:solidFill>
                <a:latin typeface="Microsoft YaHei" panose="020B0503020204020204" pitchFamily="34" charset="-122"/>
                <a:ea typeface="Microsoft YaHei" panose="020B0503020204020204" pitchFamily="34" charset="-122"/>
              </a:rPr>
              <a:t>:</a:t>
            </a:r>
            <a:r>
              <a:rPr kumimoji="1" lang="zh-CN" altLang="en-US" sz="1100" dirty="0">
                <a:solidFill>
                  <a:srgbClr val="0A3760"/>
                </a:solidFill>
                <a:latin typeface="Microsoft YaHei" panose="020B0503020204020204" pitchFamily="34" charset="-122"/>
                <a:ea typeface="Microsoft YaHei" panose="020B0503020204020204" pitchFamily="34" charset="-122"/>
              </a:rPr>
              <a:t>确保检测框内的像素语义密度满足阈值要求。</a:t>
            </a:r>
          </a:p>
          <a:p>
            <a:r>
              <a:rPr kumimoji="1" lang="zh-CN" altLang="en-US" sz="1100" dirty="0">
                <a:solidFill>
                  <a:srgbClr val="0A3760"/>
                </a:solidFill>
                <a:latin typeface="Microsoft YaHei" panose="020B0503020204020204" pitchFamily="34" charset="-122"/>
                <a:ea typeface="Microsoft YaHei" panose="020B0503020204020204" pitchFamily="34" charset="-122"/>
              </a:rPr>
              <a:t>置信度对齐 ：实现检测置信度与语义分割概率的同步校验。</a:t>
            </a:r>
          </a:p>
          <a:p>
            <a:r>
              <a:rPr kumimoji="1" lang="zh-CN" altLang="en-US" sz="1100" dirty="0">
                <a:solidFill>
                  <a:srgbClr val="0A3760"/>
                </a:solidFill>
                <a:latin typeface="Microsoft YaHei" panose="020B0503020204020204" pitchFamily="34" charset="-122"/>
                <a:ea typeface="Microsoft YaHei" panose="020B0503020204020204" pitchFamily="34" charset="-122"/>
              </a:rPr>
              <a:t>空间一致性：验证检测框边界与分割边界的几何重合度 </a:t>
            </a:r>
            <a:r>
              <a:rPr kumimoji="1" lang="en-US" altLang="zh-CN" sz="1100" dirty="0">
                <a:solidFill>
                  <a:srgbClr val="0A3760"/>
                </a:solidFill>
                <a:latin typeface="Microsoft YaHei" panose="020B0503020204020204" pitchFamily="34" charset="-122"/>
                <a:ea typeface="Microsoft YaHei" panose="020B0503020204020204" pitchFamily="34" charset="-122"/>
              </a:rPr>
              <a:t>(</a:t>
            </a:r>
            <a:r>
              <a:rPr kumimoji="1" lang="en-US" altLang="zh-CN" sz="1100" dirty="0" err="1">
                <a:solidFill>
                  <a:srgbClr val="0A3760"/>
                </a:solidFill>
                <a:latin typeface="Microsoft YaHei" panose="020B0503020204020204" pitchFamily="34" charset="-122"/>
                <a:ea typeface="Microsoft YaHei" panose="020B0503020204020204" pitchFamily="34" charset="-122"/>
              </a:rPr>
              <a:t>IoU</a:t>
            </a:r>
            <a:r>
              <a:rPr kumimoji="1" lang="en-US" altLang="zh-CN" sz="1100" dirty="0">
                <a:solidFill>
                  <a:srgbClr val="0A3760"/>
                </a:solidFill>
                <a:latin typeface="Microsoft YaHei" panose="020B0503020204020204" pitchFamily="34" charset="-122"/>
                <a:ea typeface="Microsoft YaHei" panose="020B0503020204020204" pitchFamily="34" charset="-122"/>
              </a:rPr>
              <a:t>)</a:t>
            </a:r>
            <a:r>
              <a:rPr kumimoji="1" lang="zh-CN" altLang="en-US" sz="1100" dirty="0">
                <a:solidFill>
                  <a:srgbClr val="0A3760"/>
                </a:solidFill>
                <a:latin typeface="Microsoft YaHei" panose="020B0503020204020204" pitchFamily="34" charset="-122"/>
                <a:ea typeface="Microsoft YaHei" panose="020B0503020204020204" pitchFamily="34" charset="-122"/>
              </a:rPr>
              <a:t>。</a:t>
            </a:r>
          </a:p>
          <a:p>
            <a:r>
              <a:rPr kumimoji="1" lang="zh-CN" altLang="en-US" sz="1100" dirty="0">
                <a:solidFill>
                  <a:srgbClr val="0A3760"/>
                </a:solidFill>
                <a:latin typeface="Microsoft YaHei" panose="020B0503020204020204" pitchFamily="34" charset="-122"/>
                <a:ea typeface="Microsoft YaHei" panose="020B0503020204020204" pitchFamily="34" charset="-122"/>
              </a:rPr>
              <a:t>预期目标 ：有效剔除定位在非语义区域的误报目标 。</a:t>
            </a:r>
            <a:endParaRPr kumimoji="1" lang="ja-JP" altLang="en-US" sz="1100" dirty="0">
              <a:solidFill>
                <a:srgbClr val="0A3760"/>
              </a:solidFill>
              <a:latin typeface="Microsoft YaHei" panose="020B0503020204020204" pitchFamily="34" charset="-122"/>
              <a:ea typeface="Microsoft YaHei" panose="020B0503020204020204" pitchFamily="34" charset="-122"/>
            </a:endParaRPr>
          </a:p>
        </p:txBody>
      </p:sp>
      <p:sp>
        <p:nvSpPr>
          <p:cNvPr id="101" name="テキスト ボックス 100">
            <a:extLst>
              <a:ext uri="{FF2B5EF4-FFF2-40B4-BE49-F238E27FC236}">
                <a16:creationId xmlns:a16="http://schemas.microsoft.com/office/drawing/2014/main" id="{3A1656A6-07B7-4B6D-ABCD-5A62B9BF13CC}"/>
              </a:ext>
            </a:extLst>
          </p:cNvPr>
          <p:cNvSpPr txBox="1"/>
          <p:nvPr/>
        </p:nvSpPr>
        <p:spPr>
          <a:xfrm>
            <a:off x="248398" y="4706273"/>
            <a:ext cx="5180852" cy="1277273"/>
          </a:xfrm>
          <a:prstGeom prst="rect">
            <a:avLst/>
          </a:prstGeom>
          <a:noFill/>
        </p:spPr>
        <p:txBody>
          <a:bodyPr wrap="square" rtlCol="0">
            <a:spAutoFit/>
          </a:bodyPr>
          <a:lstStyle/>
          <a:p>
            <a:r>
              <a:rPr kumimoji="1" lang="zh-CN" altLang="en-US" sz="1100" b="1" dirty="0">
                <a:solidFill>
                  <a:srgbClr val="0A3760"/>
                </a:solidFill>
                <a:latin typeface="Microsoft YaHei" panose="020B0503020204020204" pitchFamily="34" charset="-122"/>
                <a:ea typeface="Microsoft YaHei" panose="020B0503020204020204" pitchFamily="34" charset="-122"/>
              </a:rPr>
              <a:t>阶段 </a:t>
            </a:r>
            <a:r>
              <a:rPr kumimoji="1" lang="en-US" altLang="zh-CN" sz="1100" b="1" dirty="0">
                <a:solidFill>
                  <a:srgbClr val="0A3760"/>
                </a:solidFill>
                <a:latin typeface="Microsoft YaHei" panose="020B0503020204020204" pitchFamily="34" charset="-122"/>
                <a:ea typeface="Microsoft YaHei" panose="020B0503020204020204" pitchFamily="34" charset="-122"/>
              </a:rPr>
              <a:t>II</a:t>
            </a:r>
            <a:r>
              <a:rPr kumimoji="1" lang="zh-CN" altLang="en-US" sz="1100" b="1" dirty="0">
                <a:solidFill>
                  <a:srgbClr val="0A3760"/>
                </a:solidFill>
                <a:latin typeface="Microsoft YaHei" panose="020B0503020204020204" pitchFamily="34" charset="-122"/>
                <a:ea typeface="Microsoft YaHei" panose="020B0503020204020204" pitchFamily="34" charset="-122"/>
              </a:rPr>
              <a:t>：基于多级过滤的保守目标追加</a:t>
            </a:r>
            <a:endParaRPr kumimoji="1" lang="en-US" altLang="zh-CN" sz="1100" b="1" dirty="0">
              <a:solidFill>
                <a:srgbClr val="0A3760"/>
              </a:solidFill>
              <a:latin typeface="Microsoft YaHei" panose="020B0503020204020204" pitchFamily="34" charset="-122"/>
              <a:ea typeface="Microsoft YaHei" panose="020B0503020204020204" pitchFamily="34" charset="-122"/>
            </a:endParaRPr>
          </a:p>
          <a:p>
            <a:r>
              <a:rPr kumimoji="1" lang="zh-CN" altLang="en-US" sz="1100" dirty="0">
                <a:solidFill>
                  <a:srgbClr val="0A3760"/>
                </a:solidFill>
                <a:latin typeface="Microsoft YaHei" panose="020B0503020204020204" pitchFamily="34" charset="-122"/>
                <a:ea typeface="Microsoft YaHei" panose="020B0503020204020204" pitchFamily="34" charset="-122"/>
              </a:rPr>
              <a:t>通过 </a:t>
            </a:r>
            <a:r>
              <a:rPr kumimoji="1" lang="en-US" altLang="zh-CN" sz="1100" dirty="0">
                <a:solidFill>
                  <a:srgbClr val="0A3760"/>
                </a:solidFill>
                <a:latin typeface="Microsoft YaHei" panose="020B0503020204020204" pitchFamily="34" charset="-122"/>
                <a:ea typeface="Microsoft YaHei" panose="020B0503020204020204" pitchFamily="34" charset="-122"/>
              </a:rPr>
              <a:t>SAM3 </a:t>
            </a:r>
            <a:r>
              <a:rPr kumimoji="1" lang="zh-CN" altLang="en-US" sz="1100" dirty="0">
                <a:solidFill>
                  <a:srgbClr val="0A3760"/>
                </a:solidFill>
                <a:latin typeface="Microsoft YaHei" panose="020B0503020204020204" pitchFamily="34" charset="-122"/>
                <a:ea typeface="Microsoft YaHei" panose="020B0503020204020204" pitchFamily="34" charset="-122"/>
              </a:rPr>
              <a:t>的概念检索能力，找回被 </a:t>
            </a:r>
            <a:r>
              <a:rPr kumimoji="1" lang="en-US" altLang="zh-CN" sz="1100" dirty="0">
                <a:solidFill>
                  <a:srgbClr val="0A3760"/>
                </a:solidFill>
                <a:latin typeface="Microsoft YaHei" panose="020B0503020204020204" pitchFamily="34" charset="-122"/>
                <a:ea typeface="Microsoft YaHei" panose="020B0503020204020204" pitchFamily="34" charset="-122"/>
              </a:rPr>
              <a:t>DINO </a:t>
            </a:r>
            <a:r>
              <a:rPr kumimoji="1" lang="zh-CN" altLang="en-US" sz="1100" dirty="0">
                <a:solidFill>
                  <a:srgbClr val="0A3760"/>
                </a:solidFill>
                <a:latin typeface="Microsoft YaHei" panose="020B0503020204020204" pitchFamily="34" charset="-122"/>
                <a:ea typeface="Microsoft YaHei" panose="020B0503020204020204" pitchFamily="34" charset="-122"/>
              </a:rPr>
              <a:t>漏检的火点目标</a:t>
            </a:r>
          </a:p>
          <a:p>
            <a:r>
              <a:rPr kumimoji="1" lang="zh-CN" altLang="en-US" sz="1100" dirty="0">
                <a:solidFill>
                  <a:srgbClr val="0A3760"/>
                </a:solidFill>
                <a:latin typeface="Microsoft YaHei" panose="020B0503020204020204" pitchFamily="34" charset="-122"/>
                <a:ea typeface="Microsoft YaHei" panose="020B0503020204020204" pitchFamily="34" charset="-122"/>
              </a:rPr>
              <a:t>多级准入门槛 ：</a:t>
            </a:r>
          </a:p>
          <a:p>
            <a:r>
              <a:rPr kumimoji="1" lang="zh-CN" altLang="en-US" sz="1100" dirty="0">
                <a:solidFill>
                  <a:srgbClr val="0A3760"/>
                </a:solidFill>
                <a:latin typeface="Microsoft YaHei" panose="020B0503020204020204" pitchFamily="34" charset="-122"/>
                <a:ea typeface="Microsoft YaHei" panose="020B0503020204020204" pitchFamily="34" charset="-122"/>
              </a:rPr>
              <a:t>几何约束 ：基于置信度、绝对像素面积及长宽比的初步筛选。</a:t>
            </a:r>
          </a:p>
          <a:p>
            <a:r>
              <a:rPr kumimoji="1" lang="zh-CN" altLang="en-US" sz="1100" dirty="0">
                <a:solidFill>
                  <a:srgbClr val="0A3760"/>
                </a:solidFill>
                <a:latin typeface="Microsoft YaHei" panose="020B0503020204020204" pitchFamily="34" charset="-122"/>
                <a:ea typeface="Microsoft YaHei" panose="020B0503020204020204" pitchFamily="34" charset="-122"/>
              </a:rPr>
              <a:t>冗余抑制 ：依次应用传统 </a:t>
            </a:r>
            <a:r>
              <a:rPr kumimoji="1" lang="en-US" altLang="zh-CN" sz="1100" dirty="0" err="1">
                <a:solidFill>
                  <a:srgbClr val="0A3760"/>
                </a:solidFill>
                <a:latin typeface="Microsoft YaHei" panose="020B0503020204020204" pitchFamily="34" charset="-122"/>
                <a:ea typeface="Microsoft YaHei" panose="020B0503020204020204" pitchFamily="34" charset="-122"/>
              </a:rPr>
              <a:t>IoU</a:t>
            </a:r>
            <a:r>
              <a:rPr kumimoji="1" lang="en-US" altLang="zh-CN" sz="1100" dirty="0">
                <a:solidFill>
                  <a:srgbClr val="0A3760"/>
                </a:solidFill>
                <a:latin typeface="Microsoft YaHei" panose="020B0503020204020204" pitchFamily="34" charset="-122"/>
                <a:ea typeface="Microsoft YaHei" panose="020B0503020204020204" pitchFamily="34" charset="-122"/>
              </a:rPr>
              <a:t> </a:t>
            </a:r>
            <a:r>
              <a:rPr kumimoji="1" lang="zh-CN" altLang="en-US" sz="1100" dirty="0">
                <a:solidFill>
                  <a:srgbClr val="0A3760"/>
                </a:solidFill>
                <a:latin typeface="Microsoft YaHei" panose="020B0503020204020204" pitchFamily="34" charset="-122"/>
                <a:ea typeface="Microsoft YaHei" panose="020B0503020204020204" pitchFamily="34" charset="-122"/>
              </a:rPr>
              <a:t>去重与追加内部 </a:t>
            </a:r>
            <a:r>
              <a:rPr kumimoji="1" lang="en-US" altLang="zh-CN" sz="1100" dirty="0">
                <a:solidFill>
                  <a:srgbClr val="0A3760"/>
                </a:solidFill>
                <a:latin typeface="Microsoft YaHei" panose="020B0503020204020204" pitchFamily="34" charset="-122"/>
                <a:ea typeface="Microsoft YaHei" panose="020B0503020204020204" pitchFamily="34" charset="-122"/>
              </a:rPr>
              <a:t>NMS</a:t>
            </a:r>
            <a:r>
              <a:rPr kumimoji="1" lang="zh-CN" altLang="en-US" sz="1100" dirty="0">
                <a:solidFill>
                  <a:srgbClr val="0A3760"/>
                </a:solidFill>
                <a:latin typeface="Microsoft YaHei" panose="020B0503020204020204" pitchFamily="34" charset="-122"/>
                <a:ea typeface="Microsoft YaHei" panose="020B0503020204020204" pitchFamily="34" charset="-122"/>
              </a:rPr>
              <a:t>。</a:t>
            </a:r>
          </a:p>
          <a:p>
            <a:r>
              <a:rPr kumimoji="1" lang="zh-CN" altLang="en-US" sz="1100" dirty="0">
                <a:solidFill>
                  <a:srgbClr val="0A3760"/>
                </a:solidFill>
                <a:latin typeface="Microsoft YaHei" panose="020B0503020204020204" pitchFamily="34" charset="-122"/>
                <a:ea typeface="Microsoft YaHei" panose="020B0503020204020204" pitchFamily="34" charset="-122"/>
              </a:rPr>
              <a:t>设计策略 ：采用“保守优先</a:t>
            </a:r>
            <a:r>
              <a:rPr kumimoji="1" lang="en-US" altLang="zh-CN" sz="1100" dirty="0">
                <a:solidFill>
                  <a:srgbClr val="0A3760"/>
                </a:solidFill>
                <a:latin typeface="Microsoft YaHei" panose="020B0503020204020204" pitchFamily="34" charset="-122"/>
                <a:ea typeface="Microsoft YaHei" panose="020B0503020204020204" pitchFamily="34" charset="-122"/>
              </a:rPr>
              <a:t>”</a:t>
            </a:r>
            <a:r>
              <a:rPr kumimoji="1" lang="zh-CN" altLang="en-US" sz="1100" dirty="0">
                <a:solidFill>
                  <a:srgbClr val="0A3760"/>
                </a:solidFill>
                <a:latin typeface="Microsoft YaHei" panose="020B0503020204020204" pitchFamily="34" charset="-122"/>
                <a:ea typeface="Microsoft YaHei" panose="020B0503020204020204" pitchFamily="34" charset="-122"/>
              </a:rPr>
              <a:t>原则，在提升召回率的同时，严格保障下游训练标签的纯净度。</a:t>
            </a:r>
            <a:endParaRPr kumimoji="1" lang="ja-JP" altLang="en-US" sz="1100" dirty="0">
              <a:solidFill>
                <a:srgbClr val="0A3760"/>
              </a:solidFill>
              <a:latin typeface="Microsoft YaHei" panose="020B0503020204020204" pitchFamily="34" charset="-122"/>
              <a:ea typeface="Microsoft YaHei" panose="020B0503020204020204" pitchFamily="34" charset="-122"/>
            </a:endParaRPr>
          </a:p>
        </p:txBody>
      </p:sp>
      <p:sp>
        <p:nvSpPr>
          <p:cNvPr id="102" name="テキスト ボックス 101">
            <a:extLst>
              <a:ext uri="{FF2B5EF4-FFF2-40B4-BE49-F238E27FC236}">
                <a16:creationId xmlns:a16="http://schemas.microsoft.com/office/drawing/2014/main" id="{4BB479F2-E863-4A7F-A9E5-F739764C7D48}"/>
              </a:ext>
            </a:extLst>
          </p:cNvPr>
          <p:cNvSpPr txBox="1"/>
          <p:nvPr/>
        </p:nvSpPr>
        <p:spPr>
          <a:xfrm>
            <a:off x="5534025" y="4706273"/>
            <a:ext cx="4733926" cy="938719"/>
          </a:xfrm>
          <a:prstGeom prst="rect">
            <a:avLst/>
          </a:prstGeom>
          <a:noFill/>
        </p:spPr>
        <p:txBody>
          <a:bodyPr wrap="square" rtlCol="0">
            <a:spAutoFit/>
          </a:bodyPr>
          <a:lstStyle/>
          <a:p>
            <a:r>
              <a:rPr kumimoji="1" lang="zh-CN" altLang="en-US" sz="1100" b="1" dirty="0">
                <a:solidFill>
                  <a:srgbClr val="0A3760"/>
                </a:solidFill>
                <a:latin typeface="Microsoft YaHei" panose="020B0503020204020204" pitchFamily="34" charset="-122"/>
                <a:ea typeface="Microsoft YaHei" panose="020B0503020204020204" pitchFamily="34" charset="-122"/>
              </a:rPr>
              <a:t>核心：基于 </a:t>
            </a:r>
            <a:r>
              <a:rPr kumimoji="1" lang="en-US" altLang="zh-CN" sz="1100" b="1" dirty="0" err="1">
                <a:solidFill>
                  <a:srgbClr val="0A3760"/>
                </a:solidFill>
                <a:latin typeface="Microsoft YaHei" panose="020B0503020204020204" pitchFamily="34" charset="-122"/>
                <a:ea typeface="Microsoft YaHei" panose="020B0503020204020204" pitchFamily="34" charset="-122"/>
              </a:rPr>
              <a:t>IoF</a:t>
            </a:r>
            <a:r>
              <a:rPr kumimoji="1" lang="en-US" altLang="zh-CN" sz="1100" b="1" dirty="0">
                <a:solidFill>
                  <a:srgbClr val="0A3760"/>
                </a:solidFill>
                <a:latin typeface="Microsoft YaHei" panose="020B0503020204020204" pitchFamily="34" charset="-122"/>
                <a:ea typeface="Microsoft YaHei" panose="020B0503020204020204" pitchFamily="34" charset="-122"/>
              </a:rPr>
              <a:t> </a:t>
            </a:r>
            <a:r>
              <a:rPr kumimoji="1" lang="zh-CN" altLang="en-US" sz="1100" b="1" dirty="0">
                <a:solidFill>
                  <a:srgbClr val="0A3760"/>
                </a:solidFill>
                <a:latin typeface="Microsoft YaHei" panose="020B0503020204020204" pitchFamily="34" charset="-122"/>
                <a:ea typeface="Microsoft YaHei" panose="020B0503020204020204" pitchFamily="34" charset="-122"/>
              </a:rPr>
              <a:t>包含率的冗余抑制</a:t>
            </a:r>
            <a:endParaRPr kumimoji="1" lang="en-US" altLang="zh-CN" sz="1100" b="1" dirty="0">
              <a:solidFill>
                <a:srgbClr val="0A3760"/>
              </a:solidFill>
              <a:latin typeface="Microsoft YaHei" panose="020B0503020204020204" pitchFamily="34" charset="-122"/>
              <a:ea typeface="Microsoft YaHei" panose="020B0503020204020204" pitchFamily="34" charset="-122"/>
            </a:endParaRPr>
          </a:p>
          <a:p>
            <a:r>
              <a:rPr kumimoji="1" lang="zh-CN" altLang="en-US" sz="1100" dirty="0">
                <a:solidFill>
                  <a:srgbClr val="0A3760"/>
                </a:solidFill>
                <a:latin typeface="Microsoft YaHei" panose="020B0503020204020204" pitchFamily="34" charset="-122"/>
                <a:ea typeface="Microsoft YaHei" panose="020B0503020204020204" pitchFamily="34" charset="-122"/>
              </a:rPr>
              <a:t>传统 </a:t>
            </a:r>
            <a:r>
              <a:rPr kumimoji="1" lang="en-US" altLang="zh-CN" sz="1100" dirty="0" err="1">
                <a:solidFill>
                  <a:srgbClr val="0A3760"/>
                </a:solidFill>
                <a:latin typeface="Microsoft YaHei" panose="020B0503020204020204" pitchFamily="34" charset="-122"/>
                <a:ea typeface="Microsoft YaHei" panose="020B0503020204020204" pitchFamily="34" charset="-122"/>
              </a:rPr>
              <a:t>IoU</a:t>
            </a:r>
            <a:r>
              <a:rPr kumimoji="1" lang="en-US" altLang="zh-CN" sz="1100" dirty="0">
                <a:solidFill>
                  <a:srgbClr val="0A3760"/>
                </a:solidFill>
                <a:latin typeface="Microsoft YaHei" panose="020B0503020204020204" pitchFamily="34" charset="-122"/>
                <a:ea typeface="Microsoft YaHei" panose="020B0503020204020204" pitchFamily="34" charset="-122"/>
              </a:rPr>
              <a:t> </a:t>
            </a:r>
            <a:r>
              <a:rPr kumimoji="1" lang="zh-CN" altLang="en-US" sz="1100" dirty="0">
                <a:solidFill>
                  <a:srgbClr val="0A3760"/>
                </a:solidFill>
                <a:latin typeface="Microsoft YaHei" panose="020B0503020204020204" pitchFamily="34" charset="-122"/>
                <a:ea typeface="Microsoft YaHei" panose="020B0503020204020204" pitchFamily="34" charset="-122"/>
              </a:rPr>
              <a:t>机制对“嵌套目标 </a:t>
            </a:r>
            <a:r>
              <a:rPr kumimoji="1" lang="en-US" altLang="zh-CN" sz="1100" dirty="0">
                <a:solidFill>
                  <a:srgbClr val="0A3760"/>
                </a:solidFill>
                <a:latin typeface="Microsoft YaHei" panose="020B0503020204020204" pitchFamily="34" charset="-122"/>
                <a:ea typeface="Microsoft YaHei" panose="020B0503020204020204" pitchFamily="34" charset="-122"/>
              </a:rPr>
              <a:t>”</a:t>
            </a:r>
            <a:r>
              <a:rPr kumimoji="1" lang="zh-CN" altLang="en-US" sz="1100" dirty="0">
                <a:solidFill>
                  <a:srgbClr val="0A3760"/>
                </a:solidFill>
                <a:latin typeface="Microsoft YaHei" panose="020B0503020204020204" pitchFamily="34" charset="-122"/>
                <a:ea typeface="Microsoft YaHei" panose="020B0503020204020204" pitchFamily="34" charset="-122"/>
              </a:rPr>
              <a:t>不敏感</a:t>
            </a:r>
            <a:r>
              <a:rPr kumimoji="1" lang="en-US" altLang="zh-CN" sz="1100" dirty="0">
                <a:solidFill>
                  <a:srgbClr val="0A3760"/>
                </a:solidFill>
                <a:latin typeface="Microsoft YaHei" panose="020B0503020204020204" pitchFamily="34" charset="-122"/>
                <a:ea typeface="Microsoft YaHei" panose="020B0503020204020204" pitchFamily="34" charset="-122"/>
              </a:rPr>
              <a:t>——</a:t>
            </a:r>
            <a:r>
              <a:rPr kumimoji="1" lang="zh-CN" altLang="en-US" sz="1100" dirty="0">
                <a:solidFill>
                  <a:srgbClr val="0A3760"/>
                </a:solidFill>
                <a:latin typeface="Microsoft YaHei" panose="020B0503020204020204" pitchFamily="34" charset="-122"/>
                <a:ea typeface="Microsoft YaHei" panose="020B0503020204020204" pitchFamily="34" charset="-122"/>
              </a:rPr>
              <a:t>当小目标完全被大目标包含时，</a:t>
            </a:r>
            <a:r>
              <a:rPr kumimoji="1" lang="en-US" altLang="zh-CN" sz="1100" dirty="0" err="1">
                <a:solidFill>
                  <a:srgbClr val="0A3760"/>
                </a:solidFill>
                <a:latin typeface="Microsoft YaHei" panose="020B0503020204020204" pitchFamily="34" charset="-122"/>
                <a:ea typeface="Microsoft YaHei" panose="020B0503020204020204" pitchFamily="34" charset="-122"/>
              </a:rPr>
              <a:t>IoU</a:t>
            </a:r>
            <a:r>
              <a:rPr kumimoji="1" lang="en-US" altLang="zh-CN" sz="1100" dirty="0">
                <a:solidFill>
                  <a:srgbClr val="0A3760"/>
                </a:solidFill>
                <a:latin typeface="Microsoft YaHei" panose="020B0503020204020204" pitchFamily="34" charset="-122"/>
                <a:ea typeface="Microsoft YaHei" panose="020B0503020204020204" pitchFamily="34" charset="-122"/>
              </a:rPr>
              <a:t> </a:t>
            </a:r>
            <a:r>
              <a:rPr kumimoji="1" lang="zh-CN" altLang="en-US" sz="1100" dirty="0">
                <a:solidFill>
                  <a:srgbClr val="0A3760"/>
                </a:solidFill>
                <a:latin typeface="Microsoft YaHei" panose="020B0503020204020204" pitchFamily="34" charset="-122"/>
                <a:ea typeface="Microsoft YaHei" panose="020B0503020204020204" pitchFamily="34" charset="-122"/>
              </a:rPr>
              <a:t>极低，导致重复标注。</a:t>
            </a:r>
            <a:endParaRPr kumimoji="1" lang="en-US" altLang="zh-CN" sz="1100" dirty="0">
              <a:solidFill>
                <a:srgbClr val="0A3760"/>
              </a:solidFill>
              <a:latin typeface="Microsoft YaHei" panose="020B0503020204020204" pitchFamily="34" charset="-122"/>
              <a:ea typeface="Microsoft YaHei" panose="020B0503020204020204" pitchFamily="34" charset="-122"/>
            </a:endParaRPr>
          </a:p>
          <a:p>
            <a:r>
              <a:rPr kumimoji="1" lang="zh-CN" altLang="en-US" sz="1100" dirty="0">
                <a:solidFill>
                  <a:srgbClr val="0A3760"/>
                </a:solidFill>
                <a:latin typeface="Microsoft YaHei" panose="020B0503020204020204" pitchFamily="34" charset="-122"/>
                <a:ea typeface="Microsoft YaHei" panose="020B0503020204020204" pitchFamily="34" charset="-122"/>
              </a:rPr>
              <a:t>引入双向包含率 </a:t>
            </a:r>
            <a:r>
              <a:rPr kumimoji="1" lang="en-US" altLang="zh-CN" sz="1100" dirty="0">
                <a:solidFill>
                  <a:srgbClr val="0A3760"/>
                </a:solidFill>
                <a:latin typeface="Microsoft YaHei" panose="020B0503020204020204" pitchFamily="34" charset="-122"/>
                <a:ea typeface="Microsoft YaHei" panose="020B0503020204020204" pitchFamily="34" charset="-122"/>
              </a:rPr>
              <a:t>(Bidirectional </a:t>
            </a:r>
            <a:r>
              <a:rPr kumimoji="1" lang="en-US" altLang="zh-CN" sz="1100" dirty="0" err="1">
                <a:solidFill>
                  <a:srgbClr val="0A3760"/>
                </a:solidFill>
                <a:latin typeface="Microsoft YaHei" panose="020B0503020204020204" pitchFamily="34" charset="-122"/>
                <a:ea typeface="Microsoft YaHei" panose="020B0503020204020204" pitchFamily="34" charset="-122"/>
              </a:rPr>
              <a:t>IoF</a:t>
            </a:r>
            <a:r>
              <a:rPr kumimoji="1" lang="en-US" altLang="zh-CN" sz="1100" dirty="0">
                <a:solidFill>
                  <a:srgbClr val="0A3760"/>
                </a:solidFill>
                <a:latin typeface="Microsoft YaHei" panose="020B0503020204020204" pitchFamily="34" charset="-122"/>
                <a:ea typeface="Microsoft YaHei" panose="020B0503020204020204" pitchFamily="34" charset="-122"/>
              </a:rPr>
              <a:t>) </a:t>
            </a:r>
            <a:r>
              <a:rPr kumimoji="1" lang="zh-CN" altLang="en-US" sz="1100" dirty="0">
                <a:solidFill>
                  <a:srgbClr val="0A3760"/>
                </a:solidFill>
                <a:latin typeface="Microsoft YaHei" panose="020B0503020204020204" pitchFamily="34" charset="-122"/>
                <a:ea typeface="Microsoft YaHei" panose="020B0503020204020204" pitchFamily="34" charset="-122"/>
              </a:rPr>
              <a:t>机制</a:t>
            </a:r>
            <a:endParaRPr kumimoji="1" lang="en-US" altLang="zh-CN" sz="1100" dirty="0">
              <a:solidFill>
                <a:srgbClr val="0A3760"/>
              </a:solidFill>
              <a:latin typeface="Microsoft YaHei" panose="020B0503020204020204" pitchFamily="34" charset="-122"/>
              <a:ea typeface="Microsoft YaHei" panose="020B0503020204020204" pitchFamily="34" charset="-122"/>
            </a:endParaRPr>
          </a:p>
          <a:p>
            <a:r>
              <a:rPr kumimoji="1" lang="en-US" altLang="ja-JP" sz="1100" dirty="0" err="1">
                <a:solidFill>
                  <a:srgbClr val="0A3760"/>
                </a:solidFill>
                <a:latin typeface="Microsoft YaHei" panose="020B0503020204020204" pitchFamily="34" charset="-122"/>
                <a:ea typeface="Microsoft YaHei" panose="020B0503020204020204" pitchFamily="34" charset="-122"/>
              </a:rPr>
              <a:t>IoFmax</a:t>
            </a:r>
            <a:r>
              <a:rPr kumimoji="1" lang="en-US" altLang="ja-JP" sz="1100" dirty="0">
                <a:solidFill>
                  <a:srgbClr val="0A3760"/>
                </a:solidFill>
                <a:latin typeface="Microsoft YaHei" panose="020B0503020204020204" pitchFamily="34" charset="-122"/>
                <a:ea typeface="Microsoft YaHei" panose="020B0503020204020204" pitchFamily="34" charset="-122"/>
              </a:rPr>
              <a:t>​=max(Area(A∩B)/ Area(A) ​, Area(A∩B)​/ Area(B))</a:t>
            </a:r>
            <a:endParaRPr kumimoji="1" lang="ja-JP" altLang="en-US" sz="1100" dirty="0">
              <a:solidFill>
                <a:srgbClr val="0A3760"/>
              </a:solidFill>
              <a:latin typeface="Microsoft YaHei" panose="020B0503020204020204" pitchFamily="34" charset="-122"/>
              <a:ea typeface="Microsoft YaHei" panose="020B0503020204020204" pitchFamily="34" charset="-122"/>
            </a:endParaRPr>
          </a:p>
        </p:txBody>
      </p:sp>
      <p:sp>
        <p:nvSpPr>
          <p:cNvPr id="6" name="AutoShape 4">
            <a:extLst>
              <a:ext uri="{FF2B5EF4-FFF2-40B4-BE49-F238E27FC236}">
                <a16:creationId xmlns:a16="http://schemas.microsoft.com/office/drawing/2014/main" id="{4CF01AB5-A006-38B9-4FFE-72E54D407B3B}"/>
              </a:ext>
            </a:extLst>
          </p:cNvPr>
          <p:cNvSpPr/>
          <p:nvPr/>
        </p:nvSpPr>
        <p:spPr>
          <a:xfrm>
            <a:off x="689609" y="187605"/>
            <a:ext cx="3858895" cy="46263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zh-CN" altLang="en-US" sz="2400" b="1" dirty="0">
                <a:solidFill>
                  <a:srgbClr val="FFFFFF"/>
                </a:solidFill>
                <a:latin typeface="微软雅黑"/>
                <a:ea typeface="微软雅黑"/>
                <a:cs typeface="微软雅黑"/>
                <a:sym typeface="微软雅黑"/>
              </a:rPr>
              <a:t>低预算提示冻结与噪声审计</a:t>
            </a:r>
          </a:p>
          <a:p>
            <a:pPr marL="0" indent="0" algn="just" defTabSz="914400">
              <a:lnSpc>
                <a:spcPct val="100000"/>
              </a:lnSpc>
            </a:pPr>
            <a:endParaRPr lang="en-US" sz="1100" b="0" i="0" u="none" strike="noStrike" dirty="0">
              <a:solidFill>
                <a:srgbClr val="000000"/>
              </a:solidFill>
              <a:latin typeface="等线"/>
              <a:ea typeface="等线"/>
              <a:cs typeface="等线"/>
              <a:sym typeface="等线"/>
            </a:endParaRPr>
          </a:p>
        </p:txBody>
      </p:sp>
    </p:spTree>
    <p:extLst>
      <p:ext uri="{BB962C8B-B14F-4D97-AF65-F5344CB8AC3E}">
        <p14:creationId xmlns:p14="http://schemas.microsoft.com/office/powerpoint/2010/main" val="31061207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DF9236BD-9DE3-1E11-6945-B3A610F4A6C1}"/>
              </a:ext>
            </a:extLst>
          </p:cNvPr>
          <p:cNvGrpSpPr/>
          <p:nvPr/>
        </p:nvGrpSpPr>
        <p:grpSpPr>
          <a:xfrm>
            <a:off x="0" y="132079"/>
            <a:ext cx="8239760" cy="661035"/>
            <a:chOff x="0" y="132079"/>
            <a:chExt cx="8239760" cy="661035"/>
          </a:xfrm>
        </p:grpSpPr>
        <p:sp>
          <p:nvSpPr>
            <p:cNvPr id="2" name="Freeform 2"/>
            <p:cNvSpPr/>
            <p:nvPr/>
          </p:nvSpPr>
          <p:spPr>
            <a:xfrm>
              <a:off x="0" y="132079"/>
              <a:ext cx="7985760" cy="661035"/>
            </a:xfrm>
            <a:custGeom>
              <a:avLst/>
              <a:gdLst/>
              <a:ahLst/>
              <a:cxnLst/>
              <a:rect l="l" t="t" r="r" b="b"/>
              <a:pathLst>
                <a:path w="4435475" h="617220">
                  <a:moveTo>
                    <a:pt x="477655" y="0"/>
                  </a:moveTo>
                  <a:lnTo>
                    <a:pt x="477661" y="0"/>
                  </a:lnTo>
                  <a:lnTo>
                    <a:pt x="3937559" y="0"/>
                  </a:lnTo>
                  <a:lnTo>
                    <a:pt x="3937559" y="1321"/>
                  </a:lnTo>
                  <a:lnTo>
                    <a:pt x="3957820" y="0"/>
                  </a:lnTo>
                  <a:cubicBezTo>
                    <a:pt x="4221622" y="0"/>
                    <a:pt x="4435475" y="138170"/>
                    <a:pt x="4435475" y="308610"/>
                  </a:cubicBezTo>
                  <a:cubicBezTo>
                    <a:pt x="4435475" y="479050"/>
                    <a:pt x="4221622" y="617220"/>
                    <a:pt x="3957820" y="617220"/>
                  </a:cubicBezTo>
                  <a:lnTo>
                    <a:pt x="3937559" y="615900"/>
                  </a:lnTo>
                  <a:lnTo>
                    <a:pt x="3937559" y="617220"/>
                  </a:lnTo>
                  <a:lnTo>
                    <a:pt x="477655" y="617220"/>
                  </a:lnTo>
                  <a:cubicBezTo>
                    <a:pt x="213853" y="617220"/>
                    <a:pt x="0" y="479050"/>
                    <a:pt x="0" y="308610"/>
                  </a:cubicBezTo>
                  <a:cubicBezTo>
                    <a:pt x="0" y="138170"/>
                    <a:pt x="213853" y="0"/>
                    <a:pt x="477655"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3" name="Picture 3"/>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sp>
          <p:nvSpPr>
            <p:cNvPr id="4" name="AutoShape 4"/>
            <p:cNvSpPr/>
            <p:nvPr/>
          </p:nvSpPr>
          <p:spPr>
            <a:xfrm>
              <a:off x="781050" y="245745"/>
              <a:ext cx="7458710"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zh-CN" altLang="en-US" sz="2400" b="1" i="0" u="none" strike="noStrike" dirty="0">
                  <a:solidFill>
                    <a:srgbClr val="FFFFFF"/>
                  </a:solidFill>
                  <a:latin typeface="微软雅黑"/>
                  <a:ea typeface="微软雅黑"/>
                  <a:cs typeface="微软雅黑"/>
                  <a:sym typeface="微软雅黑"/>
                </a:rPr>
                <a:t>标注成本独立核算与跨尺度情景 </a:t>
              </a:r>
              <a:r>
                <a:rPr lang="en-US" altLang="zh-CN" sz="2400" b="1" i="0" u="none" strike="noStrike" dirty="0">
                  <a:solidFill>
                    <a:srgbClr val="FFFFFF"/>
                  </a:solidFill>
                  <a:latin typeface="微软雅黑"/>
                  <a:ea typeface="微软雅黑"/>
                  <a:cs typeface="微软雅黑"/>
                  <a:sym typeface="微软雅黑"/>
                </a:rPr>
                <a:t>Pareto </a:t>
              </a:r>
              <a:r>
                <a:rPr lang="zh-CN" altLang="en-US" sz="2400" b="1" i="0" u="none" strike="noStrike" dirty="0">
                  <a:solidFill>
                    <a:srgbClr val="FFFFFF"/>
                  </a:solidFill>
                  <a:latin typeface="微软雅黑"/>
                  <a:ea typeface="微软雅黑"/>
                  <a:cs typeface="微软雅黑"/>
                  <a:sym typeface="微软雅黑"/>
                </a:rPr>
                <a:t>选型矩阵</a:t>
              </a:r>
            </a:p>
          </p:txBody>
        </p:sp>
      </p:grpSp>
      <p:sp>
        <p:nvSpPr>
          <p:cNvPr id="5" name="AutoShape 5"/>
          <p:cNvSpPr/>
          <p:nvPr/>
        </p:nvSpPr>
        <p:spPr>
          <a:xfrm>
            <a:off x="889000" y="1435100"/>
            <a:ext cx="10414000" cy="8890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2000" b="1" i="0" u="none" strike="noStrike" dirty="0" err="1">
                <a:solidFill>
                  <a:srgbClr val="FFFFFF"/>
                </a:solidFill>
                <a:latin typeface="Times New Roman"/>
                <a:ea typeface="Times New Roman"/>
                <a:cs typeface="Times New Roman"/>
                <a:sym typeface="Times New Roman"/>
              </a:rPr>
              <a:t>C_total</a:t>
            </a:r>
            <a:r>
              <a:rPr lang="en-US" sz="2000" b="1" i="0" u="none" strike="noStrike" dirty="0">
                <a:solidFill>
                  <a:srgbClr val="FFFFFF"/>
                </a:solidFill>
                <a:latin typeface="Times New Roman"/>
                <a:ea typeface="Times New Roman"/>
                <a:cs typeface="Times New Roman"/>
                <a:sym typeface="Times New Roman"/>
              </a:rPr>
              <a:t> = </a:t>
            </a:r>
            <a:r>
              <a:rPr lang="en-US" sz="2000" b="1" i="0" u="none" strike="noStrike" dirty="0" err="1">
                <a:solidFill>
                  <a:srgbClr val="FFFFFF"/>
                </a:solidFill>
                <a:latin typeface="Times New Roman"/>
                <a:ea typeface="Times New Roman"/>
                <a:cs typeface="Times New Roman"/>
                <a:sym typeface="Times New Roman"/>
              </a:rPr>
              <a:t>p_GPU</a:t>
            </a:r>
            <a:r>
              <a:rPr lang="en-US" sz="2000" b="1" i="0" u="none" strike="noStrike" dirty="0">
                <a:solidFill>
                  <a:srgbClr val="FFFFFF"/>
                </a:solidFill>
                <a:latin typeface="Times New Roman"/>
                <a:ea typeface="Times New Roman"/>
                <a:cs typeface="Times New Roman"/>
                <a:sym typeface="Times New Roman"/>
              </a:rPr>
              <a:t> · </a:t>
            </a:r>
            <a:r>
              <a:rPr lang="en-US" sz="2000" b="1" i="0" u="none" strike="noStrike" dirty="0" err="1">
                <a:solidFill>
                  <a:srgbClr val="FFFFFF"/>
                </a:solidFill>
                <a:latin typeface="Times New Roman"/>
                <a:ea typeface="Times New Roman"/>
                <a:cs typeface="Times New Roman"/>
                <a:sym typeface="Times New Roman"/>
              </a:rPr>
              <a:t>t_infer</a:t>
            </a:r>
            <a:r>
              <a:rPr lang="en-US" sz="2000" b="1" i="0" u="none" strike="noStrike" dirty="0">
                <a:solidFill>
                  <a:srgbClr val="FFFFFF"/>
                </a:solidFill>
                <a:latin typeface="Times New Roman"/>
                <a:ea typeface="Times New Roman"/>
                <a:cs typeface="Times New Roman"/>
                <a:sym typeface="Times New Roman"/>
              </a:rPr>
              <a:t> + </a:t>
            </a:r>
            <a:r>
              <a:rPr lang="en-US" sz="2000" b="1" i="0" u="none" strike="noStrike" dirty="0" err="1">
                <a:solidFill>
                  <a:srgbClr val="FFFFFF"/>
                </a:solidFill>
                <a:latin typeface="Times New Roman"/>
                <a:ea typeface="Times New Roman"/>
                <a:cs typeface="Times New Roman"/>
                <a:sym typeface="Times New Roman"/>
              </a:rPr>
              <a:t>p_labor</a:t>
            </a:r>
            <a:r>
              <a:rPr lang="en-US" sz="2000" b="1" i="0" u="none" strike="noStrike" dirty="0">
                <a:solidFill>
                  <a:srgbClr val="FFFFFF"/>
                </a:solidFill>
                <a:latin typeface="Times New Roman"/>
                <a:ea typeface="Times New Roman"/>
                <a:cs typeface="Times New Roman"/>
                <a:sym typeface="Times New Roman"/>
              </a:rPr>
              <a:t> · </a:t>
            </a:r>
            <a:r>
              <a:rPr lang="en-US" sz="2000" b="1" i="0" u="none" strike="noStrike" dirty="0" err="1">
                <a:solidFill>
                  <a:srgbClr val="FFFFFF"/>
                </a:solidFill>
                <a:latin typeface="Times New Roman"/>
                <a:ea typeface="Times New Roman"/>
                <a:cs typeface="Times New Roman"/>
                <a:sym typeface="Times New Roman"/>
              </a:rPr>
              <a:t>t_labor</a:t>
            </a:r>
            <a:r>
              <a:rPr lang="en-US" sz="2000" b="1" i="0" u="none" strike="noStrike" dirty="0">
                <a:solidFill>
                  <a:srgbClr val="FFFFFF"/>
                </a:solidFill>
                <a:latin typeface="Times New Roman"/>
                <a:ea typeface="Times New Roman"/>
                <a:cs typeface="Times New Roman"/>
                <a:sym typeface="Times New Roman"/>
              </a:rPr>
              <a:t> + </a:t>
            </a:r>
            <a:r>
              <a:rPr lang="en-US" sz="2000" b="1" i="0" u="none" strike="noStrike" dirty="0" err="1">
                <a:solidFill>
                  <a:srgbClr val="FFFFFF"/>
                </a:solidFill>
                <a:latin typeface="Times New Roman"/>
                <a:ea typeface="Times New Roman"/>
                <a:cs typeface="Times New Roman"/>
                <a:sym typeface="Times New Roman"/>
              </a:rPr>
              <a:t>C_mgmt</a:t>
            </a:r>
            <a:endParaRPr lang="en-US" sz="1100" dirty="0"/>
          </a:p>
        </p:txBody>
      </p:sp>
      <p:sp>
        <p:nvSpPr>
          <p:cNvPr id="6" name="AutoShape 6"/>
          <p:cNvSpPr/>
          <p:nvPr/>
        </p:nvSpPr>
        <p:spPr>
          <a:xfrm>
            <a:off x="889000" y="2476500"/>
            <a:ext cx="10414000" cy="838200"/>
          </a:xfrm>
          <a:prstGeom prst="roundRect">
            <a:avLst>
              <a:gd name="adj" fmla="val 0"/>
            </a:avLst>
          </a:prstGeom>
          <a:solidFill>
            <a:srgbClr val="F5F8FB">
              <a:alpha val="100000"/>
            </a:srgbClr>
          </a:solidFill>
          <a:ln w="12700" cap="flat" cmpd="sng">
            <a:solidFill>
              <a:srgbClr val="0A3760">
                <a:alpha val="100000"/>
              </a:srgbClr>
            </a:solidFill>
            <a:prstDash val="solid"/>
            <a:miter lim="1000000"/>
          </a:ln>
        </p:spPr>
        <p:txBody>
          <a:bodyPr vert="horz" wrap="square" lIns="177800" tIns="0" rIns="177800" bIns="0" rtlCol="0" anchor="ctr">
            <a:noAutofit/>
          </a:bodyPr>
          <a:lstStyle/>
          <a:p>
            <a:pPr marL="0" indent="0" algn="l" defTabSz="914400">
              <a:lnSpc>
                <a:spcPct val="116666"/>
              </a:lnSpc>
              <a:defRPr/>
            </a:pPr>
            <a:r>
              <a:rPr lang="en-US" sz="1400" b="1" i="0" u="none" strike="noStrike">
                <a:solidFill>
                  <a:srgbClr val="0A3760"/>
                </a:solidFill>
                <a:latin typeface="微软雅黑"/>
                <a:ea typeface="微软雅黑"/>
                <a:cs typeface="微软雅黑"/>
                <a:sym typeface="微软雅黑"/>
              </a:rPr>
              <a:t>● 纯人工基准：</a:t>
            </a:r>
            <a:r>
              <a:rPr lang="en-US" sz="1300" b="0" i="0" u="none" strike="noStrike">
                <a:solidFill>
                  <a:srgbClr val="141E28"/>
                </a:solidFill>
                <a:latin typeface="微软雅黑"/>
                <a:ea typeface="微软雅黑"/>
                <a:cs typeface="微软雅黑"/>
                <a:sym typeface="微软雅黑"/>
              </a:rPr>
              <a:t>单框综合成本（含标注与质检返工）0.5 元/框；火/烟约 3 目标/张 → 单张全量人工约 1.5 元。</a:t>
            </a:r>
            <a:endParaRPr lang="en-US" sz="1100"/>
          </a:p>
        </p:txBody>
      </p:sp>
      <p:sp>
        <p:nvSpPr>
          <p:cNvPr id="7" name="AutoShape 7"/>
          <p:cNvSpPr/>
          <p:nvPr/>
        </p:nvSpPr>
        <p:spPr>
          <a:xfrm>
            <a:off x="889000" y="3467100"/>
            <a:ext cx="10414000" cy="838200"/>
          </a:xfrm>
          <a:prstGeom prst="roundRect">
            <a:avLst>
              <a:gd name="adj" fmla="val 0"/>
            </a:avLst>
          </a:prstGeom>
          <a:solidFill>
            <a:srgbClr val="F5F8FB">
              <a:alpha val="100000"/>
            </a:srgbClr>
          </a:solidFill>
          <a:ln w="12700" cap="flat" cmpd="sng">
            <a:solidFill>
              <a:srgbClr val="0A3760">
                <a:alpha val="100000"/>
              </a:srgbClr>
            </a:solidFill>
            <a:prstDash val="solid"/>
            <a:miter lim="1000000"/>
          </a:ln>
        </p:spPr>
        <p:txBody>
          <a:bodyPr vert="horz" wrap="square" lIns="177800" tIns="0" rIns="177800" bIns="0" rtlCol="0" anchor="ctr">
            <a:noAutofit/>
          </a:bodyPr>
          <a:lstStyle/>
          <a:p>
            <a:pPr marL="0" indent="0" algn="l" defTabSz="914400">
              <a:lnSpc>
                <a:spcPct val="116666"/>
              </a:lnSpc>
              <a:defRPr/>
            </a:pPr>
            <a:r>
              <a:rPr lang="en-US" sz="1400" b="1" i="0" u="none" strike="noStrike">
                <a:solidFill>
                  <a:srgbClr val="0A3760"/>
                </a:solidFill>
                <a:latin typeface="微软雅黑"/>
                <a:ea typeface="微软雅黑"/>
                <a:cs typeface="微软雅黑"/>
                <a:sym typeface="微软雅黑"/>
              </a:rPr>
              <a:t>● 自动化算力：</a:t>
            </a:r>
            <a:r>
              <a:rPr lang="en-US" sz="1300" b="0" i="0" u="none" strike="noStrike">
                <a:solidFill>
                  <a:srgbClr val="141E28"/>
                </a:solidFill>
                <a:latin typeface="微软雅黑"/>
                <a:ea typeface="微软雅黑"/>
                <a:cs typeface="微软雅黑"/>
                <a:sym typeface="微软雅黑"/>
              </a:rPr>
              <a:t>AutoDL RTX 4090(24G) 按需约 2.0 元/小时；实测吞吐约 9000 张/小时。</a:t>
            </a:r>
            <a:endParaRPr lang="en-US" sz="1100"/>
          </a:p>
        </p:txBody>
      </p:sp>
      <p:sp>
        <p:nvSpPr>
          <p:cNvPr id="8" name="AutoShape 8"/>
          <p:cNvSpPr/>
          <p:nvPr/>
        </p:nvSpPr>
        <p:spPr>
          <a:xfrm>
            <a:off x="889000" y="4457700"/>
            <a:ext cx="10414000" cy="838200"/>
          </a:xfrm>
          <a:prstGeom prst="roundRect">
            <a:avLst>
              <a:gd name="adj" fmla="val 0"/>
            </a:avLst>
          </a:prstGeom>
          <a:solidFill>
            <a:srgbClr val="F5F8FB">
              <a:alpha val="100000"/>
            </a:srgbClr>
          </a:solidFill>
          <a:ln w="12700" cap="flat" cmpd="sng">
            <a:solidFill>
              <a:srgbClr val="0A3760">
                <a:alpha val="100000"/>
              </a:srgbClr>
            </a:solidFill>
            <a:prstDash val="solid"/>
            <a:miter lim="1000000"/>
          </a:ln>
        </p:spPr>
        <p:txBody>
          <a:bodyPr vert="horz" wrap="square" lIns="177800" tIns="0" rIns="177800" bIns="0" rtlCol="0" anchor="ctr" anchorCtr="0"/>
          <a:lstStyle/>
          <a:p>
            <a:pPr marL="0" indent="0" algn="l" defTabSz="914400">
              <a:lnSpc>
                <a:spcPct val="116666"/>
              </a:lnSpc>
              <a:defRPr/>
            </a:pPr>
            <a:r>
              <a:rPr lang="en-US" sz="1400" b="1" i="0" u="none" strike="noStrike" dirty="0">
                <a:solidFill>
                  <a:srgbClr val="0A3760"/>
                </a:solidFill>
                <a:latin typeface="微软雅黑"/>
                <a:ea typeface="微软雅黑"/>
                <a:cs typeface="微软雅黑"/>
                <a:sym typeface="微软雅黑"/>
              </a:rPr>
              <a:t>● </a:t>
            </a:r>
            <a:r>
              <a:rPr lang="en-US" sz="1400" b="1" i="0" u="none" strike="noStrike" dirty="0" err="1">
                <a:solidFill>
                  <a:srgbClr val="0A3760"/>
                </a:solidFill>
                <a:latin typeface="微软雅黑"/>
                <a:ea typeface="微软雅黑"/>
                <a:cs typeface="微软雅黑"/>
                <a:sym typeface="微软雅黑"/>
              </a:rPr>
              <a:t>人工抽检：</a:t>
            </a:r>
            <a:r>
              <a:rPr lang="en-US" sz="1300" b="0" i="0" u="none" strike="noStrike" dirty="0" err="1">
                <a:solidFill>
                  <a:srgbClr val="141E28"/>
                </a:solidFill>
                <a:latin typeface="微软雅黑"/>
                <a:ea typeface="微软雅黑"/>
                <a:cs typeface="微软雅黑"/>
                <a:sym typeface="微软雅黑"/>
              </a:rPr>
              <a:t>熟练标注</a:t>
            </a:r>
            <a:r>
              <a:rPr lang="en-US" sz="1300" b="0" i="0" u="none" strike="noStrike" dirty="0">
                <a:solidFill>
                  <a:srgbClr val="141E28"/>
                </a:solidFill>
                <a:latin typeface="微软雅黑"/>
                <a:ea typeface="微软雅黑"/>
                <a:cs typeface="微软雅黑"/>
                <a:sym typeface="微软雅黑"/>
              </a:rPr>
              <a:t> 40 元/</a:t>
            </a:r>
            <a:r>
              <a:rPr lang="en-US" sz="1300" b="0" i="0" u="none" strike="noStrike" dirty="0" err="1">
                <a:solidFill>
                  <a:srgbClr val="141E28"/>
                </a:solidFill>
                <a:latin typeface="微软雅黑"/>
                <a:ea typeface="微软雅黑"/>
                <a:cs typeface="微软雅黑"/>
                <a:sym typeface="微软雅黑"/>
              </a:rPr>
              <a:t>小时，审核约</a:t>
            </a:r>
            <a:r>
              <a:rPr lang="en-US" sz="1300" b="0" i="0" u="none" strike="noStrike" dirty="0">
                <a:solidFill>
                  <a:srgbClr val="141E28"/>
                </a:solidFill>
                <a:latin typeface="微软雅黑"/>
                <a:ea typeface="微软雅黑"/>
                <a:cs typeface="微软雅黑"/>
                <a:sym typeface="微软雅黑"/>
              </a:rPr>
              <a:t> 200 张/</a:t>
            </a:r>
            <a:r>
              <a:rPr lang="en-US" sz="1300" b="0" i="0" u="none" strike="noStrike" dirty="0" err="1">
                <a:solidFill>
                  <a:srgbClr val="141E28"/>
                </a:solidFill>
                <a:latin typeface="微软雅黑"/>
                <a:ea typeface="微软雅黑"/>
                <a:cs typeface="微软雅黑"/>
                <a:sym typeface="微软雅黑"/>
              </a:rPr>
              <a:t>小时</a:t>
            </a:r>
            <a:r>
              <a:rPr lang="en-US" sz="1300" b="0" i="0" u="none" strike="noStrike" dirty="0">
                <a:solidFill>
                  <a:srgbClr val="141E28"/>
                </a:solidFill>
                <a:latin typeface="微软雅黑"/>
                <a:ea typeface="微软雅黑"/>
                <a:cs typeface="微软雅黑"/>
                <a:sym typeface="微软雅黑"/>
              </a:rPr>
              <a:t> → </a:t>
            </a:r>
            <a:r>
              <a:rPr lang="en-US" sz="1300" b="0" i="0" u="none" strike="noStrike" dirty="0" err="1">
                <a:solidFill>
                  <a:srgbClr val="141E28"/>
                </a:solidFill>
                <a:latin typeface="微软雅黑"/>
                <a:ea typeface="微软雅黑"/>
                <a:cs typeface="微软雅黑"/>
                <a:sym typeface="微软雅黑"/>
              </a:rPr>
              <a:t>单图审核人工约</a:t>
            </a:r>
            <a:r>
              <a:rPr lang="en-US" sz="1300" b="0" i="0" u="none" strike="noStrike" dirty="0">
                <a:solidFill>
                  <a:srgbClr val="141E28"/>
                </a:solidFill>
                <a:latin typeface="微软雅黑"/>
                <a:ea typeface="微软雅黑"/>
                <a:cs typeface="微软雅黑"/>
                <a:sym typeface="微软雅黑"/>
              </a:rPr>
              <a:t> 0.2 </a:t>
            </a:r>
            <a:r>
              <a:rPr lang="en-US" sz="1300" b="0" i="0" u="none" strike="noStrike" dirty="0" err="1">
                <a:solidFill>
                  <a:srgbClr val="141E28"/>
                </a:solidFill>
                <a:latin typeface="微软雅黑"/>
                <a:ea typeface="微软雅黑"/>
                <a:cs typeface="微软雅黑"/>
                <a:sym typeface="微软雅黑"/>
              </a:rPr>
              <a:t>元（按被审核图像口径，不等于计入启动、推理与返工后的自动化总成本</a:t>
            </a:r>
            <a:r>
              <a:rPr lang="en-US" sz="1300" b="0" i="0" u="none" strike="noStrike" dirty="0">
                <a:solidFill>
                  <a:srgbClr val="141E28"/>
                </a:solidFill>
                <a:latin typeface="微软雅黑"/>
                <a:ea typeface="微软雅黑"/>
                <a:cs typeface="微软雅黑"/>
                <a:sym typeface="微软雅黑"/>
              </a:rPr>
              <a:t>）。</a:t>
            </a:r>
            <a:endParaRPr lang="en-US" sz="1100" dirty="0"/>
          </a:p>
        </p:txBody>
      </p:sp>
      <p:sp>
        <p:nvSpPr>
          <p:cNvPr id="9" name="AutoShape 9"/>
          <p:cNvSpPr/>
          <p:nvPr/>
        </p:nvSpPr>
        <p:spPr>
          <a:xfrm>
            <a:off x="889000" y="5448300"/>
            <a:ext cx="10414000" cy="838200"/>
          </a:xfrm>
          <a:prstGeom prst="roundRect">
            <a:avLst>
              <a:gd name="adj" fmla="val 0"/>
            </a:avLst>
          </a:prstGeom>
          <a:solidFill>
            <a:srgbClr val="F5F8FB">
              <a:alpha val="100000"/>
            </a:srgbClr>
          </a:solidFill>
          <a:ln w="12700" cap="flat" cmpd="sng">
            <a:solidFill>
              <a:srgbClr val="0A3760">
                <a:alpha val="100000"/>
              </a:srgbClr>
            </a:solidFill>
            <a:prstDash val="solid"/>
            <a:miter lim="1000000"/>
          </a:ln>
        </p:spPr>
        <p:txBody>
          <a:bodyPr vert="horz" wrap="square" lIns="177800" tIns="0" rIns="177800" bIns="0" rtlCol="0" anchor="ctr">
            <a:noAutofit/>
          </a:bodyPr>
          <a:lstStyle/>
          <a:p>
            <a:pPr marL="0" indent="0" algn="l" defTabSz="914400">
              <a:lnSpc>
                <a:spcPct val="116666"/>
              </a:lnSpc>
              <a:defRPr/>
            </a:pPr>
            <a:r>
              <a:rPr lang="en-US" sz="1400" b="1" i="0" u="none" strike="noStrike" dirty="0">
                <a:solidFill>
                  <a:srgbClr val="0A3760"/>
                </a:solidFill>
                <a:latin typeface="微软雅黑"/>
                <a:ea typeface="微软雅黑"/>
                <a:cs typeface="微软雅黑"/>
                <a:sym typeface="微软雅黑"/>
              </a:rPr>
              <a:t>● </a:t>
            </a:r>
            <a:r>
              <a:rPr lang="en-US" sz="1400" b="1" i="0" u="none" strike="noStrike" dirty="0" err="1">
                <a:solidFill>
                  <a:srgbClr val="0A3760"/>
                </a:solidFill>
                <a:latin typeface="微软雅黑"/>
                <a:ea typeface="微软雅黑"/>
                <a:cs typeface="微软雅黑"/>
                <a:sym typeface="微软雅黑"/>
              </a:rPr>
              <a:t>规模与敏感性：</a:t>
            </a:r>
            <a:r>
              <a:rPr lang="en-US" sz="1300" b="0" i="0" u="none" strike="noStrike" dirty="0" err="1">
                <a:solidFill>
                  <a:srgbClr val="141E28"/>
                </a:solidFill>
                <a:latin typeface="微软雅黑"/>
                <a:ea typeface="微软雅黑"/>
                <a:cs typeface="微软雅黑"/>
                <a:sym typeface="微软雅黑"/>
              </a:rPr>
              <a:t>按</a:t>
            </a:r>
            <a:r>
              <a:rPr lang="en-US" sz="1300" b="0" i="0" u="none" strike="noStrike" dirty="0">
                <a:solidFill>
                  <a:srgbClr val="141E28"/>
                </a:solidFill>
                <a:latin typeface="微软雅黑"/>
                <a:ea typeface="微软雅黑"/>
                <a:cs typeface="微软雅黑"/>
                <a:sym typeface="微软雅黑"/>
              </a:rPr>
              <a:t> 1k / 10k / 100k </a:t>
            </a:r>
            <a:r>
              <a:rPr lang="en-US" sz="1300" b="0" i="0" u="none" strike="noStrike" dirty="0" err="1">
                <a:solidFill>
                  <a:srgbClr val="141E28"/>
                </a:solidFill>
                <a:latin typeface="微软雅黑"/>
                <a:ea typeface="微软雅黑"/>
                <a:cs typeface="微软雅黑"/>
                <a:sym typeface="微软雅黑"/>
              </a:rPr>
              <a:t>测算</a:t>
            </a:r>
            <a:r>
              <a:rPr lang="en-US" sz="1300" b="0" i="0" u="none" strike="noStrike" dirty="0">
                <a:solidFill>
                  <a:srgbClr val="141E28"/>
                </a:solidFill>
                <a:latin typeface="微软雅黑"/>
                <a:ea typeface="微软雅黑"/>
                <a:cs typeface="微软雅黑"/>
                <a:sym typeface="微软雅黑"/>
              </a:rPr>
              <a:t> GPU </a:t>
            </a:r>
            <a:r>
              <a:rPr lang="en-US" sz="1300" b="0" i="0" u="none" strike="noStrike" dirty="0" err="1">
                <a:solidFill>
                  <a:srgbClr val="141E28"/>
                </a:solidFill>
                <a:latin typeface="微软雅黑"/>
                <a:ea typeface="微软雅黑"/>
                <a:cs typeface="微软雅黑"/>
                <a:sym typeface="微软雅黑"/>
              </a:rPr>
              <a:t>机时、人工工时与交付周期；变动算力单价（闲时折扣）与人工成本，检验</a:t>
            </a:r>
            <a:r>
              <a:rPr lang="en-US" sz="1300" b="0" i="0" u="none" strike="noStrike" dirty="0">
                <a:solidFill>
                  <a:srgbClr val="141E28"/>
                </a:solidFill>
                <a:latin typeface="微软雅黑"/>
                <a:ea typeface="微软雅黑"/>
                <a:cs typeface="微软雅黑"/>
                <a:sym typeface="微软雅黑"/>
              </a:rPr>
              <a:t> Pareto </a:t>
            </a:r>
            <a:r>
              <a:rPr lang="en-US" sz="1300" b="0" i="0" u="none" strike="noStrike" dirty="0" err="1">
                <a:solidFill>
                  <a:srgbClr val="141E28"/>
                </a:solidFill>
                <a:latin typeface="微软雅黑"/>
                <a:ea typeface="微软雅黑"/>
                <a:cs typeface="微软雅黑"/>
                <a:sym typeface="微软雅黑"/>
              </a:rPr>
              <a:t>选型是否稳定</a:t>
            </a:r>
            <a:r>
              <a:rPr lang="en-US" sz="1300" b="0" i="0" u="none" strike="noStrike" dirty="0">
                <a:solidFill>
                  <a:srgbClr val="141E28"/>
                </a:solidFill>
                <a:latin typeface="微软雅黑"/>
                <a:ea typeface="微软雅黑"/>
                <a:cs typeface="微软雅黑"/>
                <a:sym typeface="微软雅黑"/>
              </a:rPr>
              <a:t>。</a:t>
            </a:r>
            <a:endParaRPr lang="en-US" sz="1100" dirty="0"/>
          </a:p>
        </p:txBody>
      </p:sp>
      <p:sp>
        <p:nvSpPr>
          <p:cNvPr id="11" name="AutoShape 7">
            <a:extLst>
              <a:ext uri="{FF2B5EF4-FFF2-40B4-BE49-F238E27FC236}">
                <a16:creationId xmlns:a16="http://schemas.microsoft.com/office/drawing/2014/main" id="{736F809A-4FED-CEFF-734E-2C311EAB3A03}"/>
              </a:ext>
            </a:extLst>
          </p:cNvPr>
          <p:cNvSpPr/>
          <p:nvPr/>
        </p:nvSpPr>
        <p:spPr>
          <a:xfrm>
            <a:off x="889000" y="985799"/>
            <a:ext cx="5455772" cy="343610"/>
          </a:xfrm>
          <a:prstGeom prst="roundRect">
            <a:avLst>
              <a:gd name="adj" fmla="val 25000"/>
            </a:avLst>
          </a:prstGeom>
          <a:ln>
            <a:solidFill>
              <a:srgbClr val="0A3760"/>
            </a:solidFill>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rtlCol="0" anchor="ctr">
            <a:noAutofit/>
          </a:bodyPr>
          <a:lstStyle/>
          <a:p>
            <a:pPr algn="ctr">
              <a:lnSpc>
                <a:spcPct val="108333"/>
              </a:lnSpc>
              <a:defRPr/>
            </a:pPr>
            <a:r>
              <a:rPr lang="zh-CN" altLang="en-US" b="1" dirty="0">
                <a:solidFill>
                  <a:srgbClr val="0A3760"/>
                </a:solidFill>
                <a:latin typeface="微软雅黑"/>
                <a:ea typeface="微软雅黑"/>
                <a:cs typeface="微软雅黑"/>
                <a:sym typeface="微软雅黑"/>
              </a:rPr>
              <a:t>标签制备成本核算</a:t>
            </a:r>
            <a:endParaRPr lang="en-US" b="0" i="0" u="none" strike="noStrike" dirty="0">
              <a:solidFill>
                <a:srgbClr val="0A3760"/>
              </a:solidFill>
              <a:latin typeface="微软雅黑"/>
              <a:ea typeface="微软雅黑"/>
              <a:cs typeface="微软雅黑"/>
              <a:sym typeface="微软雅黑"/>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pic>
        <p:nvPicPr>
          <p:cNvPr id="3" name="Picture 3"/>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graphicFrame>
        <p:nvGraphicFramePr>
          <p:cNvPr id="5" name="Table 5"/>
          <p:cNvGraphicFramePr>
            <a:graphicFrameLocks noGrp="1"/>
          </p:cNvGraphicFramePr>
          <p:nvPr>
            <p:extLst>
              <p:ext uri="{D42A27DB-BD31-4B8C-83A1-F6EECF244321}">
                <p14:modId xmlns:p14="http://schemas.microsoft.com/office/powerpoint/2010/main" val="2997697588"/>
              </p:ext>
            </p:extLst>
          </p:nvPr>
        </p:nvGraphicFramePr>
        <p:xfrm>
          <a:off x="1362635" y="1602335"/>
          <a:ext cx="9233647" cy="5079918"/>
        </p:xfrm>
        <a:graphic>
          <a:graphicData uri="http://schemas.openxmlformats.org/drawingml/2006/table">
            <a:tbl>
              <a:tblPr>
                <a:effectLst/>
              </a:tblPr>
              <a:tblGrid>
                <a:gridCol w="1127852">
                  <a:extLst>
                    <a:ext uri="{9D8B030D-6E8A-4147-A177-3AD203B41FA5}">
                      <a16:colId xmlns:a16="http://schemas.microsoft.com/office/drawing/2014/main" val="20000"/>
                    </a:ext>
                  </a:extLst>
                </a:gridCol>
                <a:gridCol w="1127852">
                  <a:extLst>
                    <a:ext uri="{9D8B030D-6E8A-4147-A177-3AD203B41FA5}">
                      <a16:colId xmlns:a16="http://schemas.microsoft.com/office/drawing/2014/main" val="2855965455"/>
                    </a:ext>
                  </a:extLst>
                </a:gridCol>
                <a:gridCol w="1165844">
                  <a:extLst>
                    <a:ext uri="{9D8B030D-6E8A-4147-A177-3AD203B41FA5}">
                      <a16:colId xmlns:a16="http://schemas.microsoft.com/office/drawing/2014/main" val="20001"/>
                    </a:ext>
                  </a:extLst>
                </a:gridCol>
                <a:gridCol w="1166404">
                  <a:extLst>
                    <a:ext uri="{9D8B030D-6E8A-4147-A177-3AD203B41FA5}">
                      <a16:colId xmlns:a16="http://schemas.microsoft.com/office/drawing/2014/main" val="20002"/>
                    </a:ext>
                  </a:extLst>
                </a:gridCol>
                <a:gridCol w="1176479">
                  <a:extLst>
                    <a:ext uri="{9D8B030D-6E8A-4147-A177-3AD203B41FA5}">
                      <a16:colId xmlns:a16="http://schemas.microsoft.com/office/drawing/2014/main" val="20003"/>
                    </a:ext>
                  </a:extLst>
                </a:gridCol>
                <a:gridCol w="1156330">
                  <a:extLst>
                    <a:ext uri="{9D8B030D-6E8A-4147-A177-3AD203B41FA5}">
                      <a16:colId xmlns:a16="http://schemas.microsoft.com/office/drawing/2014/main" val="20004"/>
                    </a:ext>
                  </a:extLst>
                </a:gridCol>
                <a:gridCol w="1488133">
                  <a:extLst>
                    <a:ext uri="{9D8B030D-6E8A-4147-A177-3AD203B41FA5}">
                      <a16:colId xmlns:a16="http://schemas.microsoft.com/office/drawing/2014/main" val="20005"/>
                    </a:ext>
                  </a:extLst>
                </a:gridCol>
                <a:gridCol w="824753">
                  <a:extLst>
                    <a:ext uri="{9D8B030D-6E8A-4147-A177-3AD203B41FA5}">
                      <a16:colId xmlns:a16="http://schemas.microsoft.com/office/drawing/2014/main" val="20006"/>
                    </a:ext>
                  </a:extLst>
                </a:gridCol>
              </a:tblGrid>
              <a:tr h="813435">
                <a:tc>
                  <a:txBody>
                    <a:bodyPr/>
                    <a:lstStyle/>
                    <a:p>
                      <a:pPr algn="ctr">
                        <a:lnSpc>
                          <a:spcPct val="115000"/>
                        </a:lnSpc>
                        <a:spcAft>
                          <a:spcPts val="1000"/>
                        </a:spcAft>
                      </a:pP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数据规模</a:t>
                      </a:r>
                      <a:endParaRPr lang="ja-JP" sz="18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algn="ctr">
                        <a:lnSpc>
                          <a:spcPct val="115000"/>
                        </a:lnSpc>
                        <a:spcAft>
                          <a:spcPts val="1000"/>
                        </a:spcAft>
                      </a:pP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流程方案</a:t>
                      </a:r>
                      <a:endParaRPr lang="ja-JP" sz="18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algn="ctr">
                        <a:lnSpc>
                          <a:spcPct val="115000"/>
                        </a:lnSpc>
                        <a:spcAft>
                          <a:spcPts val="1000"/>
                        </a:spcAft>
                      </a:pP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GPU</a:t>
                      </a: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推理机时</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 (</a:t>
                      </a: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小时</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algn="ctr">
                        <a:lnSpc>
                          <a:spcPct val="115000"/>
                        </a:lnSpc>
                        <a:spcAft>
                          <a:spcPts val="1000"/>
                        </a:spcAft>
                      </a:pP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算力成本</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 </a:t>
                      </a:r>
                    </a:p>
                    <a:p>
                      <a:pPr algn="ctr">
                        <a:lnSpc>
                          <a:spcPct val="115000"/>
                        </a:lnSpc>
                        <a:spcAft>
                          <a:spcPts val="1000"/>
                        </a:spcAft>
                      </a:pP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a:t>
                      </a: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元</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algn="ctr">
                        <a:lnSpc>
                          <a:spcPct val="115000"/>
                        </a:lnSpc>
                        <a:spcAft>
                          <a:spcPts val="1000"/>
                        </a:spcAft>
                      </a:pP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人工审核</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a:t>
                      </a: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标注成本</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 (</a:t>
                      </a: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元</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algn="ctr">
                        <a:lnSpc>
                          <a:spcPct val="115000"/>
                        </a:lnSpc>
                        <a:spcAft>
                          <a:spcPts val="1000"/>
                        </a:spcAft>
                      </a:pP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纯标注环节总成本</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 (</a:t>
                      </a: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元</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algn="ctr">
                        <a:lnSpc>
                          <a:spcPct val="115000"/>
                        </a:lnSpc>
                        <a:spcAft>
                          <a:spcPts val="1000"/>
                        </a:spcAft>
                      </a:pP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单图边际成本</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 (</a:t>
                      </a: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元</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a:t>
                      </a: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张</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algn="ctr">
                        <a:lnSpc>
                          <a:spcPct val="115000"/>
                        </a:lnSpc>
                        <a:spcAft>
                          <a:spcPts val="1000"/>
                        </a:spcAft>
                      </a:pP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交付周期预估</a:t>
                      </a:r>
                      <a:endParaRPr lang="ja-JP" sz="18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extLst>
                  <a:ext uri="{0D108BD9-81ED-4DB2-BD59-A6C34878D82A}">
                    <a16:rowId xmlns:a16="http://schemas.microsoft.com/office/drawing/2014/main" val="10000"/>
                  </a:ext>
                </a:extLst>
              </a:tr>
              <a:tr h="469004">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N = 1k</a:t>
                      </a:r>
                      <a:b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b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轻量迭代</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b="1"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纯人工标注</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b="1"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b="1"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b="1"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1,500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b="1"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1,500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b="1"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1.50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b="1"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约</a:t>
                      </a:r>
                      <a:r>
                        <a:rPr lang="en-US" sz="1400" b="1"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2 </a:t>
                      </a:r>
                      <a:r>
                        <a:rPr lang="zh-CN" sz="1400" b="1"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天</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10001"/>
                  </a:ext>
                </a:extLst>
              </a:tr>
              <a:tr h="367552">
                <a:tc>
                  <a:txBody>
                    <a:bodyPr/>
                    <a:lstStyle/>
                    <a:p>
                      <a:endParaRPr lang="ja-JP" sz="1200" dirty="0">
                        <a:effectLst/>
                        <a:latin typeface="Microsoft YaHei" panose="020B0503020204020204" pitchFamily="34" charset="-122"/>
                        <a:ea typeface="Microsoft YaHei" panose="020B0503020204020204" pitchFamily="34" charset="-122"/>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V1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单级</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(GD)</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0.11</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0.22</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200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抽检修正</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0.20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约</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0.5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天</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2502039444"/>
                  </a:ext>
                </a:extLst>
              </a:tr>
              <a:tr h="224118">
                <a:tc>
                  <a:txBody>
                    <a:bodyPr/>
                    <a:lstStyle/>
                    <a:p>
                      <a:endParaRPr lang="ja-JP" sz="1200">
                        <a:effectLst/>
                        <a:latin typeface="Microsoft YaHei" panose="020B0503020204020204" pitchFamily="34" charset="-122"/>
                        <a:ea typeface="Microsoft YaHei" panose="020B0503020204020204" pitchFamily="34" charset="-122"/>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GD+SAM3 </a:t>
                      </a:r>
                      <a:r>
                        <a:rPr lang="zh-CN"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级联</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0.22</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0.44</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300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审核补漏</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300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0.30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约</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0.5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天</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1745701679"/>
                  </a:ext>
                </a:extLst>
              </a:tr>
              <a:tr h="430306">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N = 10k</a:t>
                      </a:r>
                      <a:b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b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a:t>
                      </a:r>
                      <a:r>
                        <a:rPr lang="zh-CN"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常规生产</a:t>
                      </a: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纯人工标注</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15,000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15,000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1.50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约</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15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天</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611163008"/>
                  </a:ext>
                </a:extLst>
              </a:tr>
              <a:tr h="251012">
                <a:tc>
                  <a:txBody>
                    <a:bodyPr/>
                    <a:lstStyle/>
                    <a:p>
                      <a:endParaRPr lang="ja-JP" sz="1200">
                        <a:effectLst/>
                        <a:latin typeface="Microsoft YaHei" panose="020B0503020204020204" pitchFamily="34" charset="-122"/>
                        <a:ea typeface="Microsoft YaHei" panose="020B0503020204020204" pitchFamily="34" charset="-122"/>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V1 </a:t>
                      </a:r>
                      <a:r>
                        <a:rPr lang="zh-CN"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单级</a:t>
                      </a: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(GD)</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1.11</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2.22</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2,000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2,002</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0.20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约</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3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天</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4198220878"/>
                  </a:ext>
                </a:extLst>
              </a:tr>
              <a:tr h="322729">
                <a:tc>
                  <a:txBody>
                    <a:bodyPr/>
                    <a:lstStyle/>
                    <a:p>
                      <a:endParaRPr lang="ja-JP" sz="1200">
                        <a:effectLst/>
                        <a:latin typeface="Microsoft YaHei" panose="020B0503020204020204" pitchFamily="34" charset="-122"/>
                        <a:ea typeface="Microsoft YaHei" panose="020B0503020204020204" pitchFamily="34" charset="-122"/>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GD+SAM3 </a:t>
                      </a:r>
                      <a:r>
                        <a:rPr lang="zh-CN"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级联</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2.22</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4.44</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3,000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3,004</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0.30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约</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4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天</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922984461"/>
                  </a:ext>
                </a:extLst>
              </a:tr>
              <a:tr h="421341">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N = 100k</a:t>
                      </a:r>
                      <a:b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b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海量生产</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纯人工标注</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150,000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150,000</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1.50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约</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4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个月</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2673213249"/>
                  </a:ext>
                </a:extLst>
              </a:tr>
              <a:tr h="304800">
                <a:tc>
                  <a:txBody>
                    <a:bodyPr/>
                    <a:lstStyle/>
                    <a:p>
                      <a:endParaRPr lang="ja-JP" sz="1200" dirty="0">
                        <a:effectLst/>
                        <a:latin typeface="Microsoft YaHei" panose="020B0503020204020204" pitchFamily="34" charset="-122"/>
                        <a:ea typeface="Microsoft YaHei" panose="020B0503020204020204" pitchFamily="34" charset="-122"/>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V1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单级</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(GD)</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11.11</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22.22</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20,000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20,022</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0.20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solidFill>
                  </a:tcPr>
                </a:tc>
                <a:tc>
                  <a:txBody>
                    <a:bodyPr/>
                    <a:lstStyle/>
                    <a:p>
                      <a:pPr algn="ctr">
                        <a:lnSpc>
                          <a:spcPct val="115000"/>
                        </a:lnSpc>
                        <a:spcAft>
                          <a:spcPts val="1000"/>
                        </a:spcAft>
                      </a:pP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约</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20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天</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solidFill>
                  </a:tcPr>
                </a:tc>
                <a:extLst>
                  <a:ext uri="{0D108BD9-81ED-4DB2-BD59-A6C34878D82A}">
                    <a16:rowId xmlns:a16="http://schemas.microsoft.com/office/drawing/2014/main" val="10002"/>
                  </a:ext>
                </a:extLst>
              </a:tr>
              <a:tr h="493059">
                <a:tc>
                  <a:txBody>
                    <a:bodyPr/>
                    <a:lstStyle/>
                    <a:p>
                      <a:endParaRPr lang="ja-JP" sz="1200">
                        <a:effectLst/>
                        <a:latin typeface="Microsoft YaHei" panose="020B0503020204020204" pitchFamily="34" charset="-122"/>
                        <a:ea typeface="Microsoft YaHei" panose="020B0503020204020204" pitchFamily="34" charset="-122"/>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GD+SAM3 </a:t>
                      </a:r>
                      <a:r>
                        <a:rPr lang="zh-CN"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级联</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22.22</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44.44</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30,000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30,044</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0.30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约</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25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天</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10003"/>
                  </a:ext>
                </a:extLst>
              </a:tr>
            </a:tbl>
          </a:graphicData>
        </a:graphic>
      </p:graphicFrame>
      <p:sp>
        <p:nvSpPr>
          <p:cNvPr id="8" name="AutoShape 38">
            <a:extLst>
              <a:ext uri="{FF2B5EF4-FFF2-40B4-BE49-F238E27FC236}">
                <a16:creationId xmlns:a16="http://schemas.microsoft.com/office/drawing/2014/main" id="{9AF4BA2F-D139-4475-A227-99B0AD034687}"/>
              </a:ext>
            </a:extLst>
          </p:cNvPr>
          <p:cNvSpPr/>
          <p:nvPr/>
        </p:nvSpPr>
        <p:spPr>
          <a:xfrm>
            <a:off x="1362635" y="1040035"/>
            <a:ext cx="9233647" cy="449263"/>
          </a:xfrm>
          <a:prstGeom prst="roundRect">
            <a:avLst>
              <a:gd name="adj" fmla="val 0"/>
            </a:avLst>
          </a:prstGeom>
          <a:solidFill>
            <a:srgbClr val="F0F5FA">
              <a:alpha val="100000"/>
            </a:srgbClr>
          </a:solidFill>
          <a:ln w="12700" cap="flat" cmpd="sng">
            <a:solidFill>
              <a:srgbClr val="0A3760">
                <a:alpha val="100000"/>
              </a:srgbClr>
            </a:solidFill>
            <a:prstDash val="solid"/>
            <a:miter lim="1000000"/>
          </a:ln>
        </p:spPr>
        <p:txBody>
          <a:bodyPr vert="horz" wrap="square" lIns="152400" tIns="0" rIns="152400" bIns="0" rtlCol="0" anchor="ctr">
            <a:noAutofit/>
          </a:bodyPr>
          <a:lstStyle/>
          <a:p>
            <a:pPr algn="ctr">
              <a:defRPr/>
            </a:pPr>
            <a:r>
              <a:rPr lang="zh-CN" altLang="en-US" sz="1300" b="1" dirty="0">
                <a:solidFill>
                  <a:srgbClr val="0A3760"/>
                </a:solidFill>
                <a:latin typeface="微软雅黑"/>
                <a:ea typeface="微软雅黑"/>
                <a:cs typeface="微软雅黑"/>
                <a:sym typeface="微软雅黑"/>
              </a:rPr>
              <a:t>不同数据规模下标签生产流程成本与周期推演表（基于实测吞吐率与行业基准）</a:t>
            </a:r>
          </a:p>
        </p:txBody>
      </p:sp>
      <p:grpSp>
        <p:nvGrpSpPr>
          <p:cNvPr id="6" name="组合 5">
            <a:extLst>
              <a:ext uri="{FF2B5EF4-FFF2-40B4-BE49-F238E27FC236}">
                <a16:creationId xmlns:a16="http://schemas.microsoft.com/office/drawing/2014/main" id="{981BF6A4-42B1-1F36-DF72-BFE7B3EC2F62}"/>
              </a:ext>
            </a:extLst>
          </p:cNvPr>
          <p:cNvGrpSpPr/>
          <p:nvPr/>
        </p:nvGrpSpPr>
        <p:grpSpPr>
          <a:xfrm>
            <a:off x="0" y="132079"/>
            <a:ext cx="8239760" cy="661035"/>
            <a:chOff x="0" y="132079"/>
            <a:chExt cx="8239760" cy="661035"/>
          </a:xfrm>
        </p:grpSpPr>
        <p:sp>
          <p:nvSpPr>
            <p:cNvPr id="7" name="Freeform 2">
              <a:extLst>
                <a:ext uri="{FF2B5EF4-FFF2-40B4-BE49-F238E27FC236}">
                  <a16:creationId xmlns:a16="http://schemas.microsoft.com/office/drawing/2014/main" id="{67E289C7-986B-71FA-4541-489715C3D69C}"/>
                </a:ext>
              </a:extLst>
            </p:cNvPr>
            <p:cNvSpPr/>
            <p:nvPr/>
          </p:nvSpPr>
          <p:spPr>
            <a:xfrm>
              <a:off x="0" y="132079"/>
              <a:ext cx="7985760" cy="661035"/>
            </a:xfrm>
            <a:custGeom>
              <a:avLst/>
              <a:gdLst/>
              <a:ahLst/>
              <a:cxnLst/>
              <a:rect l="l" t="t" r="r" b="b"/>
              <a:pathLst>
                <a:path w="4435475" h="617220">
                  <a:moveTo>
                    <a:pt x="477655" y="0"/>
                  </a:moveTo>
                  <a:lnTo>
                    <a:pt x="477661" y="0"/>
                  </a:lnTo>
                  <a:lnTo>
                    <a:pt x="3937559" y="0"/>
                  </a:lnTo>
                  <a:lnTo>
                    <a:pt x="3937559" y="1321"/>
                  </a:lnTo>
                  <a:lnTo>
                    <a:pt x="3957820" y="0"/>
                  </a:lnTo>
                  <a:cubicBezTo>
                    <a:pt x="4221622" y="0"/>
                    <a:pt x="4435475" y="138170"/>
                    <a:pt x="4435475" y="308610"/>
                  </a:cubicBezTo>
                  <a:cubicBezTo>
                    <a:pt x="4435475" y="479050"/>
                    <a:pt x="4221622" y="617220"/>
                    <a:pt x="3957820" y="617220"/>
                  </a:cubicBezTo>
                  <a:lnTo>
                    <a:pt x="3937559" y="615900"/>
                  </a:lnTo>
                  <a:lnTo>
                    <a:pt x="3937559" y="617220"/>
                  </a:lnTo>
                  <a:lnTo>
                    <a:pt x="477655" y="617220"/>
                  </a:lnTo>
                  <a:cubicBezTo>
                    <a:pt x="213853" y="617220"/>
                    <a:pt x="0" y="479050"/>
                    <a:pt x="0" y="308610"/>
                  </a:cubicBezTo>
                  <a:cubicBezTo>
                    <a:pt x="0" y="138170"/>
                    <a:pt x="213853" y="0"/>
                    <a:pt x="477655"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9" name="Picture 3">
              <a:extLst>
                <a:ext uri="{FF2B5EF4-FFF2-40B4-BE49-F238E27FC236}">
                  <a16:creationId xmlns:a16="http://schemas.microsoft.com/office/drawing/2014/main" id="{A95832EA-2463-063F-81B7-F4589815FB77}"/>
                </a:ext>
              </a:extLst>
            </p:cNvPr>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sp>
          <p:nvSpPr>
            <p:cNvPr id="10" name="AutoShape 4">
              <a:extLst>
                <a:ext uri="{FF2B5EF4-FFF2-40B4-BE49-F238E27FC236}">
                  <a16:creationId xmlns:a16="http://schemas.microsoft.com/office/drawing/2014/main" id="{BF6DD098-5928-2A68-0102-09969FE6E11A}"/>
                </a:ext>
              </a:extLst>
            </p:cNvPr>
            <p:cNvSpPr/>
            <p:nvPr/>
          </p:nvSpPr>
          <p:spPr>
            <a:xfrm>
              <a:off x="781050" y="245745"/>
              <a:ext cx="7458710"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zh-CN" altLang="en-US" sz="2400" b="1" i="0" u="none" strike="noStrike" dirty="0">
                  <a:solidFill>
                    <a:srgbClr val="FFFFFF"/>
                  </a:solidFill>
                  <a:latin typeface="微软雅黑"/>
                  <a:ea typeface="微软雅黑"/>
                  <a:cs typeface="微软雅黑"/>
                  <a:sym typeface="微软雅黑"/>
                </a:rPr>
                <a:t>标注成本独立核算与跨尺度情景 </a:t>
              </a:r>
              <a:r>
                <a:rPr lang="en-US" altLang="zh-CN" sz="2400" b="1" i="0" u="none" strike="noStrike" dirty="0">
                  <a:solidFill>
                    <a:srgbClr val="FFFFFF"/>
                  </a:solidFill>
                  <a:latin typeface="微软雅黑"/>
                  <a:ea typeface="微软雅黑"/>
                  <a:cs typeface="微软雅黑"/>
                  <a:sym typeface="微软雅黑"/>
                </a:rPr>
                <a:t>Pareto </a:t>
              </a:r>
              <a:r>
                <a:rPr lang="zh-CN" altLang="en-US" sz="2400" b="1" i="0" u="none" strike="noStrike" dirty="0">
                  <a:solidFill>
                    <a:srgbClr val="FFFFFF"/>
                  </a:solidFill>
                  <a:latin typeface="微软雅黑"/>
                  <a:ea typeface="微软雅黑"/>
                  <a:cs typeface="微软雅黑"/>
                  <a:sym typeface="微软雅黑"/>
                </a:rPr>
                <a:t>选型矩阵</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Freeform 2"/>
          <p:cNvSpPr/>
          <p:nvPr/>
        </p:nvSpPr>
        <p:spPr>
          <a:xfrm>
            <a:off x="268605" y="120650"/>
            <a:ext cx="3484245" cy="617855"/>
          </a:xfrm>
          <a:custGeom>
            <a:avLst/>
            <a:gdLst/>
            <a:ahLst/>
            <a:cxnLst/>
            <a:rect l="l" t="t" r="r" b="b"/>
            <a:pathLst>
              <a:path w="3484245" h="617855">
                <a:moveTo>
                  <a:pt x="375216" y="0"/>
                </a:moveTo>
                <a:lnTo>
                  <a:pt x="375223" y="0"/>
                </a:lnTo>
                <a:lnTo>
                  <a:pt x="3093112" y="0"/>
                </a:lnTo>
                <a:lnTo>
                  <a:pt x="3093112" y="1322"/>
                </a:lnTo>
                <a:lnTo>
                  <a:pt x="3109029" y="0"/>
                </a:lnTo>
                <a:cubicBezTo>
                  <a:pt x="3316254" y="0"/>
                  <a:pt x="3484245" y="138312"/>
                  <a:pt x="3484245" y="308928"/>
                </a:cubicBezTo>
                <a:cubicBezTo>
                  <a:pt x="3484245" y="479543"/>
                  <a:pt x="3316254" y="617855"/>
                  <a:pt x="3109029" y="617855"/>
                </a:cubicBezTo>
                <a:lnTo>
                  <a:pt x="3093112" y="616534"/>
                </a:lnTo>
                <a:lnTo>
                  <a:pt x="3093112" y="617855"/>
                </a:lnTo>
                <a:lnTo>
                  <a:pt x="375216" y="617855"/>
                </a:lnTo>
                <a:cubicBezTo>
                  <a:pt x="167991" y="617855"/>
                  <a:pt x="0" y="479543"/>
                  <a:pt x="0" y="308928"/>
                </a:cubicBezTo>
                <a:cubicBezTo>
                  <a:pt x="0" y="138312"/>
                  <a:pt x="167991" y="0"/>
                  <a:pt x="375216"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l">
              <a:defRPr/>
            </a:pPr>
            <a:endParaRPr/>
          </a:p>
        </p:txBody>
      </p:sp>
      <p:pic>
        <p:nvPicPr>
          <p:cNvPr id="3" name="Picture 3"/>
          <p:cNvPicPr>
            <a:picLocks noChangeAspect="1"/>
          </p:cNvPicPr>
          <p:nvPr/>
        </p:nvPicPr>
        <p:blipFill>
          <a:blip r:embed="rId4"/>
          <a:srcRect/>
          <a:stretch>
            <a:fillRect/>
          </a:stretch>
        </p:blipFill>
        <p:spPr>
          <a:xfrm>
            <a:off x="577941" y="120536"/>
            <a:ext cx="618131" cy="618131"/>
          </a:xfrm>
          <a:prstGeom prst="rect">
            <a:avLst/>
          </a:prstGeom>
          <a:noFill/>
          <a:ln w="25400" cap="flat" cmpd="sng">
            <a:noFill/>
            <a:prstDash val="solid"/>
            <a:round/>
          </a:ln>
        </p:spPr>
      </p:pic>
      <p:sp>
        <p:nvSpPr>
          <p:cNvPr id="4" name="AutoShape 4"/>
          <p:cNvSpPr/>
          <p:nvPr/>
        </p:nvSpPr>
        <p:spPr>
          <a:xfrm>
            <a:off x="1049755" y="199403"/>
            <a:ext cx="2386965" cy="460375"/>
          </a:xfrm>
          <a:prstGeom prst="roundRect">
            <a:avLst>
              <a:gd name="adj" fmla="val 0"/>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2400" b="1" i="0" u="none" strike="noStrike" dirty="0">
                <a:solidFill>
                  <a:srgbClr val="FFFFFF"/>
                </a:solidFill>
                <a:latin typeface="微软雅黑"/>
                <a:ea typeface="微软雅黑"/>
                <a:cs typeface="微软雅黑"/>
                <a:sym typeface="微软雅黑"/>
              </a:rPr>
              <a:t> </a:t>
            </a:r>
            <a:r>
              <a:rPr lang="en-US" sz="2400" b="1" i="0" u="none" strike="noStrike" dirty="0" err="1">
                <a:solidFill>
                  <a:srgbClr val="FFFFFF"/>
                </a:solidFill>
                <a:latin typeface="微软雅黑"/>
                <a:ea typeface="微软雅黑"/>
                <a:cs typeface="微软雅黑"/>
                <a:sym typeface="微软雅黑"/>
              </a:rPr>
              <a:t>核心概念与边界</a:t>
            </a:r>
            <a:endParaRPr lang="en-US" sz="1100" dirty="0"/>
          </a:p>
        </p:txBody>
      </p:sp>
      <p:sp>
        <p:nvSpPr>
          <p:cNvPr id="5" name="AutoShape 5"/>
          <p:cNvSpPr/>
          <p:nvPr/>
        </p:nvSpPr>
        <p:spPr>
          <a:xfrm>
            <a:off x="415408" y="1652303"/>
            <a:ext cx="2962390" cy="368300"/>
          </a:xfrm>
          <a:prstGeom prst="roundRect">
            <a:avLst>
              <a:gd name="adj" fmla="val 0"/>
            </a:avLst>
          </a:prstGeom>
          <a:noFill/>
          <a:ln w="25400" cap="flat" cmpd="sng">
            <a:noFill/>
            <a:prstDash val="solid"/>
            <a:round/>
          </a:ln>
        </p:spPr>
        <p:txBody>
          <a:bodyPr vert="horz" wrap="square" lIns="91440" tIns="45720" rIns="91440" bIns="45720" rtlCol="0" anchor="t" anchorCtr="0"/>
          <a:lstStyle/>
          <a:p>
            <a:pPr algn="l">
              <a:defRPr/>
            </a:pPr>
            <a:endParaRPr/>
          </a:p>
        </p:txBody>
      </p:sp>
      <p:sp>
        <p:nvSpPr>
          <p:cNvPr id="6" name="AutoShape 6"/>
          <p:cNvSpPr/>
          <p:nvPr/>
        </p:nvSpPr>
        <p:spPr>
          <a:xfrm>
            <a:off x="1019810" y="2117090"/>
            <a:ext cx="10913110" cy="4220845"/>
          </a:xfrm>
          <a:prstGeom prst="roundRect">
            <a:avLst>
              <a:gd name="adj" fmla="val 0"/>
            </a:avLst>
          </a:prstGeom>
          <a:noFill/>
          <a:ln w="25400" cap="flat" cmpd="sng">
            <a:noFill/>
            <a:prstDash val="solid"/>
            <a:round/>
          </a:ln>
        </p:spPr>
        <p:txBody>
          <a:bodyPr vert="horz" wrap="square" lIns="91440" tIns="45720" rIns="91440" bIns="45720" rtlCol="0" anchor="t" anchorCtr="0"/>
          <a:lstStyle/>
          <a:p>
            <a:pPr marL="0" indent="0" algn="l" defTabSz="914400">
              <a:lnSpc>
                <a:spcPct val="100000"/>
              </a:lnSpc>
              <a:defRPr/>
            </a:pPr>
            <a:endParaRPr lang="en-US" sz="1100"/>
          </a:p>
          <a:p>
            <a:pPr marL="0" indent="0" algn="l" defTabSz="914400">
              <a:lnSpc>
                <a:spcPct val="100000"/>
              </a:lnSpc>
            </a:pPr>
            <a:endParaRPr lang="en-US" sz="1100"/>
          </a:p>
          <a:p>
            <a:pPr marL="0" indent="0" algn="l" defTabSz="914400">
              <a:lnSpc>
                <a:spcPct val="100000"/>
              </a:lnSpc>
            </a:pPr>
            <a:endParaRPr lang="en-US" sz="1100"/>
          </a:p>
          <a:p>
            <a:pPr marL="0" indent="0" algn="l" defTabSz="914400">
              <a:lnSpc>
                <a:spcPct val="100000"/>
              </a:lnSpc>
            </a:pPr>
            <a:endParaRPr lang="en-US" sz="1100"/>
          </a:p>
          <a:p>
            <a:pPr algn="l" defTabSz="914400">
              <a:lnSpc>
                <a:spcPct val="100000"/>
              </a:lnSpc>
            </a:pPr>
            <a:endParaRPr lang="en-US" sz="1100"/>
          </a:p>
        </p:txBody>
      </p:sp>
      <p:graphicFrame>
        <p:nvGraphicFramePr>
          <p:cNvPr id="7" name="Table 7"/>
          <p:cNvGraphicFramePr>
            <a:graphicFrameLocks noGrp="1"/>
          </p:cNvGraphicFramePr>
          <p:nvPr>
            <p:extLst>
              <p:ext uri="{D42A27DB-BD31-4B8C-83A1-F6EECF244321}">
                <p14:modId xmlns:p14="http://schemas.microsoft.com/office/powerpoint/2010/main" val="2617695072"/>
              </p:ext>
            </p:extLst>
          </p:nvPr>
        </p:nvGraphicFramePr>
        <p:xfrm>
          <a:off x="1019810" y="873760"/>
          <a:ext cx="10988675" cy="5000217"/>
        </p:xfrm>
        <a:graphic>
          <a:graphicData uri="http://schemas.openxmlformats.org/drawingml/2006/table">
            <a:tbl>
              <a:tblPr>
                <a:effectLst/>
              </a:tblPr>
              <a:tblGrid>
                <a:gridCol w="1630045">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6615430">
                  <a:extLst>
                    <a:ext uri="{9D8B030D-6E8A-4147-A177-3AD203B41FA5}">
                      <a16:colId xmlns:a16="http://schemas.microsoft.com/office/drawing/2014/main" val="20002"/>
                    </a:ext>
                  </a:extLst>
                </a:gridCol>
              </a:tblGrid>
              <a:tr h="379095">
                <a:tc>
                  <a:txBody>
                    <a:bodyPr/>
                    <a:lstStyle/>
                    <a:p>
                      <a:pPr marL="0" indent="0" algn="ctr" defTabSz="914400">
                        <a:lnSpc>
                          <a:spcPct val="100000"/>
                        </a:lnSpc>
                        <a:defRPr/>
                      </a:pPr>
                      <a:r>
                        <a:rPr lang="en-US" sz="1400" b="1" i="0" u="none" strike="noStrike">
                          <a:solidFill>
                            <a:srgbClr val="FFFFFF"/>
                          </a:solidFill>
                          <a:latin typeface="微软雅黑"/>
                          <a:ea typeface="微软雅黑"/>
                          <a:cs typeface="微软雅黑"/>
                          <a:sym typeface="微软雅黑"/>
                        </a:rPr>
                        <a:t>概念</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400" b="1" i="0" u="none" strike="noStrike">
                          <a:solidFill>
                            <a:srgbClr val="FFFFFF"/>
                          </a:solidFill>
                          <a:latin typeface="微软雅黑"/>
                          <a:ea typeface="微软雅黑"/>
                          <a:cs typeface="微软雅黑"/>
                          <a:sym typeface="微软雅黑"/>
                        </a:rPr>
                        <a:t>本文定义</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400" b="1" i="0" u="none" strike="noStrike">
                          <a:solidFill>
                            <a:srgbClr val="FFFFFF"/>
                          </a:solidFill>
                          <a:latin typeface="微软雅黑"/>
                          <a:ea typeface="微软雅黑"/>
                          <a:cs typeface="微软雅黑"/>
                          <a:sym typeface="微软雅黑"/>
                        </a:rPr>
                        <a:t>边界</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extLst>
                  <a:ext uri="{0D108BD9-81ED-4DB2-BD59-A6C34878D82A}">
                    <a16:rowId xmlns:a16="http://schemas.microsoft.com/office/drawing/2014/main" val="10000"/>
                  </a:ext>
                </a:extLst>
              </a:tr>
              <a:tr h="437551">
                <a:tc rowSpan="2">
                  <a:txBody>
                    <a:bodyPr/>
                    <a:lstStyle/>
                    <a:p>
                      <a:pPr marL="0" indent="0" algn="ctr" defTabSz="914400">
                        <a:lnSpc>
                          <a:spcPct val="100000"/>
                        </a:lnSpc>
                        <a:defRPr/>
                      </a:pPr>
                      <a:r>
                        <a:rPr lang="en-US" sz="1400" b="0" i="0" u="none" strike="noStrike" dirty="0" err="1">
                          <a:solidFill>
                            <a:srgbClr val="000000"/>
                          </a:solidFill>
                          <a:latin typeface="微软雅黑"/>
                          <a:ea typeface="微软雅黑"/>
                          <a:cs typeface="微软雅黑"/>
                          <a:sym typeface="微软雅黑"/>
                        </a:rPr>
                        <a:t>主生成模型</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l" defTabSz="914400">
                        <a:lnSpc>
                          <a:spcPct val="100000"/>
                        </a:lnSpc>
                        <a:defRPr/>
                      </a:pPr>
                      <a:r>
                        <a:rPr lang="en-US" sz="1400" b="0" i="0" u="none" strike="noStrike" dirty="0">
                          <a:solidFill>
                            <a:srgbClr val="000000"/>
                          </a:solidFill>
                          <a:latin typeface="微软雅黑"/>
                          <a:ea typeface="微软雅黑"/>
                          <a:cs typeface="微软雅黑"/>
                          <a:sym typeface="微软雅黑"/>
                        </a:rPr>
                        <a:t>Grounding </a:t>
                      </a:r>
                      <a:r>
                        <a:rPr lang="en-US" sz="1400" b="0" i="0" u="none" strike="noStrike" dirty="0" err="1">
                          <a:solidFill>
                            <a:srgbClr val="000000"/>
                          </a:solidFill>
                          <a:latin typeface="微软雅黑"/>
                          <a:ea typeface="微软雅黑"/>
                          <a:cs typeface="微软雅黑"/>
                          <a:sym typeface="微软雅黑"/>
                        </a:rPr>
                        <a:t>DINO：语义匹配与初始框生成</a:t>
                      </a:r>
                      <a:endParaRPr lang="en-US" sz="1100" dirty="0"/>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只使用现有能力生成伪标签，不改进网络结构。</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10001"/>
                  </a:ext>
                </a:extLst>
              </a:tr>
              <a:tr h="435186">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l" defTabSz="914400">
                        <a:lnSpc>
                          <a:spcPct val="100000"/>
                        </a:lnSpc>
                        <a:defRPr/>
                      </a:pPr>
                      <a:r>
                        <a:rPr lang="en-US" sz="1400" b="0" i="0" u="none" strike="noStrike" dirty="0">
                          <a:solidFill>
                            <a:srgbClr val="000000"/>
                          </a:solidFill>
                          <a:latin typeface="微软雅黑"/>
                          <a:ea typeface="微软雅黑"/>
                          <a:cs typeface="微软雅黑"/>
                          <a:sym typeface="微软雅黑"/>
                        </a:rPr>
                        <a:t>V1 </a:t>
                      </a:r>
                      <a:r>
                        <a:rPr lang="en-US" sz="1400" b="0" i="0" u="none" strike="noStrike" dirty="0" err="1">
                          <a:solidFill>
                            <a:srgbClr val="000000"/>
                          </a:solidFill>
                          <a:latin typeface="微软雅黑"/>
                          <a:ea typeface="微软雅黑"/>
                          <a:cs typeface="微软雅黑"/>
                          <a:sym typeface="微软雅黑"/>
                        </a:rPr>
                        <a:t>之后提供审核</a:t>
                      </a:r>
                      <a:r>
                        <a:rPr lang="en-US" sz="1400" b="0" i="0" u="none" strike="noStrike" dirty="0">
                          <a:solidFill>
                            <a:srgbClr val="000000"/>
                          </a:solidFill>
                          <a:latin typeface="微软雅黑"/>
                          <a:ea typeface="微软雅黑"/>
                          <a:cs typeface="微软雅黑"/>
                          <a:sym typeface="微软雅黑"/>
                        </a:rPr>
                        <a:t>/</a:t>
                      </a:r>
                      <a:r>
                        <a:rPr lang="en-US" sz="1400" b="0" i="0" u="none" strike="noStrike" dirty="0" err="1">
                          <a:solidFill>
                            <a:srgbClr val="000000"/>
                          </a:solidFill>
                          <a:latin typeface="微软雅黑"/>
                          <a:ea typeface="微软雅黑"/>
                          <a:cs typeface="微软雅黑"/>
                          <a:sym typeface="微软雅黑"/>
                        </a:rPr>
                        <a:t>补漏</a:t>
                      </a:r>
                      <a:r>
                        <a:rPr lang="en-US" sz="1400" b="0" i="0" u="none" strike="noStrike" dirty="0">
                          <a:solidFill>
                            <a:srgbClr val="000000"/>
                          </a:solidFill>
                          <a:latin typeface="微软雅黑"/>
                          <a:ea typeface="微软雅黑"/>
                          <a:cs typeface="微软雅黑"/>
                          <a:sym typeface="微软雅黑"/>
                        </a:rPr>
                        <a:t>/</a:t>
                      </a:r>
                      <a:r>
                        <a:rPr lang="en-US" sz="1400" b="0" i="0" u="none" strike="noStrike" dirty="0" err="1">
                          <a:solidFill>
                            <a:srgbClr val="000000"/>
                          </a:solidFill>
                          <a:latin typeface="微软雅黑"/>
                          <a:ea typeface="微软雅黑"/>
                          <a:cs typeface="微软雅黑"/>
                          <a:sym typeface="微软雅黑"/>
                        </a:rPr>
                        <a:t>调框证据的</a:t>
                      </a:r>
                      <a:r>
                        <a:rPr lang="en-US" sz="1400" b="0" i="0" u="none" strike="noStrike" dirty="0">
                          <a:solidFill>
                            <a:srgbClr val="000000"/>
                          </a:solidFill>
                          <a:latin typeface="微软雅黑"/>
                          <a:ea typeface="微软雅黑"/>
                          <a:cs typeface="微软雅黑"/>
                          <a:sym typeface="微软雅黑"/>
                        </a:rPr>
                        <a:t> SAM3</a:t>
                      </a:r>
                      <a:endParaRPr lang="en-US" sz="1100" dirty="0"/>
                    </a:p>
                  </a:txBody>
                  <a:tcPr marT="4233" marB="423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不预设其必然有效，验证后才进入正式流程。</a:t>
                      </a:r>
                      <a:endParaRPr lang="en-US"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extLst>
                  <a:ext uri="{0D108BD9-81ED-4DB2-BD59-A6C34878D82A}">
                    <a16:rowId xmlns:a16="http://schemas.microsoft.com/office/drawing/2014/main" val="10002"/>
                  </a:ext>
                </a:extLst>
              </a:tr>
              <a:tr h="448290">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V1 伪标签</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l" defTabSz="914400">
                        <a:lnSpc>
                          <a:spcPct val="100000"/>
                        </a:lnSpc>
                        <a:defRPr/>
                      </a:pPr>
                      <a:r>
                        <a:rPr lang="en-US" sz="1400" b="0" i="0" u="none" strike="noStrike" dirty="0" err="1">
                          <a:solidFill>
                            <a:srgbClr val="000000"/>
                          </a:solidFill>
                          <a:latin typeface="微软雅黑"/>
                          <a:ea typeface="微软雅黑"/>
                          <a:cs typeface="微软雅黑"/>
                          <a:sym typeface="微软雅黑"/>
                        </a:rPr>
                        <a:t>提示词与阈值联合优化后批量产出的基准伪标签版本</a:t>
                      </a:r>
                      <a:r>
                        <a:rPr lang="en-US" sz="1400" b="0" i="0" u="none" strike="noStrike" dirty="0">
                          <a:solidFill>
                            <a:srgbClr val="000000"/>
                          </a:solidFill>
                          <a:latin typeface="微软雅黑"/>
                          <a:ea typeface="微软雅黑"/>
                          <a:cs typeface="微软雅黑"/>
                          <a:sym typeface="微软雅黑"/>
                        </a:rPr>
                        <a:t>。</a:t>
                      </a:r>
                      <a:endParaRPr lang="en-US" sz="1100" dirty="0"/>
                    </a:p>
                  </a:txBody>
                  <a:tcPr marT="10785" marB="1078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ctr" defTabSz="914400">
                        <a:lnSpc>
                          <a:spcPct val="100000"/>
                        </a:lnSpc>
                        <a:defRPr/>
                      </a:pPr>
                      <a:r>
                        <a:rPr lang="en-US" sz="1400" b="0" i="0" u="none" strike="noStrike" dirty="0" err="1">
                          <a:solidFill>
                            <a:srgbClr val="000000"/>
                          </a:solidFill>
                          <a:latin typeface="微软雅黑"/>
                          <a:ea typeface="微软雅黑"/>
                          <a:cs typeface="微软雅黑"/>
                          <a:sym typeface="微软雅黑"/>
                        </a:rPr>
                        <a:t>构成后续所有级联与对比实验的后置策略比较的统一基线</a:t>
                      </a:r>
                      <a:r>
                        <a:rPr lang="en-US" sz="1400" b="0" i="0" u="none" strike="noStrike" dirty="0">
                          <a:solidFill>
                            <a:srgbClr val="000000"/>
                          </a:solidFill>
                          <a:latin typeface="微软雅黑"/>
                          <a:ea typeface="微软雅黑"/>
                          <a:cs typeface="微软雅黑"/>
                          <a:sym typeface="微软雅黑"/>
                        </a:rPr>
                        <a:t>。</a:t>
                      </a:r>
                      <a:endParaRPr lang="en-US" sz="11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10005"/>
                  </a:ext>
                </a:extLst>
              </a:tr>
              <a:tr h="576580">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V2 候选</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l" defTabSz="914400">
                        <a:lnSpc>
                          <a:spcPct val="100000"/>
                        </a:lnSpc>
                        <a:defRPr/>
                      </a:pPr>
                      <a:r>
                        <a:rPr lang="en-US" sz="1400" b="0" i="0" u="none" strike="noStrike" dirty="0" err="1">
                          <a:solidFill>
                            <a:srgbClr val="000000"/>
                          </a:solidFill>
                          <a:latin typeface="微软雅黑"/>
                          <a:ea typeface="微软雅黑"/>
                          <a:cs typeface="微软雅黑"/>
                          <a:sym typeface="微软雅黑"/>
                        </a:rPr>
                        <a:t>通过开发集门槛的</a:t>
                      </a:r>
                      <a:r>
                        <a:rPr lang="en-US" sz="1400" b="0" i="0" u="none" strike="noStrike" dirty="0">
                          <a:solidFill>
                            <a:srgbClr val="000000"/>
                          </a:solidFill>
                          <a:latin typeface="微软雅黑"/>
                          <a:ea typeface="微软雅黑"/>
                          <a:cs typeface="微软雅黑"/>
                          <a:sym typeface="微软雅黑"/>
                        </a:rPr>
                        <a:t> V1 </a:t>
                      </a:r>
                      <a:r>
                        <a:rPr lang="en-US" sz="1400" b="0" i="0" u="none" strike="noStrike" dirty="0" err="1">
                          <a:solidFill>
                            <a:srgbClr val="000000"/>
                          </a:solidFill>
                          <a:latin typeface="微软雅黑"/>
                          <a:ea typeface="微软雅黑"/>
                          <a:cs typeface="微软雅黑"/>
                          <a:sym typeface="微软雅黑"/>
                        </a:rPr>
                        <a:t>后置处理版本</a:t>
                      </a:r>
                      <a:r>
                        <a:rPr lang="en-US" sz="1400" b="0" i="0" u="none" strike="noStrike" dirty="0">
                          <a:solidFill>
                            <a:srgbClr val="000000"/>
                          </a:solidFill>
                          <a:latin typeface="微软雅黑"/>
                          <a:ea typeface="微软雅黑"/>
                          <a:cs typeface="微软雅黑"/>
                          <a:sym typeface="微软雅黑"/>
                        </a:rPr>
                        <a:t>。</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ctr" defTabSz="914400">
                        <a:lnSpc>
                          <a:spcPct val="100000"/>
                        </a:lnSpc>
                        <a:defRPr/>
                      </a:pPr>
                      <a:r>
                        <a:rPr lang="en-US" sz="1400" b="0" i="0" u="none" strike="noStrike" dirty="0" err="1">
                          <a:solidFill>
                            <a:srgbClr val="000000"/>
                          </a:solidFill>
                          <a:latin typeface="微软雅黑"/>
                          <a:ea typeface="微软雅黑"/>
                          <a:cs typeface="微软雅黑"/>
                          <a:sym typeface="微软雅黑"/>
                        </a:rPr>
                        <a:t>只有通过门槛的方案才进入正式验证</a:t>
                      </a:r>
                      <a:r>
                        <a:rPr lang="en-US" sz="1400" b="0" i="0" u="none" strike="noStrike" dirty="0">
                          <a:solidFill>
                            <a:srgbClr val="000000"/>
                          </a:solidFill>
                          <a:latin typeface="微软雅黑"/>
                          <a:ea typeface="微软雅黑"/>
                          <a:cs typeface="微软雅黑"/>
                          <a:sym typeface="微软雅黑"/>
                        </a:rPr>
                        <a:t>。</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10007"/>
                  </a:ext>
                </a:extLst>
              </a:tr>
              <a:tr h="576580">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数据质量指标</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tc>
                  <a:txBody>
                    <a:bodyPr/>
                    <a:lstStyle/>
                    <a:p>
                      <a:pPr marL="0" indent="0" algn="l" defTabSz="914400">
                        <a:lnSpc>
                          <a:spcPct val="100000"/>
                        </a:lnSpc>
                        <a:defRPr/>
                      </a:pPr>
                      <a:r>
                        <a:rPr lang="en-US" sz="1400" b="0" i="0" u="none" strike="noStrike" dirty="0">
                          <a:solidFill>
                            <a:srgbClr val="000000"/>
                          </a:solidFill>
                          <a:latin typeface="微软雅黑"/>
                          <a:ea typeface="微软雅黑"/>
                          <a:cs typeface="微软雅黑"/>
                          <a:sym typeface="微软雅黑"/>
                        </a:rPr>
                        <a:t>P / R / </a:t>
                      </a:r>
                      <a:r>
                        <a:rPr lang="en-US" sz="1400" b="0" i="0" u="none" strike="noStrike" dirty="0" err="1">
                          <a:solidFill>
                            <a:srgbClr val="000000"/>
                          </a:solidFill>
                          <a:latin typeface="微软雅黑"/>
                          <a:ea typeface="微软雅黑"/>
                          <a:cs typeface="微软雅黑"/>
                          <a:sym typeface="微软雅黑"/>
                        </a:rPr>
                        <a:t>IoU</a:t>
                      </a:r>
                      <a:r>
                        <a:rPr lang="en-US" sz="1400" b="0" i="0" u="none" strike="noStrike" dirty="0">
                          <a:solidFill>
                            <a:srgbClr val="000000"/>
                          </a:solidFill>
                          <a:latin typeface="微软雅黑"/>
                          <a:ea typeface="微软雅黑"/>
                          <a:cs typeface="微软雅黑"/>
                          <a:sym typeface="微软雅黑"/>
                        </a:rPr>
                        <a:t> / </a:t>
                      </a:r>
                      <a:r>
                        <a:rPr lang="en-US" sz="1400" b="0" i="0" u="none" strike="noStrike" dirty="0" err="1">
                          <a:solidFill>
                            <a:srgbClr val="000000"/>
                          </a:solidFill>
                          <a:latin typeface="微软雅黑"/>
                          <a:ea typeface="微软雅黑"/>
                          <a:cs typeface="微软雅黑"/>
                          <a:sym typeface="微软雅黑"/>
                        </a:rPr>
                        <a:t>漏检</a:t>
                      </a:r>
                      <a:r>
                        <a:rPr lang="en-US" sz="1400" b="0" i="0" u="none" strike="noStrike" dirty="0">
                          <a:solidFill>
                            <a:srgbClr val="000000"/>
                          </a:solidFill>
                          <a:latin typeface="微软雅黑"/>
                          <a:ea typeface="微软雅黑"/>
                          <a:cs typeface="微软雅黑"/>
                          <a:sym typeface="微软雅黑"/>
                        </a:rPr>
                        <a:t> / </a:t>
                      </a:r>
                      <a:r>
                        <a:rPr lang="en-US" sz="1400" b="0" i="0" u="none" strike="noStrike" dirty="0" err="1">
                          <a:solidFill>
                            <a:srgbClr val="000000"/>
                          </a:solidFill>
                          <a:latin typeface="微软雅黑"/>
                          <a:ea typeface="微软雅黑"/>
                          <a:cs typeface="微软雅黑"/>
                          <a:sym typeface="微软雅黑"/>
                        </a:rPr>
                        <a:t>误检</a:t>
                      </a:r>
                      <a:r>
                        <a:rPr lang="en-US" sz="1400" b="0" i="0" u="none" strike="noStrike" dirty="0">
                          <a:solidFill>
                            <a:srgbClr val="000000"/>
                          </a:solidFill>
                          <a:latin typeface="微软雅黑"/>
                          <a:ea typeface="微软雅黑"/>
                          <a:cs typeface="微软雅黑"/>
                          <a:sym typeface="微软雅黑"/>
                        </a:rPr>
                        <a:t> / </a:t>
                      </a:r>
                      <a:r>
                        <a:rPr lang="en-US" sz="1400" b="0" i="0" u="none" strike="noStrike" dirty="0" err="1">
                          <a:solidFill>
                            <a:srgbClr val="000000"/>
                          </a:solidFill>
                          <a:latin typeface="微软雅黑"/>
                          <a:ea typeface="微软雅黑"/>
                          <a:cs typeface="微软雅黑"/>
                          <a:sym typeface="微软雅黑"/>
                        </a:rPr>
                        <a:t>框偏差</a:t>
                      </a:r>
                      <a:r>
                        <a:rPr lang="en-US" sz="1400" b="0" i="0" u="none" strike="noStrike" dirty="0">
                          <a:solidFill>
                            <a:srgbClr val="000000"/>
                          </a:solidFill>
                          <a:latin typeface="微软雅黑"/>
                          <a:ea typeface="微软雅黑"/>
                          <a:cs typeface="微软雅黑"/>
                          <a:sym typeface="微软雅黑"/>
                        </a:rPr>
                        <a:t>。</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tc>
                  <a:txBody>
                    <a:bodyPr/>
                    <a:lstStyle/>
                    <a:p>
                      <a:pPr marL="0" indent="0" algn="ctr" defTabSz="914400">
                        <a:lnSpc>
                          <a:spcPct val="100000"/>
                        </a:lnSpc>
                        <a:defRPr/>
                      </a:pPr>
                      <a:r>
                        <a:rPr lang="en-US" sz="1400" b="0" i="0" u="none" strike="noStrike" dirty="0" err="1">
                          <a:solidFill>
                            <a:srgbClr val="000000"/>
                          </a:solidFill>
                          <a:latin typeface="微软雅黑"/>
                          <a:ea typeface="微软雅黑"/>
                          <a:cs typeface="微软雅黑"/>
                          <a:sym typeface="微软雅黑"/>
                        </a:rPr>
                        <a:t>用于诊断标签问题，不直接替代下游效用</a:t>
                      </a:r>
                      <a:r>
                        <a:rPr lang="en-US" sz="1400" b="0" i="0" u="none" strike="noStrike" dirty="0">
                          <a:solidFill>
                            <a:srgbClr val="000000"/>
                          </a:solidFill>
                          <a:latin typeface="微软雅黑"/>
                          <a:ea typeface="微软雅黑"/>
                          <a:cs typeface="微软雅黑"/>
                          <a:sym typeface="微软雅黑"/>
                        </a:rPr>
                        <a:t>。</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extLst>
                  <a:ext uri="{0D108BD9-81ED-4DB2-BD59-A6C34878D82A}">
                    <a16:rowId xmlns:a16="http://schemas.microsoft.com/office/drawing/2014/main" val="10008"/>
                  </a:ext>
                </a:extLst>
              </a:tr>
              <a:tr h="426720">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下游效用</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l" defTabSz="914400">
                        <a:lnSpc>
                          <a:spcPct val="100000"/>
                        </a:lnSpc>
                        <a:defRPr/>
                      </a:pPr>
                      <a:r>
                        <a:rPr lang="en-US" sz="1400" b="0" i="0" u="none" strike="noStrike" dirty="0" err="1">
                          <a:solidFill>
                            <a:srgbClr val="000000"/>
                          </a:solidFill>
                          <a:latin typeface="微软雅黑"/>
                          <a:ea typeface="微软雅黑"/>
                          <a:cs typeface="微软雅黑"/>
                          <a:sym typeface="微软雅黑"/>
                        </a:rPr>
                        <a:t>统一</a:t>
                      </a:r>
                      <a:r>
                        <a:rPr lang="en-US" sz="1400" b="0" i="0" u="none" strike="noStrike" dirty="0">
                          <a:solidFill>
                            <a:srgbClr val="000000"/>
                          </a:solidFill>
                          <a:latin typeface="微软雅黑"/>
                          <a:ea typeface="微软雅黑"/>
                          <a:cs typeface="微软雅黑"/>
                          <a:sym typeface="微软雅黑"/>
                        </a:rPr>
                        <a:t> YOLO </a:t>
                      </a:r>
                      <a:r>
                        <a:rPr lang="en-US" sz="1400" b="0" i="0" u="none" strike="noStrike" dirty="0" err="1">
                          <a:solidFill>
                            <a:srgbClr val="000000"/>
                          </a:solidFill>
                          <a:latin typeface="微软雅黑"/>
                          <a:ea typeface="微软雅黑"/>
                          <a:cs typeface="微软雅黑"/>
                          <a:sym typeface="微软雅黑"/>
                        </a:rPr>
                        <a:t>训练协议下的检测性能</a:t>
                      </a:r>
                      <a:r>
                        <a:rPr lang="en-US" sz="1400" b="0" i="0" u="none" strike="noStrike" dirty="0">
                          <a:solidFill>
                            <a:srgbClr val="000000"/>
                          </a:solidFill>
                          <a:latin typeface="微软雅黑"/>
                          <a:ea typeface="微软雅黑"/>
                          <a:cs typeface="微软雅黑"/>
                          <a:sym typeface="微软雅黑"/>
                        </a:rPr>
                        <a:t>。</a:t>
                      </a:r>
                      <a:endParaRPr lang="en-US" sz="1100" dirty="0"/>
                    </a:p>
                  </a:txBody>
                  <a:tcPr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ctr" defTabSz="914400">
                        <a:lnSpc>
                          <a:spcPct val="100000"/>
                        </a:lnSpc>
                        <a:defRPr/>
                      </a:pPr>
                      <a:r>
                        <a:rPr lang="en-US" sz="1400" b="0" i="0" u="none" strike="noStrike" dirty="0">
                          <a:solidFill>
                            <a:srgbClr val="000000"/>
                          </a:solidFill>
                          <a:latin typeface="微软雅黑"/>
                          <a:ea typeface="微软雅黑"/>
                          <a:cs typeface="微软雅黑"/>
                          <a:sym typeface="微软雅黑"/>
                        </a:rPr>
                        <a:t>YOLO </a:t>
                      </a:r>
                      <a:r>
                        <a:rPr lang="en-US" sz="1400" b="0" i="0" u="none" strike="noStrike" dirty="0" err="1">
                          <a:solidFill>
                            <a:srgbClr val="000000"/>
                          </a:solidFill>
                          <a:latin typeface="微软雅黑"/>
                          <a:ea typeface="微软雅黑"/>
                          <a:cs typeface="微软雅黑"/>
                          <a:sym typeface="微软雅黑"/>
                        </a:rPr>
                        <a:t>仅作效用验证器，不改其结构</a:t>
                      </a:r>
                      <a:r>
                        <a:rPr lang="en-US" sz="1400" b="0" i="0" u="none" strike="noStrike" dirty="0">
                          <a:solidFill>
                            <a:srgbClr val="000000"/>
                          </a:solidFill>
                          <a:latin typeface="微软雅黑"/>
                          <a:ea typeface="微软雅黑"/>
                          <a:cs typeface="微软雅黑"/>
                          <a:sym typeface="微软雅黑"/>
                        </a:rPr>
                        <a:t>。</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10009"/>
                  </a:ext>
                </a:extLst>
              </a:tr>
              <a:tr h="379095">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Stage-Gate</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tc>
                  <a:txBody>
                    <a:bodyPr/>
                    <a:lstStyle/>
                    <a:p>
                      <a:pPr marL="0" indent="0" algn="l" defTabSz="914400">
                        <a:lnSpc>
                          <a:spcPct val="100000"/>
                        </a:lnSpc>
                        <a:defRPr/>
                      </a:pPr>
                      <a:r>
                        <a:rPr lang="en-US" sz="1400" b="0" i="0" u="none" strike="noStrike" dirty="0">
                          <a:solidFill>
                            <a:srgbClr val="000000"/>
                          </a:solidFill>
                          <a:latin typeface="微软雅黑"/>
                          <a:ea typeface="微软雅黑"/>
                          <a:cs typeface="微软雅黑"/>
                          <a:sym typeface="微软雅黑"/>
                        </a:rPr>
                        <a:t>Go / Hold / Stop </a:t>
                      </a:r>
                      <a:r>
                        <a:rPr lang="en-US" sz="1400" b="0" i="0" u="none" strike="noStrike" dirty="0" err="1">
                          <a:solidFill>
                            <a:srgbClr val="000000"/>
                          </a:solidFill>
                          <a:latin typeface="微软雅黑"/>
                          <a:ea typeface="微软雅黑"/>
                          <a:cs typeface="微软雅黑"/>
                          <a:sym typeface="微软雅黑"/>
                        </a:rPr>
                        <a:t>阶段决策</a:t>
                      </a:r>
                      <a:r>
                        <a:rPr lang="en-US" sz="1400" b="0" i="0" u="none" strike="noStrike" dirty="0">
                          <a:solidFill>
                            <a:srgbClr val="000000"/>
                          </a:solidFill>
                          <a:latin typeface="微软雅黑"/>
                          <a:ea typeface="微软雅黑"/>
                          <a:cs typeface="微软雅黑"/>
                          <a:sym typeface="微软雅黑"/>
                        </a:rPr>
                        <a:t>。</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只用于分支收敛，不扩展为自动进化机制。</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extLst>
                  <a:ext uri="{0D108BD9-81ED-4DB2-BD59-A6C34878D82A}">
                    <a16:rowId xmlns:a16="http://schemas.microsoft.com/office/drawing/2014/main" val="10010"/>
                  </a:ext>
                </a:extLst>
              </a:tr>
              <a:tr h="426720">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Pareto 比较</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l" defTabSz="914400">
                        <a:lnSpc>
                          <a:spcPct val="100000"/>
                        </a:lnSpc>
                        <a:defRPr/>
                      </a:pPr>
                      <a:r>
                        <a:rPr lang="en-US" sz="1400" b="0" i="0" u="none" strike="noStrike" dirty="0" err="1">
                          <a:solidFill>
                            <a:srgbClr val="000000"/>
                          </a:solidFill>
                          <a:latin typeface="Microsoft YaHei" panose="020B0503020204020204" pitchFamily="34" charset="-122"/>
                          <a:ea typeface="Microsoft YaHei" panose="020B0503020204020204" pitchFamily="34" charset="-122"/>
                          <a:cs typeface="等线"/>
                          <a:sym typeface="等线"/>
                        </a:rPr>
                        <a:t>在有限候选流程之间进行非支配比较</a:t>
                      </a:r>
                      <a:r>
                        <a:rPr lang="en-US" sz="1400" b="0" i="0" u="none" strike="noStrike" dirty="0">
                          <a:solidFill>
                            <a:srgbClr val="000000"/>
                          </a:solidFill>
                          <a:latin typeface="Microsoft YaHei" panose="020B0503020204020204" pitchFamily="34" charset="-122"/>
                          <a:ea typeface="Microsoft YaHei" panose="020B0503020204020204" pitchFamily="34" charset="-122"/>
                          <a:cs typeface="等线"/>
                          <a:sym typeface="等线"/>
                        </a:rPr>
                        <a:t>。</a:t>
                      </a:r>
                      <a:endParaRPr lang="en-US" sz="1400" dirty="0">
                        <a:latin typeface="Microsoft YaHei" panose="020B0503020204020204" pitchFamily="34" charset="-122"/>
                        <a:ea typeface="Microsoft YaHei" panose="020B0503020204020204" pitchFamily="34" charset="-122"/>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ctr" defTabSz="914400">
                        <a:lnSpc>
                          <a:spcPct val="100000"/>
                        </a:lnSpc>
                        <a:defRPr/>
                      </a:pPr>
                      <a:r>
                        <a:rPr lang="zh-CN" altLang="en-US" sz="1400" b="0" i="0" u="none" strike="noStrike" dirty="0">
                          <a:solidFill>
                            <a:srgbClr val="000000"/>
                          </a:solidFill>
                          <a:latin typeface="Microsoft YaHei" panose="020B0503020204020204" pitchFamily="34" charset="-122"/>
                          <a:ea typeface="Microsoft YaHei" panose="020B0503020204020204" pitchFamily="34" charset="-122"/>
                          <a:cs typeface="等线"/>
                          <a:sym typeface="等线"/>
                        </a:rPr>
                        <a:t>目前</a:t>
                      </a:r>
                      <a:r>
                        <a:rPr lang="en-US" sz="1400" b="0" i="0" u="none" strike="noStrike" dirty="0" err="1">
                          <a:solidFill>
                            <a:srgbClr val="000000"/>
                          </a:solidFill>
                          <a:latin typeface="Microsoft YaHei" panose="020B0503020204020204" pitchFamily="34" charset="-122"/>
                          <a:ea typeface="Microsoft YaHei" panose="020B0503020204020204" pitchFamily="34" charset="-122"/>
                          <a:cs typeface="等线"/>
                          <a:sym typeface="等线"/>
                        </a:rPr>
                        <a:t>只用于方案筛选，不构造进化优化算法</a:t>
                      </a:r>
                      <a:r>
                        <a:rPr lang="en-US" sz="1400" b="0" i="0" u="none" strike="noStrike" dirty="0">
                          <a:solidFill>
                            <a:srgbClr val="000000"/>
                          </a:solidFill>
                          <a:latin typeface="Microsoft YaHei" panose="020B0503020204020204" pitchFamily="34" charset="-122"/>
                          <a:ea typeface="Microsoft YaHei" panose="020B0503020204020204" pitchFamily="34" charset="-122"/>
                          <a:cs typeface="等线"/>
                          <a:sym typeface="等线"/>
                        </a:rPr>
                        <a:t>。</a:t>
                      </a:r>
                      <a:endParaRPr lang="en-US" sz="1400" dirty="0">
                        <a:latin typeface="Microsoft YaHei" panose="020B0503020204020204" pitchFamily="34" charset="-122"/>
                        <a:ea typeface="Microsoft YaHei" panose="020B0503020204020204" pitchFamily="34" charset="-122"/>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10011"/>
                  </a:ext>
                </a:extLst>
              </a:tr>
              <a:tr h="822960">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研究对象</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tc>
                  <a:txBody>
                    <a:bodyPr/>
                    <a:lstStyle/>
                    <a:p>
                      <a:pPr marL="0" indent="0" algn="l" defTabSz="914400">
                        <a:lnSpc>
                          <a:spcPct val="100000"/>
                        </a:lnSpc>
                        <a:defRPr/>
                      </a:pPr>
                      <a:r>
                        <a:rPr lang="en-US" sz="1400" b="0" i="0" u="none" strike="noStrike" dirty="0" err="1">
                          <a:solidFill>
                            <a:srgbClr val="000000"/>
                          </a:solidFill>
                          <a:latin typeface="微软雅黑"/>
                          <a:ea typeface="微软雅黑"/>
                          <a:cs typeface="微软雅黑"/>
                          <a:sym typeface="微软雅黑"/>
                        </a:rPr>
                        <a:t>火焰与烟雾（非刚性目标</a:t>
                      </a:r>
                      <a:r>
                        <a:rPr lang="en-US" sz="1400" b="0" i="0" u="none" strike="noStrike" dirty="0">
                          <a:solidFill>
                            <a:srgbClr val="000000"/>
                          </a:solidFill>
                          <a:latin typeface="微软雅黑"/>
                          <a:ea typeface="微软雅黑"/>
                          <a:cs typeface="微软雅黑"/>
                          <a:sym typeface="微软雅黑"/>
                        </a:rPr>
                        <a:t>）。</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tc>
                  <a:txBody>
                    <a:bodyPr/>
                    <a:lstStyle/>
                    <a:p>
                      <a:pPr marL="0" indent="0" algn="ctr" defTabSz="914400">
                        <a:lnSpc>
                          <a:spcPct val="100000"/>
                        </a:lnSpc>
                        <a:defRPr/>
                      </a:pPr>
                      <a:r>
                        <a:rPr lang="en-US" sz="1400" b="0" i="0" u="none" strike="noStrike" dirty="0" err="1">
                          <a:solidFill>
                            <a:srgbClr val="000000"/>
                          </a:solidFill>
                          <a:latin typeface="微软雅黑"/>
                          <a:ea typeface="微软雅黑"/>
                          <a:cs typeface="微软雅黑"/>
                          <a:sym typeface="微软雅黑"/>
                        </a:rPr>
                        <a:t>边界弥散、形态多变，人工标注主观偏差大</a:t>
                      </a:r>
                      <a:r>
                        <a:rPr lang="en-US" sz="1400" b="0" i="0" u="none" strike="noStrike" dirty="0">
                          <a:solidFill>
                            <a:srgbClr val="000000"/>
                          </a:solidFill>
                          <a:latin typeface="微软雅黑"/>
                          <a:ea typeface="微软雅黑"/>
                          <a:cs typeface="微软雅黑"/>
                          <a:sym typeface="微软雅黑"/>
                        </a:rPr>
                        <a:t>。</a:t>
                      </a:r>
                      <a:endParaRPr lang="en-US" sz="1100" dirty="0"/>
                    </a:p>
                    <a:p>
                      <a:pPr algn="ctr" defTabSz="914400">
                        <a:lnSpc>
                          <a:spcPct val="100000"/>
                        </a:lnSpc>
                      </a:pPr>
                      <a:endParaRPr lang="en-US" sz="11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934" y="0"/>
            <a:ext cx="12214934" cy="3616960"/>
          </a:xfrm>
          <a:prstGeom prst="rect">
            <a:avLst/>
          </a:prstGeom>
          <a:solidFill>
            <a:srgbClr val="0A3760">
              <a:alpha val="100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pic>
        <p:nvPicPr>
          <p:cNvPr id="3" name="Picture 3"/>
          <p:cNvPicPr>
            <a:picLocks noChangeAspect="1"/>
          </p:cNvPicPr>
          <p:nvPr/>
        </p:nvPicPr>
        <p:blipFill>
          <a:blip r:embed="rId3"/>
          <a:srcRect/>
          <a:stretch>
            <a:fillRect/>
          </a:stretch>
        </p:blipFill>
        <p:spPr>
          <a:xfrm>
            <a:off x="4179656" y="602203"/>
            <a:ext cx="3832687" cy="1112297"/>
          </a:xfrm>
          <a:prstGeom prst="rect">
            <a:avLst/>
          </a:prstGeom>
          <a:ln w="12700">
            <a:noFill/>
            <a:prstDash val="solid"/>
          </a:ln>
        </p:spPr>
      </p:pic>
      <p:sp>
        <p:nvSpPr>
          <p:cNvPr id="4" name="Freeform 4"/>
          <p:cNvSpPr/>
          <p:nvPr/>
        </p:nvSpPr>
        <p:spPr>
          <a:xfrm>
            <a:off x="2965450" y="2922270"/>
            <a:ext cx="5532755" cy="1111885"/>
          </a:xfrm>
          <a:custGeom>
            <a:avLst/>
            <a:gdLst/>
            <a:ahLst/>
            <a:cxnLst/>
            <a:rect l="l" t="t" r="r" b="b"/>
            <a:pathLst>
              <a:path w="5532755" h="1111885">
                <a:moveTo>
                  <a:pt x="595821" y="0"/>
                </a:moveTo>
                <a:lnTo>
                  <a:pt x="595829" y="1"/>
                </a:lnTo>
                <a:lnTo>
                  <a:pt x="4911660" y="1"/>
                </a:lnTo>
                <a:lnTo>
                  <a:pt x="4911660" y="2379"/>
                </a:lnTo>
                <a:lnTo>
                  <a:pt x="4936934" y="1"/>
                </a:lnTo>
                <a:cubicBezTo>
                  <a:pt x="5265998" y="1"/>
                  <a:pt x="5532755" y="248905"/>
                  <a:pt x="5532755" y="555942"/>
                </a:cubicBezTo>
                <a:cubicBezTo>
                  <a:pt x="5532755" y="862982"/>
                  <a:pt x="5265998" y="1111885"/>
                  <a:pt x="4936934" y="1111885"/>
                </a:cubicBezTo>
                <a:lnTo>
                  <a:pt x="4911660" y="1109508"/>
                </a:lnTo>
                <a:lnTo>
                  <a:pt x="4911660" y="1111884"/>
                </a:lnTo>
                <a:lnTo>
                  <a:pt x="595821" y="1111884"/>
                </a:lnTo>
                <a:cubicBezTo>
                  <a:pt x="266757" y="1111884"/>
                  <a:pt x="0" y="862980"/>
                  <a:pt x="0" y="555942"/>
                </a:cubicBezTo>
                <a:cubicBezTo>
                  <a:pt x="0" y="248903"/>
                  <a:pt x="266757" y="0"/>
                  <a:pt x="595821" y="0"/>
                </a:cubicBezTo>
                <a:close/>
              </a:path>
            </a:pathLst>
          </a:custGeom>
          <a:solidFill>
            <a:srgbClr val="FFFFFF">
              <a:alpha val="100000"/>
            </a:srgbClr>
          </a:solidFill>
          <a:ln w="38100" cap="flat">
            <a:solidFill>
              <a:srgbClr val="0A3760">
                <a:alpha val="100000"/>
              </a:srgbClr>
            </a:solidFill>
            <a:prstDash val="solid"/>
          </a:ln>
          <a:effectLst>
            <a:outerShdw blurRad="63500" sx="102000" sy="102000" algn="ctr" rotWithShape="0">
              <a:srgbClr val="000000">
                <a:alpha val="40000"/>
              </a:srgbClr>
            </a:outerShdw>
          </a:effectLst>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5" name="AutoShape 5"/>
          <p:cNvSpPr/>
          <p:nvPr/>
        </p:nvSpPr>
        <p:spPr>
          <a:xfrm>
            <a:off x="4343400" y="3155950"/>
            <a:ext cx="5065395" cy="645160"/>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600" b="1" i="0" u="none" strike="noStrike">
                <a:solidFill>
                  <a:srgbClr val="000000"/>
                </a:solidFill>
                <a:latin typeface="微软雅黑"/>
                <a:ea typeface="微软雅黑"/>
                <a:cs typeface="微软雅黑"/>
                <a:sym typeface="微软雅黑"/>
              </a:rPr>
              <a:t>5. 工作计划</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grpSp>
        <p:nvGrpSpPr>
          <p:cNvPr id="36" name="组合 35">
            <a:extLst>
              <a:ext uri="{FF2B5EF4-FFF2-40B4-BE49-F238E27FC236}">
                <a16:creationId xmlns:a16="http://schemas.microsoft.com/office/drawing/2014/main" id="{C6BDE94F-CB8E-616B-A82A-B6547B305578}"/>
              </a:ext>
            </a:extLst>
          </p:cNvPr>
          <p:cNvGrpSpPr/>
          <p:nvPr/>
        </p:nvGrpSpPr>
        <p:grpSpPr>
          <a:xfrm>
            <a:off x="0" y="132080"/>
            <a:ext cx="4760595" cy="617855"/>
            <a:chOff x="0" y="132080"/>
            <a:chExt cx="4760595" cy="617855"/>
          </a:xfrm>
        </p:grpSpPr>
        <p:sp>
          <p:nvSpPr>
            <p:cNvPr id="2" name="Freeform 2"/>
            <p:cNvSpPr/>
            <p:nvPr/>
          </p:nvSpPr>
          <p:spPr>
            <a:xfrm>
              <a:off x="0" y="132080"/>
              <a:ext cx="4009390" cy="574040"/>
            </a:xfrm>
            <a:custGeom>
              <a:avLst/>
              <a:gdLst/>
              <a:ahLst/>
              <a:cxnLst/>
              <a:rect l="l" t="t" r="r" b="b"/>
              <a:pathLst>
                <a:path w="4009390" h="574040">
                  <a:moveTo>
                    <a:pt x="431770" y="0"/>
                  </a:moveTo>
                  <a:lnTo>
                    <a:pt x="431776" y="0"/>
                  </a:lnTo>
                  <a:lnTo>
                    <a:pt x="3559305" y="0"/>
                  </a:lnTo>
                  <a:lnTo>
                    <a:pt x="3559305" y="1228"/>
                  </a:lnTo>
                  <a:lnTo>
                    <a:pt x="3577620" y="0"/>
                  </a:lnTo>
                  <a:cubicBezTo>
                    <a:pt x="3816081" y="0"/>
                    <a:pt x="4009390" y="128504"/>
                    <a:pt x="4009390" y="287020"/>
                  </a:cubicBezTo>
                  <a:cubicBezTo>
                    <a:pt x="4009390" y="445536"/>
                    <a:pt x="3816081" y="574040"/>
                    <a:pt x="3577620" y="574040"/>
                  </a:cubicBezTo>
                  <a:lnTo>
                    <a:pt x="3559305" y="572813"/>
                  </a:lnTo>
                  <a:lnTo>
                    <a:pt x="3559305" y="574040"/>
                  </a:lnTo>
                  <a:lnTo>
                    <a:pt x="431770" y="574040"/>
                  </a:lnTo>
                  <a:cubicBezTo>
                    <a:pt x="193309" y="574040"/>
                    <a:pt x="0" y="445536"/>
                    <a:pt x="0" y="287020"/>
                  </a:cubicBezTo>
                  <a:cubicBezTo>
                    <a:pt x="0" y="128504"/>
                    <a:pt x="193309" y="0"/>
                    <a:pt x="431770"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3" name="Picture 3"/>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sp>
          <p:nvSpPr>
            <p:cNvPr id="4" name="AutoShape 4"/>
            <p:cNvSpPr/>
            <p:nvPr/>
          </p:nvSpPr>
          <p:spPr>
            <a:xfrm>
              <a:off x="901700" y="245745"/>
              <a:ext cx="3858895"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en-US" sz="2400" b="1" i="0" u="none" strike="noStrike" dirty="0" err="1">
                  <a:solidFill>
                    <a:srgbClr val="FFFFFF"/>
                  </a:solidFill>
                  <a:latin typeface="微软雅黑"/>
                  <a:ea typeface="微软雅黑"/>
                  <a:cs typeface="微软雅黑"/>
                  <a:sym typeface="微软雅黑"/>
                </a:rPr>
                <a:t>阶段性实验结果</a:t>
              </a:r>
              <a:endParaRPr lang="en-US" sz="1100" dirty="0"/>
            </a:p>
          </p:txBody>
        </p:sp>
      </p:grpSp>
      <p:sp>
        <p:nvSpPr>
          <p:cNvPr id="5" name="AutoShape 5"/>
          <p:cNvSpPr/>
          <p:nvPr/>
        </p:nvSpPr>
        <p:spPr>
          <a:xfrm>
            <a:off x="333525" y="826770"/>
            <a:ext cx="11524315" cy="381000"/>
          </a:xfrm>
          <a:prstGeom prst="roundRect">
            <a:avLst>
              <a:gd name="adj" fmla="val 0"/>
            </a:avLst>
          </a:prstGeom>
          <a:solidFill>
            <a:srgbClr val="0A3760">
              <a:alpha val="100000"/>
            </a:srgbClr>
          </a:solidFill>
          <a:ln w="25400" cap="flat" cmpd="sng">
            <a:noFill/>
            <a:prstDash val="solid"/>
            <a:round/>
          </a:ln>
        </p:spPr>
        <p:txBody>
          <a:bodyPr vert="horz" wrap="square" lIns="0" tIns="25400" rIns="0" bIns="25400" rtlCol="0" anchor="ctr" anchorCtr="0"/>
          <a:lstStyle/>
          <a:p>
            <a:pPr marL="0" indent="0" algn="ctr" defTabSz="914400">
              <a:lnSpc>
                <a:spcPct val="125000"/>
              </a:lnSpc>
              <a:defRPr/>
            </a:pPr>
            <a:r>
              <a:rPr lang="zh-CN" altLang="en-US" sz="1500" b="1" i="0" u="none" strike="noStrike" dirty="0">
                <a:solidFill>
                  <a:srgbClr val="FFFFFF"/>
                </a:solidFill>
                <a:latin typeface="微软雅黑"/>
                <a:ea typeface="微软雅黑"/>
                <a:cs typeface="微软雅黑"/>
                <a:sym typeface="微软雅黑"/>
              </a:rPr>
              <a:t>数据准备</a:t>
            </a:r>
            <a:endParaRPr lang="en-US" sz="1100" dirty="0"/>
          </a:p>
        </p:txBody>
      </p:sp>
      <p:pic>
        <p:nvPicPr>
          <p:cNvPr id="57" name="图片 56">
            <a:extLst>
              <a:ext uri="{FF2B5EF4-FFF2-40B4-BE49-F238E27FC236}">
                <a16:creationId xmlns:a16="http://schemas.microsoft.com/office/drawing/2014/main" id="{43C75263-FA4E-4489-D5E5-4298BA5A3552}"/>
              </a:ext>
            </a:extLst>
          </p:cNvPr>
          <p:cNvPicPr>
            <a:picLocks noChangeAspect="1"/>
          </p:cNvPicPr>
          <p:nvPr/>
        </p:nvPicPr>
        <p:blipFill rotWithShape="1">
          <a:blip r:embed="rId5"/>
          <a:srcRect t="6003"/>
          <a:stretch/>
        </p:blipFill>
        <p:spPr>
          <a:xfrm>
            <a:off x="333525" y="1328864"/>
            <a:ext cx="5789930" cy="2853690"/>
          </a:xfrm>
          <a:prstGeom prst="rect">
            <a:avLst/>
          </a:prstGeom>
          <a:noFill/>
          <a:ln>
            <a:noFill/>
          </a:ln>
        </p:spPr>
      </p:pic>
      <p:pic>
        <p:nvPicPr>
          <p:cNvPr id="58" name="图片 57">
            <a:extLst>
              <a:ext uri="{FF2B5EF4-FFF2-40B4-BE49-F238E27FC236}">
                <a16:creationId xmlns:a16="http://schemas.microsoft.com/office/drawing/2014/main" id="{D82DC00B-1E84-0415-BB40-A62C00AA509B}"/>
              </a:ext>
            </a:extLst>
          </p:cNvPr>
          <p:cNvPicPr>
            <a:picLocks noChangeAspect="1"/>
          </p:cNvPicPr>
          <p:nvPr/>
        </p:nvPicPr>
        <p:blipFill>
          <a:blip r:embed="rId6"/>
          <a:stretch>
            <a:fillRect/>
          </a:stretch>
        </p:blipFill>
        <p:spPr>
          <a:xfrm>
            <a:off x="6071720" y="4211492"/>
            <a:ext cx="5786120" cy="2108835"/>
          </a:xfrm>
          <a:prstGeom prst="rect">
            <a:avLst/>
          </a:prstGeom>
          <a:noFill/>
          <a:ln>
            <a:noFill/>
          </a:ln>
        </p:spPr>
      </p:pic>
      <p:pic>
        <p:nvPicPr>
          <p:cNvPr id="59" name="图片 58">
            <a:extLst>
              <a:ext uri="{FF2B5EF4-FFF2-40B4-BE49-F238E27FC236}">
                <a16:creationId xmlns:a16="http://schemas.microsoft.com/office/drawing/2014/main" id="{0479B4DA-F502-736B-AE1D-5983164AF8E5}"/>
              </a:ext>
            </a:extLst>
          </p:cNvPr>
          <p:cNvPicPr>
            <a:picLocks noChangeAspect="1"/>
          </p:cNvPicPr>
          <p:nvPr/>
        </p:nvPicPr>
        <p:blipFill>
          <a:blip r:embed="rId7"/>
          <a:stretch>
            <a:fillRect/>
          </a:stretch>
        </p:blipFill>
        <p:spPr>
          <a:xfrm>
            <a:off x="333525" y="3466637"/>
            <a:ext cx="5790565" cy="2853690"/>
          </a:xfrm>
          <a:prstGeom prst="rect">
            <a:avLst/>
          </a:prstGeom>
          <a:noFill/>
          <a:ln>
            <a:noFill/>
          </a:ln>
        </p:spPr>
      </p:pic>
      <p:pic>
        <p:nvPicPr>
          <p:cNvPr id="60" name="图片 59">
            <a:extLst>
              <a:ext uri="{FF2B5EF4-FFF2-40B4-BE49-F238E27FC236}">
                <a16:creationId xmlns:a16="http://schemas.microsoft.com/office/drawing/2014/main" id="{CC8F7DD7-284E-D8B4-58E7-7CE90E43D3FB}"/>
              </a:ext>
            </a:extLst>
          </p:cNvPr>
          <p:cNvPicPr>
            <a:picLocks noChangeAspect="1"/>
          </p:cNvPicPr>
          <p:nvPr/>
        </p:nvPicPr>
        <p:blipFill>
          <a:blip r:embed="rId8"/>
          <a:stretch>
            <a:fillRect/>
          </a:stretch>
        </p:blipFill>
        <p:spPr>
          <a:xfrm>
            <a:off x="6096000" y="1284605"/>
            <a:ext cx="5787390" cy="2990215"/>
          </a:xfrm>
          <a:prstGeom prst="rect">
            <a:avLst/>
          </a:prstGeom>
          <a:noFill/>
          <a:ln>
            <a:noFill/>
          </a:ln>
        </p:spPr>
      </p:pic>
    </p:spTree>
    <p:extLst>
      <p:ext uri="{BB962C8B-B14F-4D97-AF65-F5344CB8AC3E}">
        <p14:creationId xmlns:p14="http://schemas.microsoft.com/office/powerpoint/2010/main" val="23616927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a:extLst>
            <a:ext uri="{FF2B5EF4-FFF2-40B4-BE49-F238E27FC236}">
              <a16:creationId xmlns:a16="http://schemas.microsoft.com/office/drawing/2014/main" id="{98E14DAF-CFD7-2F93-A524-421937458264}"/>
            </a:ext>
          </a:extLst>
        </p:cNvPr>
        <p:cNvGrpSpPr/>
        <p:nvPr/>
      </p:nvGrpSpPr>
      <p:grpSpPr>
        <a:xfrm>
          <a:off x="0" y="0"/>
          <a:ext cx="0" cy="0"/>
          <a:chOff x="0" y="0"/>
          <a:chExt cx="0" cy="0"/>
        </a:xfrm>
      </p:grpSpPr>
      <p:grpSp>
        <p:nvGrpSpPr>
          <p:cNvPr id="36" name="组合 35">
            <a:extLst>
              <a:ext uri="{FF2B5EF4-FFF2-40B4-BE49-F238E27FC236}">
                <a16:creationId xmlns:a16="http://schemas.microsoft.com/office/drawing/2014/main" id="{89978539-BA2F-17DF-246B-30C208FCB582}"/>
              </a:ext>
            </a:extLst>
          </p:cNvPr>
          <p:cNvGrpSpPr/>
          <p:nvPr/>
        </p:nvGrpSpPr>
        <p:grpSpPr>
          <a:xfrm>
            <a:off x="0" y="132080"/>
            <a:ext cx="4760595" cy="617855"/>
            <a:chOff x="0" y="132080"/>
            <a:chExt cx="4760595" cy="617855"/>
          </a:xfrm>
        </p:grpSpPr>
        <p:sp>
          <p:nvSpPr>
            <p:cNvPr id="2" name="Freeform 2">
              <a:extLst>
                <a:ext uri="{FF2B5EF4-FFF2-40B4-BE49-F238E27FC236}">
                  <a16:creationId xmlns:a16="http://schemas.microsoft.com/office/drawing/2014/main" id="{10804420-A2DB-EF07-0679-120A629850B5}"/>
                </a:ext>
              </a:extLst>
            </p:cNvPr>
            <p:cNvSpPr/>
            <p:nvPr/>
          </p:nvSpPr>
          <p:spPr>
            <a:xfrm>
              <a:off x="0" y="132080"/>
              <a:ext cx="4009390" cy="574040"/>
            </a:xfrm>
            <a:custGeom>
              <a:avLst/>
              <a:gdLst/>
              <a:ahLst/>
              <a:cxnLst/>
              <a:rect l="l" t="t" r="r" b="b"/>
              <a:pathLst>
                <a:path w="4009390" h="574040">
                  <a:moveTo>
                    <a:pt x="431770" y="0"/>
                  </a:moveTo>
                  <a:lnTo>
                    <a:pt x="431776" y="0"/>
                  </a:lnTo>
                  <a:lnTo>
                    <a:pt x="3559305" y="0"/>
                  </a:lnTo>
                  <a:lnTo>
                    <a:pt x="3559305" y="1228"/>
                  </a:lnTo>
                  <a:lnTo>
                    <a:pt x="3577620" y="0"/>
                  </a:lnTo>
                  <a:cubicBezTo>
                    <a:pt x="3816081" y="0"/>
                    <a:pt x="4009390" y="128504"/>
                    <a:pt x="4009390" y="287020"/>
                  </a:cubicBezTo>
                  <a:cubicBezTo>
                    <a:pt x="4009390" y="445536"/>
                    <a:pt x="3816081" y="574040"/>
                    <a:pt x="3577620" y="574040"/>
                  </a:cubicBezTo>
                  <a:lnTo>
                    <a:pt x="3559305" y="572813"/>
                  </a:lnTo>
                  <a:lnTo>
                    <a:pt x="3559305" y="574040"/>
                  </a:lnTo>
                  <a:lnTo>
                    <a:pt x="431770" y="574040"/>
                  </a:lnTo>
                  <a:cubicBezTo>
                    <a:pt x="193309" y="574040"/>
                    <a:pt x="0" y="445536"/>
                    <a:pt x="0" y="287020"/>
                  </a:cubicBezTo>
                  <a:cubicBezTo>
                    <a:pt x="0" y="128504"/>
                    <a:pt x="193309" y="0"/>
                    <a:pt x="431770"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3" name="Picture 3">
              <a:extLst>
                <a:ext uri="{FF2B5EF4-FFF2-40B4-BE49-F238E27FC236}">
                  <a16:creationId xmlns:a16="http://schemas.microsoft.com/office/drawing/2014/main" id="{5692C201-8AA5-F085-1E86-3F6A9D798D37}"/>
                </a:ext>
              </a:extLst>
            </p:cNvPr>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sp>
          <p:nvSpPr>
            <p:cNvPr id="4" name="AutoShape 4">
              <a:extLst>
                <a:ext uri="{FF2B5EF4-FFF2-40B4-BE49-F238E27FC236}">
                  <a16:creationId xmlns:a16="http://schemas.microsoft.com/office/drawing/2014/main" id="{277C9D23-E46F-B68E-A126-3DC7EF02F375}"/>
                </a:ext>
              </a:extLst>
            </p:cNvPr>
            <p:cNvSpPr/>
            <p:nvPr/>
          </p:nvSpPr>
          <p:spPr>
            <a:xfrm>
              <a:off x="901700" y="245745"/>
              <a:ext cx="3858895"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en-US" sz="2400" b="1" i="0" u="none" strike="noStrike" dirty="0" err="1">
                  <a:solidFill>
                    <a:srgbClr val="FFFFFF"/>
                  </a:solidFill>
                  <a:latin typeface="微软雅黑"/>
                  <a:ea typeface="微软雅黑"/>
                  <a:cs typeface="微软雅黑"/>
                  <a:sym typeface="微软雅黑"/>
                </a:rPr>
                <a:t>阶段性实验结果</a:t>
              </a:r>
              <a:endParaRPr lang="en-US" sz="1100" dirty="0"/>
            </a:p>
          </p:txBody>
        </p:sp>
      </p:grpSp>
      <p:sp>
        <p:nvSpPr>
          <p:cNvPr id="5" name="AutoShape 5">
            <a:extLst>
              <a:ext uri="{FF2B5EF4-FFF2-40B4-BE49-F238E27FC236}">
                <a16:creationId xmlns:a16="http://schemas.microsoft.com/office/drawing/2014/main" id="{03CCAFB1-8E51-E054-C980-79C2A88474A8}"/>
              </a:ext>
            </a:extLst>
          </p:cNvPr>
          <p:cNvSpPr/>
          <p:nvPr/>
        </p:nvSpPr>
        <p:spPr>
          <a:xfrm>
            <a:off x="382642" y="858236"/>
            <a:ext cx="10209159" cy="445487"/>
          </a:xfrm>
          <a:prstGeom prst="roundRect">
            <a:avLst>
              <a:gd name="adj" fmla="val 0"/>
            </a:avLst>
          </a:prstGeom>
          <a:solidFill>
            <a:srgbClr val="0A3760">
              <a:alpha val="100000"/>
            </a:srgbClr>
          </a:solidFill>
          <a:ln w="25400" cap="flat" cmpd="sng">
            <a:noFill/>
            <a:prstDash val="solid"/>
            <a:round/>
          </a:ln>
        </p:spPr>
        <p:txBody>
          <a:bodyPr vert="horz" wrap="square" lIns="0" tIns="25400" rIns="0" bIns="25400" rtlCol="0" anchor="ctr" anchorCtr="0"/>
          <a:lstStyle/>
          <a:p>
            <a:pPr algn="ctr">
              <a:lnSpc>
                <a:spcPct val="125000"/>
              </a:lnSpc>
              <a:defRPr/>
            </a:pPr>
            <a:r>
              <a:rPr lang="en-US" altLang="zh-CN" sz="1600" b="1" dirty="0" err="1">
                <a:solidFill>
                  <a:srgbClr val="FFFFFF"/>
                </a:solidFill>
                <a:latin typeface="微软雅黑"/>
                <a:ea typeface="微软雅黑"/>
                <a:cs typeface="微软雅黑"/>
                <a:sym typeface="微软雅黑"/>
              </a:rPr>
              <a:t>提示词与阈值冻结</a:t>
            </a:r>
            <a:endParaRPr lang="en-US" sz="1100" dirty="0"/>
          </a:p>
        </p:txBody>
      </p:sp>
      <p:pic>
        <p:nvPicPr>
          <p:cNvPr id="7" name="图片 6">
            <a:extLst>
              <a:ext uri="{FF2B5EF4-FFF2-40B4-BE49-F238E27FC236}">
                <a16:creationId xmlns:a16="http://schemas.microsoft.com/office/drawing/2014/main" id="{93229BAD-A538-3375-BA6F-42403BBD1E0D}"/>
              </a:ext>
            </a:extLst>
          </p:cNvPr>
          <p:cNvPicPr>
            <a:picLocks noChangeAspect="1"/>
          </p:cNvPicPr>
          <p:nvPr/>
        </p:nvPicPr>
        <p:blipFill>
          <a:blip r:embed="rId5"/>
          <a:stretch>
            <a:fillRect/>
          </a:stretch>
        </p:blipFill>
        <p:spPr>
          <a:xfrm>
            <a:off x="382643" y="1347539"/>
            <a:ext cx="10209160" cy="5067775"/>
          </a:xfrm>
          <a:prstGeom prst="rect">
            <a:avLst/>
          </a:prstGeom>
        </p:spPr>
      </p:pic>
    </p:spTree>
    <p:extLst>
      <p:ext uri="{BB962C8B-B14F-4D97-AF65-F5344CB8AC3E}">
        <p14:creationId xmlns:p14="http://schemas.microsoft.com/office/powerpoint/2010/main" val="21936041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a:extLst>
            <a:ext uri="{FF2B5EF4-FFF2-40B4-BE49-F238E27FC236}">
              <a16:creationId xmlns:a16="http://schemas.microsoft.com/office/drawing/2014/main" id="{44562E0E-174D-AF6E-E8AD-B50A1DEEC4E6}"/>
            </a:ext>
          </a:extLst>
        </p:cNvPr>
        <p:cNvGrpSpPr/>
        <p:nvPr/>
      </p:nvGrpSpPr>
      <p:grpSpPr>
        <a:xfrm>
          <a:off x="0" y="0"/>
          <a:ext cx="0" cy="0"/>
          <a:chOff x="0" y="0"/>
          <a:chExt cx="0" cy="0"/>
        </a:xfrm>
      </p:grpSpPr>
      <p:grpSp>
        <p:nvGrpSpPr>
          <p:cNvPr id="36" name="组合 35">
            <a:extLst>
              <a:ext uri="{FF2B5EF4-FFF2-40B4-BE49-F238E27FC236}">
                <a16:creationId xmlns:a16="http://schemas.microsoft.com/office/drawing/2014/main" id="{6A6498DA-763B-66C2-1AFE-CE17AF7AAE0C}"/>
              </a:ext>
            </a:extLst>
          </p:cNvPr>
          <p:cNvGrpSpPr/>
          <p:nvPr/>
        </p:nvGrpSpPr>
        <p:grpSpPr>
          <a:xfrm>
            <a:off x="0" y="132080"/>
            <a:ext cx="4760595" cy="617855"/>
            <a:chOff x="0" y="132080"/>
            <a:chExt cx="4760595" cy="617855"/>
          </a:xfrm>
        </p:grpSpPr>
        <p:sp>
          <p:nvSpPr>
            <p:cNvPr id="2" name="Freeform 2">
              <a:extLst>
                <a:ext uri="{FF2B5EF4-FFF2-40B4-BE49-F238E27FC236}">
                  <a16:creationId xmlns:a16="http://schemas.microsoft.com/office/drawing/2014/main" id="{9440A03D-EF5C-09D1-C096-BE78A1EB5E3C}"/>
                </a:ext>
              </a:extLst>
            </p:cNvPr>
            <p:cNvSpPr/>
            <p:nvPr/>
          </p:nvSpPr>
          <p:spPr>
            <a:xfrm>
              <a:off x="0" y="132080"/>
              <a:ext cx="4009390" cy="574040"/>
            </a:xfrm>
            <a:custGeom>
              <a:avLst/>
              <a:gdLst/>
              <a:ahLst/>
              <a:cxnLst/>
              <a:rect l="l" t="t" r="r" b="b"/>
              <a:pathLst>
                <a:path w="4009390" h="574040">
                  <a:moveTo>
                    <a:pt x="431770" y="0"/>
                  </a:moveTo>
                  <a:lnTo>
                    <a:pt x="431776" y="0"/>
                  </a:lnTo>
                  <a:lnTo>
                    <a:pt x="3559305" y="0"/>
                  </a:lnTo>
                  <a:lnTo>
                    <a:pt x="3559305" y="1228"/>
                  </a:lnTo>
                  <a:lnTo>
                    <a:pt x="3577620" y="0"/>
                  </a:lnTo>
                  <a:cubicBezTo>
                    <a:pt x="3816081" y="0"/>
                    <a:pt x="4009390" y="128504"/>
                    <a:pt x="4009390" y="287020"/>
                  </a:cubicBezTo>
                  <a:cubicBezTo>
                    <a:pt x="4009390" y="445536"/>
                    <a:pt x="3816081" y="574040"/>
                    <a:pt x="3577620" y="574040"/>
                  </a:cubicBezTo>
                  <a:lnTo>
                    <a:pt x="3559305" y="572813"/>
                  </a:lnTo>
                  <a:lnTo>
                    <a:pt x="3559305" y="574040"/>
                  </a:lnTo>
                  <a:lnTo>
                    <a:pt x="431770" y="574040"/>
                  </a:lnTo>
                  <a:cubicBezTo>
                    <a:pt x="193309" y="574040"/>
                    <a:pt x="0" y="445536"/>
                    <a:pt x="0" y="287020"/>
                  </a:cubicBezTo>
                  <a:cubicBezTo>
                    <a:pt x="0" y="128504"/>
                    <a:pt x="193309" y="0"/>
                    <a:pt x="431770"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3" name="Picture 3">
              <a:extLst>
                <a:ext uri="{FF2B5EF4-FFF2-40B4-BE49-F238E27FC236}">
                  <a16:creationId xmlns:a16="http://schemas.microsoft.com/office/drawing/2014/main" id="{165985BB-2E7D-7617-B8A5-3458C8EB625A}"/>
                </a:ext>
              </a:extLst>
            </p:cNvPr>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sp>
          <p:nvSpPr>
            <p:cNvPr id="4" name="AutoShape 4">
              <a:extLst>
                <a:ext uri="{FF2B5EF4-FFF2-40B4-BE49-F238E27FC236}">
                  <a16:creationId xmlns:a16="http://schemas.microsoft.com/office/drawing/2014/main" id="{BBE33100-4F83-2A9C-35BF-727784B48B6C}"/>
                </a:ext>
              </a:extLst>
            </p:cNvPr>
            <p:cNvSpPr/>
            <p:nvPr/>
          </p:nvSpPr>
          <p:spPr>
            <a:xfrm>
              <a:off x="901700" y="245745"/>
              <a:ext cx="3858895"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en-US" sz="2400" b="1" i="0" u="none" strike="noStrike" dirty="0" err="1">
                  <a:solidFill>
                    <a:srgbClr val="FFFFFF"/>
                  </a:solidFill>
                  <a:latin typeface="微软雅黑"/>
                  <a:ea typeface="微软雅黑"/>
                  <a:cs typeface="微软雅黑"/>
                  <a:sym typeface="微软雅黑"/>
                </a:rPr>
                <a:t>阶段性实验结果</a:t>
              </a:r>
              <a:endParaRPr lang="en-US" sz="1100" dirty="0"/>
            </a:p>
          </p:txBody>
        </p:sp>
      </p:grpSp>
      <p:sp>
        <p:nvSpPr>
          <p:cNvPr id="5" name="AutoShape 5">
            <a:extLst>
              <a:ext uri="{FF2B5EF4-FFF2-40B4-BE49-F238E27FC236}">
                <a16:creationId xmlns:a16="http://schemas.microsoft.com/office/drawing/2014/main" id="{B28C378D-E528-B99E-CD44-5E435F0CF95A}"/>
              </a:ext>
            </a:extLst>
          </p:cNvPr>
          <p:cNvSpPr/>
          <p:nvPr/>
        </p:nvSpPr>
        <p:spPr>
          <a:xfrm>
            <a:off x="1079500" y="1397000"/>
            <a:ext cx="10033000" cy="381000"/>
          </a:xfrm>
          <a:prstGeom prst="roundRect">
            <a:avLst>
              <a:gd name="adj" fmla="val 0"/>
            </a:avLst>
          </a:prstGeom>
          <a:solidFill>
            <a:srgbClr val="0A3760">
              <a:alpha val="100000"/>
            </a:srgbClr>
          </a:solidFill>
          <a:ln w="25400" cap="flat" cmpd="sng">
            <a:noFill/>
            <a:prstDash val="solid"/>
            <a:round/>
          </a:ln>
        </p:spPr>
        <p:txBody>
          <a:bodyPr vert="horz" wrap="square" lIns="0" tIns="25400" rIns="0" bIns="25400" rtlCol="0" anchor="ctr" anchorCtr="0"/>
          <a:lstStyle/>
          <a:p>
            <a:pPr marL="0" indent="0" algn="ctr" defTabSz="914400">
              <a:lnSpc>
                <a:spcPct val="125000"/>
              </a:lnSpc>
              <a:defRPr/>
            </a:pPr>
            <a:r>
              <a:rPr lang="en-US" sz="1500" b="1" i="0" u="none" strike="noStrike" dirty="0">
                <a:solidFill>
                  <a:srgbClr val="FFFFFF"/>
                </a:solidFill>
                <a:latin typeface="微软雅黑"/>
                <a:ea typeface="微软雅黑"/>
                <a:cs typeface="微软雅黑"/>
                <a:sym typeface="微软雅黑"/>
              </a:rPr>
              <a:t>前期实验结果与候选分支状态（V1 </a:t>
            </a:r>
            <a:r>
              <a:rPr lang="en-US" sz="1500" b="1" i="0" u="none" strike="noStrike" dirty="0" err="1">
                <a:solidFill>
                  <a:srgbClr val="FFFFFF"/>
                </a:solidFill>
                <a:latin typeface="微软雅黑"/>
                <a:ea typeface="微软雅黑"/>
                <a:cs typeface="微软雅黑"/>
                <a:sym typeface="微软雅黑"/>
              </a:rPr>
              <a:t>基线与</a:t>
            </a:r>
            <a:r>
              <a:rPr lang="en-US" sz="1500" b="1" i="0" u="none" strike="noStrike" dirty="0">
                <a:solidFill>
                  <a:srgbClr val="FFFFFF"/>
                </a:solidFill>
                <a:latin typeface="微软雅黑"/>
                <a:ea typeface="微软雅黑"/>
                <a:cs typeface="微软雅黑"/>
                <a:sym typeface="微软雅黑"/>
              </a:rPr>
              <a:t> SAM3 </a:t>
            </a:r>
            <a:r>
              <a:rPr lang="en-US" sz="1500" b="1" i="0" u="none" strike="noStrike" dirty="0" err="1">
                <a:solidFill>
                  <a:srgbClr val="FFFFFF"/>
                </a:solidFill>
                <a:latin typeface="微软雅黑"/>
                <a:ea typeface="微软雅黑"/>
                <a:cs typeface="微软雅黑"/>
                <a:sym typeface="微软雅黑"/>
              </a:rPr>
              <a:t>候选消融，数据来源：附录</a:t>
            </a:r>
            <a:r>
              <a:rPr lang="en-US" sz="1500" b="1" i="0" u="none" strike="noStrike" dirty="0">
                <a:solidFill>
                  <a:srgbClr val="FFFFFF"/>
                </a:solidFill>
                <a:latin typeface="微软雅黑"/>
                <a:ea typeface="微软雅黑"/>
                <a:cs typeface="微软雅黑"/>
                <a:sym typeface="微软雅黑"/>
              </a:rPr>
              <a:t> C）</a:t>
            </a:r>
            <a:endParaRPr lang="en-US" sz="1100" dirty="0"/>
          </a:p>
        </p:txBody>
      </p:sp>
      <p:sp>
        <p:nvSpPr>
          <p:cNvPr id="6" name="AutoShape 6">
            <a:extLst>
              <a:ext uri="{FF2B5EF4-FFF2-40B4-BE49-F238E27FC236}">
                <a16:creationId xmlns:a16="http://schemas.microsoft.com/office/drawing/2014/main" id="{31497BAE-FD83-9ADB-7A88-2F8576412339}"/>
              </a:ext>
            </a:extLst>
          </p:cNvPr>
          <p:cNvSpPr/>
          <p:nvPr/>
        </p:nvSpPr>
        <p:spPr>
          <a:xfrm>
            <a:off x="1397000" y="1968500"/>
            <a:ext cx="1651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记录</a:t>
            </a:r>
            <a:endParaRPr lang="en-US" sz="1100"/>
          </a:p>
        </p:txBody>
      </p:sp>
      <p:sp>
        <p:nvSpPr>
          <p:cNvPr id="7" name="AutoShape 7">
            <a:extLst>
              <a:ext uri="{FF2B5EF4-FFF2-40B4-BE49-F238E27FC236}">
                <a16:creationId xmlns:a16="http://schemas.microsoft.com/office/drawing/2014/main" id="{28C66A7B-A536-9432-118C-E562EBE7C6F1}"/>
              </a:ext>
            </a:extLst>
          </p:cNvPr>
          <p:cNvSpPr/>
          <p:nvPr/>
        </p:nvSpPr>
        <p:spPr>
          <a:xfrm>
            <a:off x="3556000" y="1968500"/>
            <a:ext cx="1524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P</a:t>
            </a:r>
            <a:endParaRPr lang="en-US" sz="1100"/>
          </a:p>
        </p:txBody>
      </p:sp>
      <p:sp>
        <p:nvSpPr>
          <p:cNvPr id="8" name="AutoShape 8">
            <a:extLst>
              <a:ext uri="{FF2B5EF4-FFF2-40B4-BE49-F238E27FC236}">
                <a16:creationId xmlns:a16="http://schemas.microsoft.com/office/drawing/2014/main" id="{B288AEED-E5AB-A3CD-515A-A6E645391E10}"/>
              </a:ext>
            </a:extLst>
          </p:cNvPr>
          <p:cNvSpPr/>
          <p:nvPr/>
        </p:nvSpPr>
        <p:spPr>
          <a:xfrm>
            <a:off x="5334000" y="1968500"/>
            <a:ext cx="1524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R</a:t>
            </a:r>
            <a:endParaRPr lang="en-US" sz="1100"/>
          </a:p>
        </p:txBody>
      </p:sp>
      <p:sp>
        <p:nvSpPr>
          <p:cNvPr id="9" name="AutoShape 9">
            <a:extLst>
              <a:ext uri="{FF2B5EF4-FFF2-40B4-BE49-F238E27FC236}">
                <a16:creationId xmlns:a16="http://schemas.microsoft.com/office/drawing/2014/main" id="{CDAA3DE0-22D5-D17A-31C4-FA8F8EF21FE9}"/>
              </a:ext>
            </a:extLst>
          </p:cNvPr>
          <p:cNvSpPr/>
          <p:nvPr/>
        </p:nvSpPr>
        <p:spPr>
          <a:xfrm>
            <a:off x="7112000" y="1968500"/>
            <a:ext cx="1778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mAP50</a:t>
            </a:r>
            <a:endParaRPr lang="en-US" sz="1100"/>
          </a:p>
        </p:txBody>
      </p:sp>
      <p:sp>
        <p:nvSpPr>
          <p:cNvPr id="10" name="AutoShape 10">
            <a:extLst>
              <a:ext uri="{FF2B5EF4-FFF2-40B4-BE49-F238E27FC236}">
                <a16:creationId xmlns:a16="http://schemas.microsoft.com/office/drawing/2014/main" id="{F4B7ED8A-20B5-E9BE-22AC-DF645CBD82EF}"/>
              </a:ext>
            </a:extLst>
          </p:cNvPr>
          <p:cNvSpPr/>
          <p:nvPr/>
        </p:nvSpPr>
        <p:spPr>
          <a:xfrm>
            <a:off x="9271000" y="1968500"/>
            <a:ext cx="1905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mAP50:95</a:t>
            </a:r>
            <a:endParaRPr lang="en-US" sz="1100"/>
          </a:p>
        </p:txBody>
      </p:sp>
      <p:sp>
        <p:nvSpPr>
          <p:cNvPr id="11" name="AutoShape 11">
            <a:extLst>
              <a:ext uri="{FF2B5EF4-FFF2-40B4-BE49-F238E27FC236}">
                <a16:creationId xmlns:a16="http://schemas.microsoft.com/office/drawing/2014/main" id="{BEEC4F17-4CAA-BF37-6BBC-CC5265CADB38}"/>
              </a:ext>
            </a:extLst>
          </p:cNvPr>
          <p:cNvSpPr/>
          <p:nvPr/>
        </p:nvSpPr>
        <p:spPr>
          <a:xfrm>
            <a:off x="1397000" y="2400300"/>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Exp0 (人工GT基线)</a:t>
            </a:r>
            <a:endParaRPr lang="en-US" sz="1100"/>
          </a:p>
        </p:txBody>
      </p:sp>
      <p:sp>
        <p:nvSpPr>
          <p:cNvPr id="12" name="AutoShape 12">
            <a:extLst>
              <a:ext uri="{FF2B5EF4-FFF2-40B4-BE49-F238E27FC236}">
                <a16:creationId xmlns:a16="http://schemas.microsoft.com/office/drawing/2014/main" id="{512AF263-F756-A5A4-ACAC-929603E43797}"/>
              </a:ext>
            </a:extLst>
          </p:cNvPr>
          <p:cNvSpPr/>
          <p:nvPr/>
        </p:nvSpPr>
        <p:spPr>
          <a:xfrm>
            <a:off x="3556000" y="24003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0.8205</a:t>
            </a:r>
            <a:endParaRPr lang="en-US" sz="1100"/>
          </a:p>
        </p:txBody>
      </p:sp>
      <p:sp>
        <p:nvSpPr>
          <p:cNvPr id="13" name="AutoShape 13">
            <a:extLst>
              <a:ext uri="{FF2B5EF4-FFF2-40B4-BE49-F238E27FC236}">
                <a16:creationId xmlns:a16="http://schemas.microsoft.com/office/drawing/2014/main" id="{FB01F9B2-F613-B511-05E5-F7D50E2C0930}"/>
              </a:ext>
            </a:extLst>
          </p:cNvPr>
          <p:cNvSpPr/>
          <p:nvPr/>
        </p:nvSpPr>
        <p:spPr>
          <a:xfrm>
            <a:off x="5334000" y="24003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0.6717</a:t>
            </a:r>
            <a:endParaRPr lang="en-US" sz="1100"/>
          </a:p>
        </p:txBody>
      </p:sp>
      <p:sp>
        <p:nvSpPr>
          <p:cNvPr id="14" name="AutoShape 14">
            <a:extLst>
              <a:ext uri="{FF2B5EF4-FFF2-40B4-BE49-F238E27FC236}">
                <a16:creationId xmlns:a16="http://schemas.microsoft.com/office/drawing/2014/main" id="{92EB7887-5250-2909-1BF6-16C96E73EDB8}"/>
              </a:ext>
            </a:extLst>
          </p:cNvPr>
          <p:cNvSpPr/>
          <p:nvPr/>
        </p:nvSpPr>
        <p:spPr>
          <a:xfrm>
            <a:off x="7112000" y="240030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highlight>
                  <a:srgbClr val="FFFF00"/>
                </a:highlight>
                <a:latin typeface="微软雅黑"/>
                <a:ea typeface="微软雅黑"/>
                <a:cs typeface="微软雅黑"/>
                <a:sym typeface="微软雅黑"/>
              </a:rPr>
              <a:t>0.7430</a:t>
            </a:r>
            <a:endParaRPr lang="en-US" sz="1100">
              <a:highlight>
                <a:srgbClr val="FFFF00"/>
              </a:highlight>
            </a:endParaRPr>
          </a:p>
        </p:txBody>
      </p:sp>
      <p:sp>
        <p:nvSpPr>
          <p:cNvPr id="15" name="AutoShape 15">
            <a:extLst>
              <a:ext uri="{FF2B5EF4-FFF2-40B4-BE49-F238E27FC236}">
                <a16:creationId xmlns:a16="http://schemas.microsoft.com/office/drawing/2014/main" id="{B54CE6F3-88D5-A029-7532-EE2E4B503C5F}"/>
              </a:ext>
            </a:extLst>
          </p:cNvPr>
          <p:cNvSpPr/>
          <p:nvPr/>
        </p:nvSpPr>
        <p:spPr>
          <a:xfrm>
            <a:off x="9271000" y="24003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0.5377</a:t>
            </a:r>
            <a:endParaRPr lang="en-US" sz="1100"/>
          </a:p>
        </p:txBody>
      </p:sp>
      <p:sp>
        <p:nvSpPr>
          <p:cNvPr id="16" name="AutoShape 16">
            <a:extLst>
              <a:ext uri="{FF2B5EF4-FFF2-40B4-BE49-F238E27FC236}">
                <a16:creationId xmlns:a16="http://schemas.microsoft.com/office/drawing/2014/main" id="{88987A4A-821E-9CB8-F763-EAAD158A58A8}"/>
              </a:ext>
            </a:extLst>
          </p:cNvPr>
          <p:cNvSpPr/>
          <p:nvPr/>
        </p:nvSpPr>
        <p:spPr>
          <a:xfrm>
            <a:off x="1397000" y="2832100"/>
            <a:ext cx="1651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Exp1 (V1 单级)</a:t>
            </a:r>
            <a:endParaRPr lang="en-US" sz="1100"/>
          </a:p>
        </p:txBody>
      </p:sp>
      <p:sp>
        <p:nvSpPr>
          <p:cNvPr id="17" name="AutoShape 17">
            <a:extLst>
              <a:ext uri="{FF2B5EF4-FFF2-40B4-BE49-F238E27FC236}">
                <a16:creationId xmlns:a16="http://schemas.microsoft.com/office/drawing/2014/main" id="{EBF5A8AA-9F4D-D27C-46FF-0F5FA71D890B}"/>
              </a:ext>
            </a:extLst>
          </p:cNvPr>
          <p:cNvSpPr/>
          <p:nvPr/>
        </p:nvSpPr>
        <p:spPr>
          <a:xfrm>
            <a:off x="3556000" y="2832100"/>
            <a:ext cx="1524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0.7635</a:t>
            </a:r>
            <a:endParaRPr lang="en-US" sz="1100" dirty="0"/>
          </a:p>
        </p:txBody>
      </p:sp>
      <p:sp>
        <p:nvSpPr>
          <p:cNvPr id="18" name="AutoShape 18">
            <a:extLst>
              <a:ext uri="{FF2B5EF4-FFF2-40B4-BE49-F238E27FC236}">
                <a16:creationId xmlns:a16="http://schemas.microsoft.com/office/drawing/2014/main" id="{391A086A-14EE-9017-0F30-8B26F3F749BE}"/>
              </a:ext>
            </a:extLst>
          </p:cNvPr>
          <p:cNvSpPr/>
          <p:nvPr/>
        </p:nvSpPr>
        <p:spPr>
          <a:xfrm>
            <a:off x="5334000" y="2832100"/>
            <a:ext cx="1524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0.6216</a:t>
            </a:r>
            <a:endParaRPr lang="en-US" sz="1100"/>
          </a:p>
        </p:txBody>
      </p:sp>
      <p:sp>
        <p:nvSpPr>
          <p:cNvPr id="19" name="AutoShape 19">
            <a:extLst>
              <a:ext uri="{FF2B5EF4-FFF2-40B4-BE49-F238E27FC236}">
                <a16:creationId xmlns:a16="http://schemas.microsoft.com/office/drawing/2014/main" id="{8796C968-D15C-EE61-6B5F-10C8125270DA}"/>
              </a:ext>
            </a:extLst>
          </p:cNvPr>
          <p:cNvSpPr/>
          <p:nvPr/>
        </p:nvSpPr>
        <p:spPr>
          <a:xfrm>
            <a:off x="7112000" y="2832100"/>
            <a:ext cx="1778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highlight>
                  <a:srgbClr val="FFFF00"/>
                </a:highlight>
                <a:latin typeface="微软雅黑"/>
                <a:ea typeface="微软雅黑"/>
                <a:cs typeface="微软雅黑"/>
                <a:sym typeface="微软雅黑"/>
              </a:rPr>
              <a:t>0.6647</a:t>
            </a:r>
            <a:endParaRPr lang="en-US" sz="1100" dirty="0">
              <a:highlight>
                <a:srgbClr val="FFFF00"/>
              </a:highlight>
            </a:endParaRPr>
          </a:p>
        </p:txBody>
      </p:sp>
      <p:sp>
        <p:nvSpPr>
          <p:cNvPr id="20" name="AutoShape 20">
            <a:extLst>
              <a:ext uri="{FF2B5EF4-FFF2-40B4-BE49-F238E27FC236}">
                <a16:creationId xmlns:a16="http://schemas.microsoft.com/office/drawing/2014/main" id="{4CA93935-8F2D-F1D1-909A-6ED2EF3B1803}"/>
              </a:ext>
            </a:extLst>
          </p:cNvPr>
          <p:cNvSpPr/>
          <p:nvPr/>
        </p:nvSpPr>
        <p:spPr>
          <a:xfrm>
            <a:off x="9271000" y="2832100"/>
            <a:ext cx="1905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1" i="0" u="none" strike="noStrike" dirty="0">
                <a:solidFill>
                  <a:srgbClr val="FF0000"/>
                </a:solidFill>
                <a:latin typeface="微软雅黑"/>
                <a:ea typeface="微软雅黑"/>
                <a:cs typeface="微软雅黑"/>
                <a:sym typeface="微软雅黑"/>
              </a:rPr>
              <a:t>0.4623</a:t>
            </a:r>
            <a:endParaRPr lang="en-US" sz="1100" b="1" dirty="0">
              <a:solidFill>
                <a:srgbClr val="FF0000"/>
              </a:solidFill>
            </a:endParaRPr>
          </a:p>
        </p:txBody>
      </p:sp>
      <p:sp>
        <p:nvSpPr>
          <p:cNvPr id="21" name="AutoShape 21">
            <a:extLst>
              <a:ext uri="{FF2B5EF4-FFF2-40B4-BE49-F238E27FC236}">
                <a16:creationId xmlns:a16="http://schemas.microsoft.com/office/drawing/2014/main" id="{34970E04-74AC-7330-08E4-75C65D282846}"/>
              </a:ext>
            </a:extLst>
          </p:cNvPr>
          <p:cNvSpPr/>
          <p:nvPr/>
        </p:nvSpPr>
        <p:spPr>
          <a:xfrm>
            <a:off x="1397000" y="3263900"/>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E2A (Verifier)</a:t>
            </a:r>
            <a:endParaRPr lang="en-US" sz="1100" dirty="0"/>
          </a:p>
        </p:txBody>
      </p:sp>
      <p:sp>
        <p:nvSpPr>
          <p:cNvPr id="22" name="AutoShape 22">
            <a:extLst>
              <a:ext uri="{FF2B5EF4-FFF2-40B4-BE49-F238E27FC236}">
                <a16:creationId xmlns:a16="http://schemas.microsoft.com/office/drawing/2014/main" id="{17C18FD5-AE36-DEDB-012C-713AAF8C5B27}"/>
              </a:ext>
            </a:extLst>
          </p:cNvPr>
          <p:cNvSpPr/>
          <p:nvPr/>
        </p:nvSpPr>
        <p:spPr>
          <a:xfrm>
            <a:off x="3556000" y="32639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0.7410</a:t>
            </a:r>
            <a:endParaRPr lang="en-US" sz="1100"/>
          </a:p>
        </p:txBody>
      </p:sp>
      <p:sp>
        <p:nvSpPr>
          <p:cNvPr id="23" name="AutoShape 23">
            <a:extLst>
              <a:ext uri="{FF2B5EF4-FFF2-40B4-BE49-F238E27FC236}">
                <a16:creationId xmlns:a16="http://schemas.microsoft.com/office/drawing/2014/main" id="{9CC28F64-E904-4555-4EAA-D3344290F9E7}"/>
              </a:ext>
            </a:extLst>
          </p:cNvPr>
          <p:cNvSpPr/>
          <p:nvPr/>
        </p:nvSpPr>
        <p:spPr>
          <a:xfrm>
            <a:off x="5334000" y="32639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1" i="0" u="none" strike="noStrike" dirty="0">
                <a:solidFill>
                  <a:srgbClr val="FF0000"/>
                </a:solidFill>
                <a:latin typeface="微软雅黑"/>
                <a:ea typeface="微软雅黑"/>
                <a:cs typeface="微软雅黑"/>
                <a:sym typeface="微软雅黑"/>
              </a:rPr>
              <a:t>0.6609</a:t>
            </a:r>
            <a:endParaRPr lang="en-US" sz="1100" b="1" dirty="0">
              <a:solidFill>
                <a:srgbClr val="FF0000"/>
              </a:solidFill>
            </a:endParaRPr>
          </a:p>
        </p:txBody>
      </p:sp>
      <p:sp>
        <p:nvSpPr>
          <p:cNvPr id="24" name="AutoShape 24">
            <a:extLst>
              <a:ext uri="{FF2B5EF4-FFF2-40B4-BE49-F238E27FC236}">
                <a16:creationId xmlns:a16="http://schemas.microsoft.com/office/drawing/2014/main" id="{0262A9BA-0547-2769-973F-926B64FDB021}"/>
              </a:ext>
            </a:extLst>
          </p:cNvPr>
          <p:cNvSpPr/>
          <p:nvPr/>
        </p:nvSpPr>
        <p:spPr>
          <a:xfrm>
            <a:off x="7112000" y="326390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1" i="0" u="none" strike="noStrike" dirty="0">
                <a:solidFill>
                  <a:srgbClr val="FF0000"/>
                </a:solidFill>
                <a:latin typeface="微软雅黑"/>
                <a:ea typeface="微软雅黑"/>
                <a:cs typeface="微软雅黑"/>
                <a:sym typeface="微软雅黑"/>
              </a:rPr>
              <a:t>0.6689</a:t>
            </a:r>
            <a:endParaRPr lang="en-US" sz="1100" b="1" dirty="0">
              <a:solidFill>
                <a:srgbClr val="FF0000"/>
              </a:solidFill>
            </a:endParaRPr>
          </a:p>
        </p:txBody>
      </p:sp>
      <p:sp>
        <p:nvSpPr>
          <p:cNvPr id="25" name="AutoShape 25">
            <a:extLst>
              <a:ext uri="{FF2B5EF4-FFF2-40B4-BE49-F238E27FC236}">
                <a16:creationId xmlns:a16="http://schemas.microsoft.com/office/drawing/2014/main" id="{DECE208B-3A0A-4B82-A388-15D7EEB21824}"/>
              </a:ext>
            </a:extLst>
          </p:cNvPr>
          <p:cNvSpPr/>
          <p:nvPr/>
        </p:nvSpPr>
        <p:spPr>
          <a:xfrm>
            <a:off x="9271000" y="32639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0.4577</a:t>
            </a:r>
            <a:endParaRPr lang="en-US" sz="1100"/>
          </a:p>
        </p:txBody>
      </p:sp>
      <p:sp>
        <p:nvSpPr>
          <p:cNvPr id="26" name="AutoShape 26">
            <a:extLst>
              <a:ext uri="{FF2B5EF4-FFF2-40B4-BE49-F238E27FC236}">
                <a16:creationId xmlns:a16="http://schemas.microsoft.com/office/drawing/2014/main" id="{8416DD37-3EEC-B91D-4516-F3653F9B4826}"/>
              </a:ext>
            </a:extLst>
          </p:cNvPr>
          <p:cNvSpPr/>
          <p:nvPr/>
        </p:nvSpPr>
        <p:spPr>
          <a:xfrm>
            <a:off x="1397000" y="3695700"/>
            <a:ext cx="1651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algn="ctr">
              <a:lnSpc>
                <a:spcPct val="125000"/>
              </a:lnSpc>
              <a:defRPr/>
            </a:pPr>
            <a:r>
              <a:rPr lang="en-US" sz="1250" b="0" i="0" u="none" strike="noStrike" dirty="0">
                <a:solidFill>
                  <a:srgbClr val="141E28"/>
                </a:solidFill>
                <a:latin typeface="微软雅黑"/>
                <a:ea typeface="微软雅黑"/>
                <a:cs typeface="微软雅黑"/>
                <a:sym typeface="微软雅黑"/>
              </a:rPr>
              <a:t>E2B</a:t>
            </a:r>
            <a:r>
              <a:rPr lang="en-US" altLang="ja-JP" sz="1100" dirty="0">
                <a:solidFill>
                  <a:srgbClr val="141E28"/>
                </a:solidFill>
                <a:latin typeface="微软雅黑"/>
                <a:ea typeface="微软雅黑"/>
                <a:cs typeface="微软雅黑"/>
                <a:sym typeface="微软雅黑"/>
              </a:rPr>
              <a:t> (A</a:t>
            </a:r>
            <a:r>
              <a:rPr lang="en-US" altLang="zh-CN" sz="1100" dirty="0">
                <a:solidFill>
                  <a:srgbClr val="141E28"/>
                </a:solidFill>
                <a:latin typeface="微软雅黑"/>
                <a:ea typeface="微软雅黑"/>
                <a:cs typeface="微软雅黑"/>
                <a:sym typeface="微软雅黑"/>
              </a:rPr>
              <a:t>ppend</a:t>
            </a:r>
            <a:r>
              <a:rPr lang="en-US" altLang="ja-JP" sz="1100" dirty="0">
                <a:solidFill>
                  <a:srgbClr val="141E28"/>
                </a:solidFill>
                <a:latin typeface="微软雅黑"/>
                <a:ea typeface="微软雅黑"/>
                <a:cs typeface="微软雅黑"/>
                <a:sym typeface="微软雅黑"/>
              </a:rPr>
              <a:t>)</a:t>
            </a:r>
            <a:endParaRPr lang="en-US" sz="1100" dirty="0"/>
          </a:p>
        </p:txBody>
      </p:sp>
      <p:sp>
        <p:nvSpPr>
          <p:cNvPr id="27" name="AutoShape 27">
            <a:extLst>
              <a:ext uri="{FF2B5EF4-FFF2-40B4-BE49-F238E27FC236}">
                <a16:creationId xmlns:a16="http://schemas.microsoft.com/office/drawing/2014/main" id="{EF905050-59C3-013C-DE12-7196B1748B9B}"/>
              </a:ext>
            </a:extLst>
          </p:cNvPr>
          <p:cNvSpPr/>
          <p:nvPr/>
        </p:nvSpPr>
        <p:spPr>
          <a:xfrm>
            <a:off x="3556000" y="3695700"/>
            <a:ext cx="1524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0.7531</a:t>
            </a:r>
            <a:endParaRPr lang="en-US" sz="1100"/>
          </a:p>
        </p:txBody>
      </p:sp>
      <p:sp>
        <p:nvSpPr>
          <p:cNvPr id="28" name="AutoShape 28">
            <a:extLst>
              <a:ext uri="{FF2B5EF4-FFF2-40B4-BE49-F238E27FC236}">
                <a16:creationId xmlns:a16="http://schemas.microsoft.com/office/drawing/2014/main" id="{D1B94C95-F7F6-C9C4-A121-541F24A32622}"/>
              </a:ext>
            </a:extLst>
          </p:cNvPr>
          <p:cNvSpPr/>
          <p:nvPr/>
        </p:nvSpPr>
        <p:spPr>
          <a:xfrm>
            <a:off x="5334000" y="3695700"/>
            <a:ext cx="1524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0.6169</a:t>
            </a:r>
            <a:endParaRPr lang="en-US" sz="1100"/>
          </a:p>
        </p:txBody>
      </p:sp>
      <p:sp>
        <p:nvSpPr>
          <p:cNvPr id="29" name="AutoShape 29">
            <a:extLst>
              <a:ext uri="{FF2B5EF4-FFF2-40B4-BE49-F238E27FC236}">
                <a16:creationId xmlns:a16="http://schemas.microsoft.com/office/drawing/2014/main" id="{033B0443-B7FA-86FC-BDAB-6F3B875BE1A9}"/>
              </a:ext>
            </a:extLst>
          </p:cNvPr>
          <p:cNvSpPr/>
          <p:nvPr/>
        </p:nvSpPr>
        <p:spPr>
          <a:xfrm>
            <a:off x="7112000" y="3695700"/>
            <a:ext cx="1778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0.6641</a:t>
            </a:r>
            <a:endParaRPr lang="en-US" sz="1100" dirty="0"/>
          </a:p>
        </p:txBody>
      </p:sp>
      <p:sp>
        <p:nvSpPr>
          <p:cNvPr id="30" name="AutoShape 30">
            <a:extLst>
              <a:ext uri="{FF2B5EF4-FFF2-40B4-BE49-F238E27FC236}">
                <a16:creationId xmlns:a16="http://schemas.microsoft.com/office/drawing/2014/main" id="{8E95CBDC-8B06-CB6F-6EDC-3743EFC21C4D}"/>
              </a:ext>
            </a:extLst>
          </p:cNvPr>
          <p:cNvSpPr/>
          <p:nvPr/>
        </p:nvSpPr>
        <p:spPr>
          <a:xfrm>
            <a:off x="9271000" y="3695700"/>
            <a:ext cx="1905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0.4529</a:t>
            </a:r>
            <a:endParaRPr lang="en-US" sz="1100"/>
          </a:p>
        </p:txBody>
      </p:sp>
      <p:sp>
        <p:nvSpPr>
          <p:cNvPr id="31" name="AutoShape 31">
            <a:extLst>
              <a:ext uri="{FF2B5EF4-FFF2-40B4-BE49-F238E27FC236}">
                <a16:creationId xmlns:a16="http://schemas.microsoft.com/office/drawing/2014/main" id="{98B6C07C-BD02-DF05-05CF-6F793C315BC2}"/>
              </a:ext>
            </a:extLst>
          </p:cNvPr>
          <p:cNvSpPr/>
          <p:nvPr/>
        </p:nvSpPr>
        <p:spPr>
          <a:xfrm>
            <a:off x="1397000" y="4127500"/>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algn="ctr">
              <a:lnSpc>
                <a:spcPct val="125000"/>
              </a:lnSpc>
              <a:defRPr/>
            </a:pPr>
            <a:r>
              <a:rPr lang="en-US" sz="1250" dirty="0">
                <a:solidFill>
                  <a:srgbClr val="141E28"/>
                </a:solidFill>
                <a:latin typeface="微软雅黑"/>
                <a:ea typeface="微软雅黑"/>
                <a:cs typeface="微软雅黑"/>
                <a:sym typeface="微软雅黑"/>
              </a:rPr>
              <a:t>E2B-400</a:t>
            </a:r>
            <a:endParaRPr lang="en-US" sz="1100" dirty="0"/>
          </a:p>
        </p:txBody>
      </p:sp>
      <p:sp>
        <p:nvSpPr>
          <p:cNvPr id="32" name="AutoShape 32">
            <a:extLst>
              <a:ext uri="{FF2B5EF4-FFF2-40B4-BE49-F238E27FC236}">
                <a16:creationId xmlns:a16="http://schemas.microsoft.com/office/drawing/2014/main" id="{35DBFA88-5122-EC9D-AFE1-724951D0F6B1}"/>
              </a:ext>
            </a:extLst>
          </p:cNvPr>
          <p:cNvSpPr/>
          <p:nvPr/>
        </p:nvSpPr>
        <p:spPr>
          <a:xfrm>
            <a:off x="3556000" y="41275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0.7462</a:t>
            </a:r>
            <a:endParaRPr lang="en-US" sz="1100" dirty="0"/>
          </a:p>
        </p:txBody>
      </p:sp>
      <p:sp>
        <p:nvSpPr>
          <p:cNvPr id="33" name="AutoShape 33">
            <a:extLst>
              <a:ext uri="{FF2B5EF4-FFF2-40B4-BE49-F238E27FC236}">
                <a16:creationId xmlns:a16="http://schemas.microsoft.com/office/drawing/2014/main" id="{B279BE37-EB7B-3F81-5597-2CDC8F527828}"/>
              </a:ext>
            </a:extLst>
          </p:cNvPr>
          <p:cNvSpPr/>
          <p:nvPr/>
        </p:nvSpPr>
        <p:spPr>
          <a:xfrm>
            <a:off x="5334000" y="41275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0.6178</a:t>
            </a:r>
            <a:endParaRPr lang="en-US" sz="1100" dirty="0"/>
          </a:p>
        </p:txBody>
      </p:sp>
      <p:sp>
        <p:nvSpPr>
          <p:cNvPr id="34" name="AutoShape 34">
            <a:extLst>
              <a:ext uri="{FF2B5EF4-FFF2-40B4-BE49-F238E27FC236}">
                <a16:creationId xmlns:a16="http://schemas.microsoft.com/office/drawing/2014/main" id="{861F8750-FA83-8FE9-8302-1BC93A9F44C0}"/>
              </a:ext>
            </a:extLst>
          </p:cNvPr>
          <p:cNvSpPr/>
          <p:nvPr/>
        </p:nvSpPr>
        <p:spPr>
          <a:xfrm>
            <a:off x="7112000" y="412750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1" i="0" u="none" strike="noStrike" dirty="0">
                <a:solidFill>
                  <a:srgbClr val="FF0000"/>
                </a:solidFill>
                <a:latin typeface="微软雅黑"/>
                <a:ea typeface="微软雅黑"/>
                <a:cs typeface="微软雅黑"/>
                <a:sym typeface="微软雅黑"/>
              </a:rPr>
              <a:t>0.6724</a:t>
            </a:r>
            <a:endParaRPr lang="en-US" sz="1100" b="1" dirty="0">
              <a:solidFill>
                <a:srgbClr val="FF0000"/>
              </a:solidFill>
            </a:endParaRPr>
          </a:p>
        </p:txBody>
      </p:sp>
      <p:sp>
        <p:nvSpPr>
          <p:cNvPr id="35" name="AutoShape 35">
            <a:extLst>
              <a:ext uri="{FF2B5EF4-FFF2-40B4-BE49-F238E27FC236}">
                <a16:creationId xmlns:a16="http://schemas.microsoft.com/office/drawing/2014/main" id="{422979DD-A5E2-12B5-2935-3D1664DBC48C}"/>
              </a:ext>
            </a:extLst>
          </p:cNvPr>
          <p:cNvSpPr/>
          <p:nvPr/>
        </p:nvSpPr>
        <p:spPr>
          <a:xfrm>
            <a:off x="9271000" y="41275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0.4530</a:t>
            </a:r>
          </a:p>
        </p:txBody>
      </p:sp>
      <p:sp>
        <p:nvSpPr>
          <p:cNvPr id="37" name="AutoShape 31">
            <a:extLst>
              <a:ext uri="{FF2B5EF4-FFF2-40B4-BE49-F238E27FC236}">
                <a16:creationId xmlns:a16="http://schemas.microsoft.com/office/drawing/2014/main" id="{649D6D62-E57E-AD9B-63FE-84D163247687}"/>
              </a:ext>
            </a:extLst>
          </p:cNvPr>
          <p:cNvSpPr/>
          <p:nvPr/>
        </p:nvSpPr>
        <p:spPr>
          <a:xfrm>
            <a:off x="1397000" y="4545853"/>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algn="ctr">
              <a:lnSpc>
                <a:spcPct val="125000"/>
              </a:lnSpc>
              <a:defRPr/>
            </a:pPr>
            <a:r>
              <a:rPr lang="en-US" sz="1250" dirty="0">
                <a:solidFill>
                  <a:srgbClr val="141E28"/>
                </a:solidFill>
                <a:latin typeface="微软雅黑"/>
                <a:ea typeface="微软雅黑"/>
                <a:cs typeface="微软雅黑"/>
                <a:sym typeface="微软雅黑"/>
              </a:rPr>
              <a:t>E2B-400+IoF0.7</a:t>
            </a:r>
            <a:endParaRPr lang="en-US" sz="1100" dirty="0"/>
          </a:p>
        </p:txBody>
      </p:sp>
      <p:sp>
        <p:nvSpPr>
          <p:cNvPr id="38" name="AutoShape 31">
            <a:extLst>
              <a:ext uri="{FF2B5EF4-FFF2-40B4-BE49-F238E27FC236}">
                <a16:creationId xmlns:a16="http://schemas.microsoft.com/office/drawing/2014/main" id="{4DE63F5C-077F-9BB6-466E-815BB6CC78C6}"/>
              </a:ext>
            </a:extLst>
          </p:cNvPr>
          <p:cNvSpPr/>
          <p:nvPr/>
        </p:nvSpPr>
        <p:spPr>
          <a:xfrm>
            <a:off x="1397000" y="4955988"/>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algn="ctr">
              <a:lnSpc>
                <a:spcPct val="125000"/>
              </a:lnSpc>
              <a:defRPr/>
            </a:pPr>
            <a:r>
              <a:rPr lang="en-US" sz="1250" dirty="0">
                <a:solidFill>
                  <a:srgbClr val="141E28"/>
                </a:solidFill>
                <a:latin typeface="微软雅黑"/>
                <a:ea typeface="微软雅黑"/>
                <a:cs typeface="微软雅黑"/>
                <a:sym typeface="微软雅黑"/>
              </a:rPr>
              <a:t>E2B-400+IoF0.3</a:t>
            </a:r>
            <a:endParaRPr lang="en-US" sz="1100" dirty="0"/>
          </a:p>
        </p:txBody>
      </p:sp>
      <p:sp>
        <p:nvSpPr>
          <p:cNvPr id="39" name="AutoShape 32">
            <a:extLst>
              <a:ext uri="{FF2B5EF4-FFF2-40B4-BE49-F238E27FC236}">
                <a16:creationId xmlns:a16="http://schemas.microsoft.com/office/drawing/2014/main" id="{C279B237-4EB7-373F-8651-E44FE1FD6D68}"/>
              </a:ext>
            </a:extLst>
          </p:cNvPr>
          <p:cNvSpPr/>
          <p:nvPr/>
        </p:nvSpPr>
        <p:spPr>
          <a:xfrm>
            <a:off x="3556000" y="4539876"/>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0.7729</a:t>
            </a:r>
            <a:endParaRPr lang="en-US" sz="1100" dirty="0"/>
          </a:p>
        </p:txBody>
      </p:sp>
      <p:sp>
        <p:nvSpPr>
          <p:cNvPr id="40" name="AutoShape 32">
            <a:extLst>
              <a:ext uri="{FF2B5EF4-FFF2-40B4-BE49-F238E27FC236}">
                <a16:creationId xmlns:a16="http://schemas.microsoft.com/office/drawing/2014/main" id="{22288CAE-032F-E108-68CC-0C315F850A5B}"/>
              </a:ext>
            </a:extLst>
          </p:cNvPr>
          <p:cNvSpPr/>
          <p:nvPr/>
        </p:nvSpPr>
        <p:spPr>
          <a:xfrm>
            <a:off x="3556000" y="4952252"/>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0.7148</a:t>
            </a:r>
            <a:endParaRPr lang="en-US" sz="1100" dirty="0"/>
          </a:p>
        </p:txBody>
      </p:sp>
      <p:sp>
        <p:nvSpPr>
          <p:cNvPr id="41" name="AutoShape 33">
            <a:extLst>
              <a:ext uri="{FF2B5EF4-FFF2-40B4-BE49-F238E27FC236}">
                <a16:creationId xmlns:a16="http://schemas.microsoft.com/office/drawing/2014/main" id="{9AB0F8AB-99EB-82BC-F23B-2CCAD06AD7B6}"/>
              </a:ext>
            </a:extLst>
          </p:cNvPr>
          <p:cNvSpPr/>
          <p:nvPr/>
        </p:nvSpPr>
        <p:spPr>
          <a:xfrm>
            <a:off x="5334000" y="4563035"/>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0.5878</a:t>
            </a:r>
            <a:endParaRPr lang="en-US" sz="1100" dirty="0"/>
          </a:p>
        </p:txBody>
      </p:sp>
      <p:sp>
        <p:nvSpPr>
          <p:cNvPr id="42" name="AutoShape 33">
            <a:extLst>
              <a:ext uri="{FF2B5EF4-FFF2-40B4-BE49-F238E27FC236}">
                <a16:creationId xmlns:a16="http://schemas.microsoft.com/office/drawing/2014/main" id="{DDE98FB9-14C4-FE65-7483-021D068A36D9}"/>
              </a:ext>
            </a:extLst>
          </p:cNvPr>
          <p:cNvSpPr/>
          <p:nvPr/>
        </p:nvSpPr>
        <p:spPr>
          <a:xfrm>
            <a:off x="5328023" y="4943286"/>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0.6432</a:t>
            </a:r>
            <a:endParaRPr lang="en-US" sz="1100" dirty="0"/>
          </a:p>
        </p:txBody>
      </p:sp>
      <p:sp>
        <p:nvSpPr>
          <p:cNvPr id="43" name="AutoShape 34">
            <a:extLst>
              <a:ext uri="{FF2B5EF4-FFF2-40B4-BE49-F238E27FC236}">
                <a16:creationId xmlns:a16="http://schemas.microsoft.com/office/drawing/2014/main" id="{63D2E6EC-94E0-A8A0-C956-DBAC59BD7800}"/>
              </a:ext>
            </a:extLst>
          </p:cNvPr>
          <p:cNvSpPr/>
          <p:nvPr/>
        </p:nvSpPr>
        <p:spPr>
          <a:xfrm>
            <a:off x="7112000" y="456677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0.6638</a:t>
            </a:r>
            <a:endParaRPr lang="en-US" sz="1100" dirty="0"/>
          </a:p>
        </p:txBody>
      </p:sp>
      <p:sp>
        <p:nvSpPr>
          <p:cNvPr id="44" name="AutoShape 34">
            <a:extLst>
              <a:ext uri="{FF2B5EF4-FFF2-40B4-BE49-F238E27FC236}">
                <a16:creationId xmlns:a16="http://schemas.microsoft.com/office/drawing/2014/main" id="{3F39A130-DE02-EBB8-052E-97EFD43C926C}"/>
              </a:ext>
            </a:extLst>
          </p:cNvPr>
          <p:cNvSpPr/>
          <p:nvPr/>
        </p:nvSpPr>
        <p:spPr>
          <a:xfrm>
            <a:off x="7112000" y="500604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1" i="0" u="none" strike="noStrike" dirty="0">
                <a:solidFill>
                  <a:srgbClr val="FF0000"/>
                </a:solidFill>
                <a:latin typeface="微软雅黑"/>
                <a:ea typeface="微软雅黑"/>
                <a:cs typeface="微软雅黑"/>
                <a:sym typeface="微软雅黑"/>
              </a:rPr>
              <a:t>0.6722</a:t>
            </a:r>
            <a:endParaRPr lang="en-US" sz="1100" b="1" dirty="0">
              <a:solidFill>
                <a:srgbClr val="FF0000"/>
              </a:solidFill>
            </a:endParaRPr>
          </a:p>
        </p:txBody>
      </p:sp>
      <p:sp>
        <p:nvSpPr>
          <p:cNvPr id="45" name="AutoShape 35">
            <a:extLst>
              <a:ext uri="{FF2B5EF4-FFF2-40B4-BE49-F238E27FC236}">
                <a16:creationId xmlns:a16="http://schemas.microsoft.com/office/drawing/2014/main" id="{38B39BFF-3C0A-4483-A7F3-7FF53280BB57}"/>
              </a:ext>
            </a:extLst>
          </p:cNvPr>
          <p:cNvSpPr/>
          <p:nvPr/>
        </p:nvSpPr>
        <p:spPr>
          <a:xfrm>
            <a:off x="9271000" y="45593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0.4525</a:t>
            </a:r>
          </a:p>
        </p:txBody>
      </p:sp>
      <p:sp>
        <p:nvSpPr>
          <p:cNvPr id="46" name="AutoShape 35">
            <a:extLst>
              <a:ext uri="{FF2B5EF4-FFF2-40B4-BE49-F238E27FC236}">
                <a16:creationId xmlns:a16="http://schemas.microsoft.com/office/drawing/2014/main" id="{B8EC24C6-3C5D-82B8-BB75-213B5B8A05CF}"/>
              </a:ext>
            </a:extLst>
          </p:cNvPr>
          <p:cNvSpPr/>
          <p:nvPr/>
        </p:nvSpPr>
        <p:spPr>
          <a:xfrm>
            <a:off x="9271000" y="496794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1" i="0" u="none" strike="noStrike" dirty="0">
                <a:solidFill>
                  <a:srgbClr val="FF0000"/>
                </a:solidFill>
                <a:latin typeface="微软雅黑"/>
                <a:ea typeface="微软雅黑"/>
                <a:cs typeface="微软雅黑"/>
                <a:sym typeface="微软雅黑"/>
              </a:rPr>
              <a:t>0.4606</a:t>
            </a:r>
          </a:p>
        </p:txBody>
      </p:sp>
      <p:sp>
        <p:nvSpPr>
          <p:cNvPr id="47" name="AutoShape 31">
            <a:extLst>
              <a:ext uri="{FF2B5EF4-FFF2-40B4-BE49-F238E27FC236}">
                <a16:creationId xmlns:a16="http://schemas.microsoft.com/office/drawing/2014/main" id="{35C0774A-1BF2-0225-E4BC-8BDA559A4A4B}"/>
              </a:ext>
            </a:extLst>
          </p:cNvPr>
          <p:cNvSpPr/>
          <p:nvPr/>
        </p:nvSpPr>
        <p:spPr>
          <a:xfrm>
            <a:off x="1397000" y="5357905"/>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algn="ctr">
              <a:lnSpc>
                <a:spcPct val="125000"/>
              </a:lnSpc>
              <a:defRPr/>
            </a:pPr>
            <a:r>
              <a:rPr lang="en-US" sz="1250" dirty="0">
                <a:solidFill>
                  <a:srgbClr val="141E28"/>
                </a:solidFill>
                <a:latin typeface="微软雅黑"/>
                <a:ea typeface="微软雅黑"/>
                <a:cs typeface="微软雅黑"/>
                <a:sym typeface="微软雅黑"/>
              </a:rPr>
              <a:t>E2C(Refiner) </a:t>
            </a:r>
            <a:endParaRPr lang="en-US" sz="1100" dirty="0"/>
          </a:p>
        </p:txBody>
      </p:sp>
      <p:sp>
        <p:nvSpPr>
          <p:cNvPr id="48" name="AutoShape 32">
            <a:extLst>
              <a:ext uri="{FF2B5EF4-FFF2-40B4-BE49-F238E27FC236}">
                <a16:creationId xmlns:a16="http://schemas.microsoft.com/office/drawing/2014/main" id="{666B9750-C79E-86D2-C82D-E6DDF2816DD2}"/>
              </a:ext>
            </a:extLst>
          </p:cNvPr>
          <p:cNvSpPr/>
          <p:nvPr/>
        </p:nvSpPr>
        <p:spPr>
          <a:xfrm>
            <a:off x="3544047" y="5369111"/>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0.6124</a:t>
            </a:r>
            <a:endParaRPr lang="en-US" sz="1100" dirty="0"/>
          </a:p>
        </p:txBody>
      </p:sp>
      <p:sp>
        <p:nvSpPr>
          <p:cNvPr id="49" name="AutoShape 33">
            <a:extLst>
              <a:ext uri="{FF2B5EF4-FFF2-40B4-BE49-F238E27FC236}">
                <a16:creationId xmlns:a16="http://schemas.microsoft.com/office/drawing/2014/main" id="{B22689B4-3C9B-AC80-DBFA-E9A15D11BE53}"/>
              </a:ext>
            </a:extLst>
          </p:cNvPr>
          <p:cNvSpPr/>
          <p:nvPr/>
        </p:nvSpPr>
        <p:spPr>
          <a:xfrm>
            <a:off x="5334000" y="5379569"/>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0.6128</a:t>
            </a:r>
            <a:endParaRPr lang="en-US" sz="1100" dirty="0"/>
          </a:p>
        </p:txBody>
      </p:sp>
      <p:sp>
        <p:nvSpPr>
          <p:cNvPr id="50" name="AutoShape 34">
            <a:extLst>
              <a:ext uri="{FF2B5EF4-FFF2-40B4-BE49-F238E27FC236}">
                <a16:creationId xmlns:a16="http://schemas.microsoft.com/office/drawing/2014/main" id="{B6A4C310-F614-21FF-1716-4BB6DA733C4A}"/>
              </a:ext>
            </a:extLst>
          </p:cNvPr>
          <p:cNvSpPr/>
          <p:nvPr/>
        </p:nvSpPr>
        <p:spPr>
          <a:xfrm>
            <a:off x="7112000" y="5407955"/>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i="0" u="none" strike="noStrike" dirty="0">
                <a:solidFill>
                  <a:schemeClr val="tx1"/>
                </a:solidFill>
                <a:latin typeface="微软雅黑"/>
                <a:ea typeface="微软雅黑"/>
                <a:cs typeface="微软雅黑"/>
                <a:sym typeface="微软雅黑"/>
              </a:rPr>
              <a:t>0.5769</a:t>
            </a:r>
            <a:endParaRPr lang="en-US" sz="1100" dirty="0">
              <a:solidFill>
                <a:schemeClr val="tx1"/>
              </a:solidFill>
            </a:endParaRPr>
          </a:p>
        </p:txBody>
      </p:sp>
      <p:sp>
        <p:nvSpPr>
          <p:cNvPr id="51" name="AutoShape 35">
            <a:extLst>
              <a:ext uri="{FF2B5EF4-FFF2-40B4-BE49-F238E27FC236}">
                <a16:creationId xmlns:a16="http://schemas.microsoft.com/office/drawing/2014/main" id="{6DC82861-D651-261A-4F32-F5C673F4EEA2}"/>
              </a:ext>
            </a:extLst>
          </p:cNvPr>
          <p:cNvSpPr/>
          <p:nvPr/>
        </p:nvSpPr>
        <p:spPr>
          <a:xfrm>
            <a:off x="9261288" y="5379569"/>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i="0" u="none" strike="noStrike" dirty="0">
                <a:solidFill>
                  <a:schemeClr val="tx1"/>
                </a:solidFill>
                <a:latin typeface="微软雅黑"/>
                <a:ea typeface="微软雅黑"/>
                <a:cs typeface="微软雅黑"/>
                <a:sym typeface="微软雅黑"/>
              </a:rPr>
              <a:t>0.3701</a:t>
            </a:r>
          </a:p>
        </p:txBody>
      </p:sp>
      <p:sp>
        <p:nvSpPr>
          <p:cNvPr id="52" name="AutoShape 39">
            <a:extLst>
              <a:ext uri="{FF2B5EF4-FFF2-40B4-BE49-F238E27FC236}">
                <a16:creationId xmlns:a16="http://schemas.microsoft.com/office/drawing/2014/main" id="{D7265401-ADFE-F4B6-4812-CC6E6EC0F0CF}"/>
              </a:ext>
            </a:extLst>
          </p:cNvPr>
          <p:cNvSpPr/>
          <p:nvPr/>
        </p:nvSpPr>
        <p:spPr>
          <a:xfrm>
            <a:off x="1025712" y="5963920"/>
            <a:ext cx="10033000" cy="762000"/>
          </a:xfrm>
          <a:prstGeom prst="roundRect">
            <a:avLst>
              <a:gd name="adj" fmla="val 0"/>
            </a:avLst>
          </a:prstGeom>
          <a:solidFill>
            <a:srgbClr val="FAF5EB">
              <a:alpha val="100000"/>
            </a:srgbClr>
          </a:solidFill>
          <a:ln w="12700" cap="flat" cmpd="sng">
            <a:solidFill>
              <a:srgbClr val="C8783C">
                <a:alpha val="100000"/>
              </a:srgbClr>
            </a:solidFill>
            <a:prstDash val="solid"/>
            <a:miter lim="1000000"/>
          </a:ln>
        </p:spPr>
        <p:txBody>
          <a:bodyPr vert="horz" wrap="square" lIns="203200" tIns="101600" rIns="203200" bIns="101600" rtlCol="0" anchor="ctr">
            <a:noAutofit/>
          </a:bodyPr>
          <a:lstStyle/>
          <a:p>
            <a:pPr>
              <a:lnSpc>
                <a:spcPct val="108333"/>
              </a:lnSpc>
              <a:defRPr/>
            </a:pPr>
            <a:r>
              <a:rPr lang="en-US" sz="1250" b="1" i="0" u="none" strike="noStrike" dirty="0" err="1">
                <a:solidFill>
                  <a:srgbClr val="B4321E"/>
                </a:solidFill>
                <a:latin typeface="微软雅黑"/>
                <a:ea typeface="微软雅黑"/>
                <a:cs typeface="微软雅黑"/>
                <a:sym typeface="微软雅黑"/>
              </a:rPr>
              <a:t>结论</a:t>
            </a:r>
            <a:r>
              <a:rPr lang="en-US" sz="1250" b="1" i="0" u="none" strike="noStrike" dirty="0">
                <a:solidFill>
                  <a:srgbClr val="B4321E"/>
                </a:solidFill>
                <a:latin typeface="微软雅黑"/>
                <a:ea typeface="微软雅黑"/>
                <a:cs typeface="微软雅黑"/>
                <a:sym typeface="微软雅黑"/>
              </a:rPr>
              <a:t>：</a:t>
            </a:r>
            <a:r>
              <a:rPr lang="en-US" altLang="ja-JP" sz="1250" dirty="0">
                <a:solidFill>
                  <a:srgbClr val="783214"/>
                </a:solidFill>
                <a:latin typeface="微软雅黑"/>
                <a:ea typeface="微软雅黑"/>
                <a:cs typeface="微软雅黑"/>
                <a:sym typeface="微软雅黑"/>
              </a:rPr>
              <a:t> </a:t>
            </a:r>
            <a:r>
              <a:rPr lang="en-US" altLang="zh-CN" sz="1250" dirty="0">
                <a:solidFill>
                  <a:srgbClr val="783214"/>
                </a:solidFill>
                <a:latin typeface="微软雅黑"/>
                <a:ea typeface="微软雅黑"/>
                <a:cs typeface="微软雅黑"/>
                <a:sym typeface="微软雅黑"/>
              </a:rPr>
              <a:t>Verifier </a:t>
            </a:r>
            <a:r>
              <a:rPr lang="zh-CN" altLang="en-US" sz="1250" dirty="0">
                <a:solidFill>
                  <a:srgbClr val="783214"/>
                </a:solidFill>
                <a:latin typeface="微软雅黑"/>
                <a:ea typeface="微软雅黑"/>
                <a:cs typeface="微软雅黑"/>
                <a:sym typeface="微软雅黑"/>
              </a:rPr>
              <a:t>有继续稳定性复验的候选价值（关注误删与 </a:t>
            </a:r>
            <a:r>
              <a:rPr lang="en-US" altLang="zh-CN" sz="1250" dirty="0">
                <a:solidFill>
                  <a:srgbClr val="783214"/>
                </a:solidFill>
                <a:latin typeface="微软雅黑"/>
                <a:ea typeface="微软雅黑"/>
                <a:cs typeface="微软雅黑"/>
                <a:sym typeface="微软雅黑"/>
              </a:rPr>
              <a:t>Recall</a:t>
            </a:r>
            <a:r>
              <a:rPr lang="zh-CN" altLang="en-US" sz="1250" dirty="0">
                <a:solidFill>
                  <a:srgbClr val="783214"/>
                </a:solidFill>
                <a:latin typeface="微软雅黑"/>
                <a:ea typeface="微软雅黑"/>
                <a:cs typeface="微软雅黑"/>
                <a:sym typeface="微软雅黑"/>
              </a:rPr>
              <a:t>）；</a:t>
            </a:r>
            <a:r>
              <a:rPr lang="en-US" altLang="zh-CN" sz="1250" dirty="0">
                <a:solidFill>
                  <a:srgbClr val="783214"/>
                </a:solidFill>
                <a:latin typeface="微软雅黑"/>
                <a:ea typeface="微软雅黑"/>
                <a:cs typeface="微软雅黑"/>
                <a:sym typeface="微软雅黑"/>
              </a:rPr>
              <a:t>Append </a:t>
            </a:r>
            <a:r>
              <a:rPr lang="zh-CN" altLang="en-US" sz="1250" dirty="0">
                <a:solidFill>
                  <a:srgbClr val="783214"/>
                </a:solidFill>
                <a:latin typeface="微软雅黑"/>
                <a:ea typeface="微软雅黑"/>
                <a:cs typeface="微软雅黑"/>
                <a:sym typeface="微软雅黑"/>
              </a:rPr>
              <a:t>具备补漏可能；</a:t>
            </a:r>
            <a:r>
              <a:rPr lang="en-US" altLang="zh-CN" sz="1250" dirty="0">
                <a:solidFill>
                  <a:srgbClr val="783214"/>
                </a:solidFill>
                <a:latin typeface="微软雅黑"/>
                <a:ea typeface="微软雅黑"/>
                <a:cs typeface="微软雅黑"/>
                <a:sym typeface="微软雅黑"/>
              </a:rPr>
              <a:t>Refiner </a:t>
            </a:r>
            <a:r>
              <a:rPr lang="zh-CN" altLang="en-US" sz="1250" dirty="0">
                <a:solidFill>
                  <a:srgbClr val="783214"/>
                </a:solidFill>
                <a:latin typeface="微软雅黑"/>
                <a:ea typeface="微软雅黑"/>
                <a:cs typeface="微软雅黑"/>
                <a:sym typeface="微软雅黑"/>
              </a:rPr>
              <a:t>直接重定位出现明显下游退化，当前保持 </a:t>
            </a:r>
            <a:r>
              <a:rPr lang="en-US" altLang="zh-CN" sz="1250" dirty="0">
                <a:solidFill>
                  <a:srgbClr val="783214"/>
                </a:solidFill>
                <a:latin typeface="微软雅黑"/>
                <a:ea typeface="微软雅黑"/>
                <a:cs typeface="微软雅黑"/>
                <a:sym typeface="微软雅黑"/>
              </a:rPr>
              <a:t>Stop</a:t>
            </a:r>
            <a:r>
              <a:rPr lang="zh-CN" altLang="en-US" sz="1250" dirty="0">
                <a:solidFill>
                  <a:srgbClr val="783214"/>
                </a:solidFill>
                <a:latin typeface="微软雅黑"/>
                <a:ea typeface="微软雅黑"/>
                <a:cs typeface="微软雅黑"/>
                <a:sym typeface="微软雅黑"/>
              </a:rPr>
              <a:t>。正文结论区分“已证实 </a:t>
            </a:r>
            <a:r>
              <a:rPr lang="en-US" altLang="zh-CN" sz="1250" dirty="0">
                <a:solidFill>
                  <a:srgbClr val="783214"/>
                </a:solidFill>
                <a:latin typeface="微软雅黑"/>
                <a:ea typeface="微软雅黑"/>
                <a:cs typeface="微软雅黑"/>
                <a:sym typeface="微软雅黑"/>
              </a:rPr>
              <a:t>/ </a:t>
            </a:r>
            <a:r>
              <a:rPr lang="zh-CN" altLang="en-US" sz="1250" dirty="0">
                <a:solidFill>
                  <a:srgbClr val="783214"/>
                </a:solidFill>
                <a:latin typeface="微软雅黑"/>
                <a:ea typeface="微软雅黑"/>
                <a:cs typeface="微软雅黑"/>
                <a:sym typeface="微软雅黑"/>
              </a:rPr>
              <a:t>待验证 </a:t>
            </a:r>
            <a:r>
              <a:rPr lang="en-US" altLang="zh-CN" sz="1250" dirty="0">
                <a:solidFill>
                  <a:srgbClr val="783214"/>
                </a:solidFill>
                <a:latin typeface="微软雅黑"/>
                <a:ea typeface="微软雅黑"/>
                <a:cs typeface="微软雅黑"/>
                <a:sym typeface="微软雅黑"/>
              </a:rPr>
              <a:t>/ </a:t>
            </a:r>
            <a:r>
              <a:rPr lang="zh-CN" altLang="en-US" sz="1250" dirty="0">
                <a:solidFill>
                  <a:srgbClr val="783214"/>
                </a:solidFill>
                <a:latin typeface="微软雅黑"/>
                <a:ea typeface="微软雅黑"/>
                <a:cs typeface="微软雅黑"/>
                <a:sym typeface="微软雅黑"/>
              </a:rPr>
              <a:t>已停止”，不以单次最优替代稳定性证据。</a:t>
            </a:r>
          </a:p>
          <a:p>
            <a:pPr>
              <a:lnSpc>
                <a:spcPct val="108333"/>
              </a:lnSpc>
              <a:defRPr/>
            </a:pPr>
            <a:endParaRPr lang="en-US" sz="1250" dirty="0">
              <a:solidFill>
                <a:srgbClr val="783214"/>
              </a:solidFill>
              <a:latin typeface="微软雅黑"/>
              <a:ea typeface="微软雅黑"/>
            </a:endParaRPr>
          </a:p>
        </p:txBody>
      </p:sp>
    </p:spTree>
    <p:extLst>
      <p:ext uri="{BB962C8B-B14F-4D97-AF65-F5344CB8AC3E}">
        <p14:creationId xmlns:p14="http://schemas.microsoft.com/office/powerpoint/2010/main" val="33209850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3" name="AutoShape 3"/>
          <p:cNvSpPr/>
          <p:nvPr/>
        </p:nvSpPr>
        <p:spPr>
          <a:xfrm>
            <a:off x="1397000" y="1968500"/>
            <a:ext cx="1651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记录</a:t>
            </a:r>
            <a:endParaRPr lang="en-US" sz="1100"/>
          </a:p>
        </p:txBody>
      </p:sp>
      <p:sp>
        <p:nvSpPr>
          <p:cNvPr id="4" name="AutoShape 4"/>
          <p:cNvSpPr/>
          <p:nvPr/>
        </p:nvSpPr>
        <p:spPr>
          <a:xfrm>
            <a:off x="3556000" y="1968500"/>
            <a:ext cx="1524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P</a:t>
            </a:r>
            <a:endParaRPr lang="en-US" sz="1100"/>
          </a:p>
        </p:txBody>
      </p:sp>
      <p:sp>
        <p:nvSpPr>
          <p:cNvPr id="5" name="AutoShape 5"/>
          <p:cNvSpPr/>
          <p:nvPr/>
        </p:nvSpPr>
        <p:spPr>
          <a:xfrm>
            <a:off x="5334000" y="1968500"/>
            <a:ext cx="1524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R</a:t>
            </a:r>
            <a:endParaRPr lang="en-US" sz="1100"/>
          </a:p>
        </p:txBody>
      </p:sp>
      <p:sp>
        <p:nvSpPr>
          <p:cNvPr id="6" name="AutoShape 6"/>
          <p:cNvSpPr/>
          <p:nvPr/>
        </p:nvSpPr>
        <p:spPr>
          <a:xfrm>
            <a:off x="7112000" y="1968500"/>
            <a:ext cx="1778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mAP50</a:t>
            </a:r>
            <a:endParaRPr lang="en-US" sz="1100"/>
          </a:p>
        </p:txBody>
      </p:sp>
      <p:sp>
        <p:nvSpPr>
          <p:cNvPr id="7" name="AutoShape 7"/>
          <p:cNvSpPr/>
          <p:nvPr/>
        </p:nvSpPr>
        <p:spPr>
          <a:xfrm>
            <a:off x="9271000" y="1968500"/>
            <a:ext cx="1905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mAP50:95</a:t>
            </a:r>
            <a:endParaRPr lang="en-US" sz="1100"/>
          </a:p>
        </p:txBody>
      </p:sp>
      <p:sp>
        <p:nvSpPr>
          <p:cNvPr id="8" name="AutoShape 8"/>
          <p:cNvSpPr/>
          <p:nvPr/>
        </p:nvSpPr>
        <p:spPr>
          <a:xfrm>
            <a:off x="1397000" y="2400300"/>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E1 seed0 (V1)</a:t>
            </a:r>
            <a:endParaRPr lang="en-US" sz="1100"/>
          </a:p>
        </p:txBody>
      </p:sp>
      <p:sp>
        <p:nvSpPr>
          <p:cNvPr id="9" name="AutoShape 9"/>
          <p:cNvSpPr/>
          <p:nvPr/>
        </p:nvSpPr>
        <p:spPr>
          <a:xfrm>
            <a:off x="3556000" y="24003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0.694</a:t>
            </a:r>
            <a:endParaRPr lang="en-US" sz="1100"/>
          </a:p>
        </p:txBody>
      </p:sp>
      <p:sp>
        <p:nvSpPr>
          <p:cNvPr id="10" name="AutoShape 10"/>
          <p:cNvSpPr/>
          <p:nvPr/>
        </p:nvSpPr>
        <p:spPr>
          <a:xfrm>
            <a:off x="5334000" y="24003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0.611</a:t>
            </a:r>
            <a:endParaRPr lang="en-US" sz="1100"/>
          </a:p>
        </p:txBody>
      </p:sp>
      <p:sp>
        <p:nvSpPr>
          <p:cNvPr id="11" name="AutoShape 11"/>
          <p:cNvSpPr/>
          <p:nvPr/>
        </p:nvSpPr>
        <p:spPr>
          <a:xfrm>
            <a:off x="7112000" y="240030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0.630</a:t>
            </a:r>
            <a:endParaRPr lang="en-US" sz="1100"/>
          </a:p>
        </p:txBody>
      </p:sp>
      <p:sp>
        <p:nvSpPr>
          <p:cNvPr id="12" name="AutoShape 12"/>
          <p:cNvSpPr/>
          <p:nvPr/>
        </p:nvSpPr>
        <p:spPr>
          <a:xfrm>
            <a:off x="9271000" y="24003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0.426</a:t>
            </a:r>
            <a:endParaRPr lang="en-US" sz="1100"/>
          </a:p>
        </p:txBody>
      </p:sp>
      <p:sp>
        <p:nvSpPr>
          <p:cNvPr id="13" name="AutoShape 13"/>
          <p:cNvSpPr/>
          <p:nvPr/>
        </p:nvSpPr>
        <p:spPr>
          <a:xfrm>
            <a:off x="1397000" y="2832100"/>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E2A seed0 (Verifier)</a:t>
            </a:r>
            <a:endParaRPr lang="en-US" sz="1100"/>
          </a:p>
        </p:txBody>
      </p:sp>
      <p:sp>
        <p:nvSpPr>
          <p:cNvPr id="14" name="AutoShape 14"/>
          <p:cNvSpPr/>
          <p:nvPr/>
        </p:nvSpPr>
        <p:spPr>
          <a:xfrm>
            <a:off x="3556000" y="28321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0.729</a:t>
            </a:r>
            <a:endParaRPr lang="en-US" sz="1100" dirty="0"/>
          </a:p>
        </p:txBody>
      </p:sp>
      <p:sp>
        <p:nvSpPr>
          <p:cNvPr id="15" name="AutoShape 15"/>
          <p:cNvSpPr/>
          <p:nvPr/>
        </p:nvSpPr>
        <p:spPr>
          <a:xfrm>
            <a:off x="5334000" y="28321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0.609</a:t>
            </a:r>
            <a:endParaRPr lang="en-US" sz="1100"/>
          </a:p>
        </p:txBody>
      </p:sp>
      <p:sp>
        <p:nvSpPr>
          <p:cNvPr id="16" name="AutoShape 16"/>
          <p:cNvSpPr/>
          <p:nvPr/>
        </p:nvSpPr>
        <p:spPr>
          <a:xfrm>
            <a:off x="7112000" y="283210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dirty="0">
                <a:solidFill>
                  <a:srgbClr val="FF0000"/>
                </a:solidFill>
                <a:latin typeface="微软雅黑"/>
                <a:ea typeface="微软雅黑"/>
                <a:cs typeface="微软雅黑"/>
                <a:sym typeface="微软雅黑"/>
              </a:rPr>
              <a:t>0.656</a:t>
            </a:r>
            <a:endParaRPr lang="en-US" sz="1100" dirty="0">
              <a:solidFill>
                <a:srgbClr val="FF0000"/>
              </a:solidFill>
            </a:endParaRPr>
          </a:p>
        </p:txBody>
      </p:sp>
      <p:sp>
        <p:nvSpPr>
          <p:cNvPr id="17" name="AutoShape 17"/>
          <p:cNvSpPr/>
          <p:nvPr/>
        </p:nvSpPr>
        <p:spPr>
          <a:xfrm>
            <a:off x="9271000" y="28321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0.456</a:t>
            </a:r>
            <a:endParaRPr lang="en-US" sz="1100"/>
          </a:p>
        </p:txBody>
      </p:sp>
      <p:sp>
        <p:nvSpPr>
          <p:cNvPr id="18" name="AutoShape 18"/>
          <p:cNvSpPr/>
          <p:nvPr/>
        </p:nvSpPr>
        <p:spPr>
          <a:xfrm>
            <a:off x="1397000" y="3263900"/>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E1 seed1 (V1)</a:t>
            </a:r>
            <a:endParaRPr lang="en-US" sz="1100"/>
          </a:p>
        </p:txBody>
      </p:sp>
      <p:sp>
        <p:nvSpPr>
          <p:cNvPr id="19" name="AutoShape 19"/>
          <p:cNvSpPr/>
          <p:nvPr/>
        </p:nvSpPr>
        <p:spPr>
          <a:xfrm>
            <a:off x="3556000" y="32639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0.748</a:t>
            </a:r>
            <a:endParaRPr lang="en-US" sz="1100"/>
          </a:p>
        </p:txBody>
      </p:sp>
      <p:sp>
        <p:nvSpPr>
          <p:cNvPr id="20" name="AutoShape 20"/>
          <p:cNvSpPr/>
          <p:nvPr/>
        </p:nvSpPr>
        <p:spPr>
          <a:xfrm>
            <a:off x="5334000" y="32639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0.586</a:t>
            </a:r>
            <a:endParaRPr lang="en-US" sz="1100"/>
          </a:p>
        </p:txBody>
      </p:sp>
      <p:sp>
        <p:nvSpPr>
          <p:cNvPr id="21" name="AutoShape 21"/>
          <p:cNvSpPr/>
          <p:nvPr/>
        </p:nvSpPr>
        <p:spPr>
          <a:xfrm>
            <a:off x="7112000" y="326390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0.649</a:t>
            </a:r>
            <a:endParaRPr lang="en-US" sz="1100"/>
          </a:p>
        </p:txBody>
      </p:sp>
      <p:sp>
        <p:nvSpPr>
          <p:cNvPr id="22" name="AutoShape 22"/>
          <p:cNvSpPr/>
          <p:nvPr/>
        </p:nvSpPr>
        <p:spPr>
          <a:xfrm>
            <a:off x="9271000" y="32639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0.442</a:t>
            </a:r>
            <a:endParaRPr lang="en-US" sz="1100"/>
          </a:p>
        </p:txBody>
      </p:sp>
      <p:sp>
        <p:nvSpPr>
          <p:cNvPr id="23" name="AutoShape 23"/>
          <p:cNvSpPr/>
          <p:nvPr/>
        </p:nvSpPr>
        <p:spPr>
          <a:xfrm>
            <a:off x="1397000" y="3695700"/>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E2A seed1 (Verifier)</a:t>
            </a:r>
            <a:endParaRPr lang="en-US" sz="1100"/>
          </a:p>
        </p:txBody>
      </p:sp>
      <p:sp>
        <p:nvSpPr>
          <p:cNvPr id="24" name="AutoShape 24"/>
          <p:cNvSpPr/>
          <p:nvPr/>
        </p:nvSpPr>
        <p:spPr>
          <a:xfrm>
            <a:off x="3556000" y="36957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0.692</a:t>
            </a:r>
            <a:endParaRPr lang="en-US" sz="1100"/>
          </a:p>
        </p:txBody>
      </p:sp>
      <p:sp>
        <p:nvSpPr>
          <p:cNvPr id="25" name="AutoShape 25"/>
          <p:cNvSpPr/>
          <p:nvPr/>
        </p:nvSpPr>
        <p:spPr>
          <a:xfrm>
            <a:off x="5334000" y="36957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0.654</a:t>
            </a:r>
            <a:endParaRPr lang="en-US" sz="1100"/>
          </a:p>
        </p:txBody>
      </p:sp>
      <p:sp>
        <p:nvSpPr>
          <p:cNvPr id="26" name="AutoShape 26"/>
          <p:cNvSpPr/>
          <p:nvPr/>
        </p:nvSpPr>
        <p:spPr>
          <a:xfrm>
            <a:off x="7112000" y="369570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dirty="0">
                <a:solidFill>
                  <a:srgbClr val="FF0000"/>
                </a:solidFill>
                <a:latin typeface="微软雅黑"/>
                <a:ea typeface="微软雅黑"/>
                <a:cs typeface="微软雅黑"/>
                <a:sym typeface="微软雅黑"/>
              </a:rPr>
              <a:t>0.660</a:t>
            </a:r>
            <a:endParaRPr lang="en-US" sz="1100" dirty="0">
              <a:solidFill>
                <a:srgbClr val="FF0000"/>
              </a:solidFill>
            </a:endParaRPr>
          </a:p>
        </p:txBody>
      </p:sp>
      <p:sp>
        <p:nvSpPr>
          <p:cNvPr id="27" name="AutoShape 27"/>
          <p:cNvSpPr/>
          <p:nvPr/>
        </p:nvSpPr>
        <p:spPr>
          <a:xfrm>
            <a:off x="9271000" y="36957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0.451</a:t>
            </a:r>
            <a:endParaRPr lang="en-US" sz="1100" dirty="0"/>
          </a:p>
        </p:txBody>
      </p:sp>
      <p:sp>
        <p:nvSpPr>
          <p:cNvPr id="28" name="AutoShape 28"/>
          <p:cNvSpPr/>
          <p:nvPr/>
        </p:nvSpPr>
        <p:spPr>
          <a:xfrm>
            <a:off x="1397000" y="4127500"/>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E1 seed2 (V1)</a:t>
            </a:r>
            <a:endParaRPr lang="en-US" sz="1100"/>
          </a:p>
        </p:txBody>
      </p:sp>
      <p:sp>
        <p:nvSpPr>
          <p:cNvPr id="29" name="AutoShape 29"/>
          <p:cNvSpPr/>
          <p:nvPr/>
        </p:nvSpPr>
        <p:spPr>
          <a:xfrm>
            <a:off x="3556000" y="41275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0.680</a:t>
            </a:r>
            <a:endParaRPr lang="en-US" sz="1100"/>
          </a:p>
        </p:txBody>
      </p:sp>
      <p:sp>
        <p:nvSpPr>
          <p:cNvPr id="30" name="AutoShape 30"/>
          <p:cNvSpPr/>
          <p:nvPr/>
        </p:nvSpPr>
        <p:spPr>
          <a:xfrm>
            <a:off x="5334000" y="41275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0.612</a:t>
            </a:r>
            <a:endParaRPr lang="en-US" sz="1100"/>
          </a:p>
        </p:txBody>
      </p:sp>
      <p:sp>
        <p:nvSpPr>
          <p:cNvPr id="31" name="AutoShape 31"/>
          <p:cNvSpPr/>
          <p:nvPr/>
        </p:nvSpPr>
        <p:spPr>
          <a:xfrm>
            <a:off x="7112000" y="412750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0.643</a:t>
            </a:r>
            <a:endParaRPr lang="en-US" sz="1100"/>
          </a:p>
        </p:txBody>
      </p:sp>
      <p:sp>
        <p:nvSpPr>
          <p:cNvPr id="32" name="AutoShape 32"/>
          <p:cNvSpPr/>
          <p:nvPr/>
        </p:nvSpPr>
        <p:spPr>
          <a:xfrm>
            <a:off x="9271000" y="41275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0.443</a:t>
            </a:r>
            <a:endParaRPr lang="en-US" sz="1100"/>
          </a:p>
        </p:txBody>
      </p:sp>
      <p:sp>
        <p:nvSpPr>
          <p:cNvPr id="33" name="AutoShape 33"/>
          <p:cNvSpPr/>
          <p:nvPr/>
        </p:nvSpPr>
        <p:spPr>
          <a:xfrm>
            <a:off x="1397000" y="4559300"/>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E2A seed2 (Verifier)</a:t>
            </a:r>
            <a:endParaRPr lang="en-US" sz="1100"/>
          </a:p>
        </p:txBody>
      </p:sp>
      <p:sp>
        <p:nvSpPr>
          <p:cNvPr id="34" name="AutoShape 34"/>
          <p:cNvSpPr/>
          <p:nvPr/>
        </p:nvSpPr>
        <p:spPr>
          <a:xfrm>
            <a:off x="3556000" y="45593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0.718</a:t>
            </a:r>
            <a:endParaRPr lang="en-US" sz="1100"/>
          </a:p>
        </p:txBody>
      </p:sp>
      <p:sp>
        <p:nvSpPr>
          <p:cNvPr id="35" name="AutoShape 35"/>
          <p:cNvSpPr/>
          <p:nvPr/>
        </p:nvSpPr>
        <p:spPr>
          <a:xfrm>
            <a:off x="5334000" y="45593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0.635</a:t>
            </a:r>
            <a:endParaRPr lang="en-US" sz="1100"/>
          </a:p>
        </p:txBody>
      </p:sp>
      <p:sp>
        <p:nvSpPr>
          <p:cNvPr id="36" name="AutoShape 36"/>
          <p:cNvSpPr/>
          <p:nvPr/>
        </p:nvSpPr>
        <p:spPr>
          <a:xfrm>
            <a:off x="7112000" y="455930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dirty="0">
                <a:solidFill>
                  <a:srgbClr val="FF0000"/>
                </a:solidFill>
                <a:latin typeface="微软雅黑"/>
                <a:ea typeface="微软雅黑"/>
                <a:cs typeface="微软雅黑"/>
                <a:sym typeface="微软雅黑"/>
              </a:rPr>
              <a:t>0.675</a:t>
            </a:r>
            <a:endParaRPr lang="en-US" sz="1100" dirty="0">
              <a:solidFill>
                <a:srgbClr val="FF0000"/>
              </a:solidFill>
            </a:endParaRPr>
          </a:p>
        </p:txBody>
      </p:sp>
      <p:sp>
        <p:nvSpPr>
          <p:cNvPr id="37" name="AutoShape 37"/>
          <p:cNvSpPr/>
          <p:nvPr/>
        </p:nvSpPr>
        <p:spPr>
          <a:xfrm>
            <a:off x="9271000" y="45593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0.464</a:t>
            </a:r>
            <a:endParaRPr lang="en-US" sz="1100"/>
          </a:p>
        </p:txBody>
      </p:sp>
      <p:sp>
        <p:nvSpPr>
          <p:cNvPr id="38" name="AutoShape 38"/>
          <p:cNvSpPr/>
          <p:nvPr/>
        </p:nvSpPr>
        <p:spPr>
          <a:xfrm>
            <a:off x="1397000" y="1397000"/>
            <a:ext cx="9715500" cy="368300"/>
          </a:xfrm>
          <a:prstGeom prst="roundRect">
            <a:avLst>
              <a:gd name="adj" fmla="val 0"/>
            </a:avLst>
          </a:prstGeom>
          <a:solidFill>
            <a:srgbClr val="F0F5FA">
              <a:alpha val="100000"/>
            </a:srgbClr>
          </a:solidFill>
          <a:ln w="12700" cap="flat" cmpd="sng">
            <a:solidFill>
              <a:srgbClr val="0A3760">
                <a:alpha val="100000"/>
              </a:srgbClr>
            </a:solidFill>
            <a:prstDash val="solid"/>
            <a:miter lim="1000000"/>
          </a:ln>
        </p:spPr>
        <p:txBody>
          <a:bodyPr vert="horz" wrap="square" lIns="152400" tIns="0" rIns="152400" bIns="0" rtlCol="0" anchor="ctr">
            <a:noAutofit/>
          </a:bodyPr>
          <a:lstStyle/>
          <a:p>
            <a:pPr marL="0" indent="0" algn="ctr" defTabSz="914400">
              <a:lnSpc>
                <a:spcPct val="100000"/>
              </a:lnSpc>
              <a:defRPr/>
            </a:pPr>
            <a:r>
              <a:rPr lang="en-US" sz="1300" b="1" i="0" u="none" strike="noStrike" dirty="0">
                <a:solidFill>
                  <a:srgbClr val="0A3760"/>
                </a:solidFill>
                <a:latin typeface="微软雅黑"/>
                <a:ea typeface="微软雅黑"/>
                <a:cs typeface="微软雅黑"/>
                <a:sym typeface="微软雅黑"/>
              </a:rPr>
              <a:t>E1（V1）与 E2A（Verifier）各 3 </a:t>
            </a:r>
            <a:r>
              <a:rPr lang="en-US" sz="1300" b="1" i="0" u="none" strike="noStrike" dirty="0" err="1">
                <a:solidFill>
                  <a:srgbClr val="0A3760"/>
                </a:solidFill>
                <a:latin typeface="微软雅黑"/>
                <a:ea typeface="微软雅黑"/>
                <a:cs typeface="微软雅黑"/>
                <a:sym typeface="微软雅黑"/>
              </a:rPr>
              <a:t>个随机种子训练，验证结论稳定性（附录</a:t>
            </a:r>
            <a:r>
              <a:rPr lang="en-US" sz="1300" b="1" i="0" u="none" strike="noStrike" dirty="0">
                <a:solidFill>
                  <a:srgbClr val="0A3760"/>
                </a:solidFill>
                <a:latin typeface="微软雅黑"/>
                <a:ea typeface="微软雅黑"/>
                <a:cs typeface="微软雅黑"/>
                <a:sym typeface="微软雅黑"/>
              </a:rPr>
              <a:t> C）</a:t>
            </a:r>
            <a:endParaRPr lang="en-US" sz="1100" dirty="0"/>
          </a:p>
        </p:txBody>
      </p:sp>
      <p:sp>
        <p:nvSpPr>
          <p:cNvPr id="39" name="AutoShape 39"/>
          <p:cNvSpPr/>
          <p:nvPr/>
        </p:nvSpPr>
        <p:spPr>
          <a:xfrm>
            <a:off x="1143000" y="5092701"/>
            <a:ext cx="10033000" cy="762000"/>
          </a:xfrm>
          <a:prstGeom prst="roundRect">
            <a:avLst>
              <a:gd name="adj" fmla="val 0"/>
            </a:avLst>
          </a:prstGeom>
          <a:solidFill>
            <a:srgbClr val="FAF5EB">
              <a:alpha val="100000"/>
            </a:srgbClr>
          </a:solidFill>
          <a:ln w="12700" cap="flat" cmpd="sng">
            <a:solidFill>
              <a:srgbClr val="C8783C">
                <a:alpha val="100000"/>
              </a:srgbClr>
            </a:solidFill>
            <a:prstDash val="solid"/>
            <a:miter lim="1000000"/>
          </a:ln>
        </p:spPr>
        <p:txBody>
          <a:bodyPr vert="horz" wrap="square" lIns="203200" tIns="101600" rIns="203200" bIns="101600" rtlCol="0" anchor="ctr">
            <a:noAutofit/>
          </a:bodyPr>
          <a:lstStyle/>
          <a:p>
            <a:pPr>
              <a:lnSpc>
                <a:spcPct val="108333"/>
              </a:lnSpc>
              <a:defRPr/>
            </a:pPr>
            <a:r>
              <a:rPr lang="en-US" sz="1250" b="1" i="0" u="none" strike="noStrike" dirty="0" err="1">
                <a:solidFill>
                  <a:srgbClr val="B4321E"/>
                </a:solidFill>
                <a:latin typeface="微软雅黑"/>
                <a:ea typeface="微软雅黑"/>
                <a:cs typeface="微软雅黑"/>
                <a:sym typeface="微软雅黑"/>
              </a:rPr>
              <a:t>结论</a:t>
            </a:r>
            <a:r>
              <a:rPr lang="en-US" sz="1250" b="1" i="0" u="none" strike="noStrike" dirty="0">
                <a:solidFill>
                  <a:srgbClr val="B4321E"/>
                </a:solidFill>
                <a:latin typeface="微软雅黑"/>
                <a:ea typeface="微软雅黑"/>
                <a:cs typeface="微软雅黑"/>
                <a:sym typeface="微软雅黑"/>
              </a:rPr>
              <a:t>：</a:t>
            </a:r>
            <a:r>
              <a:rPr lang="en-US" altLang="ja-JP" sz="1250" dirty="0">
                <a:solidFill>
                  <a:srgbClr val="783214"/>
                </a:solidFill>
                <a:latin typeface="微软雅黑"/>
                <a:ea typeface="微软雅黑"/>
                <a:cs typeface="微软雅黑"/>
                <a:sym typeface="微软雅黑"/>
              </a:rPr>
              <a:t> 在 3 </a:t>
            </a:r>
            <a:r>
              <a:rPr lang="en-US" altLang="ja-JP" sz="1250" dirty="0" err="1">
                <a:solidFill>
                  <a:srgbClr val="783214"/>
                </a:solidFill>
                <a:latin typeface="微软雅黑"/>
                <a:ea typeface="微软雅黑"/>
                <a:cs typeface="微软雅黑"/>
                <a:sym typeface="微软雅黑"/>
              </a:rPr>
              <a:t>个随机种子下</a:t>
            </a:r>
            <a:r>
              <a:rPr lang="en-US" altLang="ja-JP" sz="1250" dirty="0">
                <a:solidFill>
                  <a:srgbClr val="783214"/>
                </a:solidFill>
                <a:latin typeface="微软雅黑"/>
                <a:ea typeface="微软雅黑"/>
                <a:cs typeface="微软雅黑"/>
                <a:sym typeface="微软雅黑"/>
              </a:rPr>
              <a:t>  </a:t>
            </a:r>
            <a:r>
              <a:rPr lang="en-US" sz="1250" b="0" i="0" u="none" strike="noStrike" dirty="0">
                <a:solidFill>
                  <a:srgbClr val="783214"/>
                </a:solidFill>
                <a:latin typeface="微软雅黑"/>
                <a:ea typeface="微软雅黑"/>
                <a:cs typeface="微软雅黑"/>
                <a:sym typeface="微软雅黑"/>
              </a:rPr>
              <a:t>E2A（Verifier）</a:t>
            </a:r>
            <a:r>
              <a:rPr lang="zh-CN" altLang="en-US" sz="1250" b="0" i="0" u="none" strike="noStrike" dirty="0">
                <a:solidFill>
                  <a:srgbClr val="783214"/>
                </a:solidFill>
                <a:latin typeface="微软雅黑"/>
                <a:ea typeface="微软雅黑"/>
                <a:cs typeface="微软雅黑"/>
                <a:sym typeface="微软雅黑"/>
              </a:rPr>
              <a:t>相较于</a:t>
            </a:r>
            <a:r>
              <a:rPr lang="en-US" altLang="zh-CN" sz="1250" b="0" i="0" u="none" strike="noStrike" dirty="0">
                <a:solidFill>
                  <a:srgbClr val="783214"/>
                </a:solidFill>
                <a:latin typeface="微软雅黑"/>
                <a:ea typeface="微软雅黑"/>
                <a:cs typeface="微软雅黑"/>
                <a:sym typeface="微软雅黑"/>
              </a:rPr>
              <a:t>V1</a:t>
            </a:r>
            <a:r>
              <a:rPr lang="zh-CN" altLang="en-US" sz="1250" b="0" i="0" u="none" strike="noStrike" dirty="0">
                <a:solidFill>
                  <a:srgbClr val="783214"/>
                </a:solidFill>
                <a:latin typeface="微软雅黑"/>
                <a:ea typeface="微软雅黑"/>
                <a:cs typeface="微软雅黑"/>
                <a:sym typeface="微软雅黑"/>
              </a:rPr>
              <a:t>是稳定有增益的</a:t>
            </a:r>
            <a:r>
              <a:rPr lang="en-US" altLang="zh-CN" sz="1250" b="0" i="0" u="none" strike="noStrike" dirty="0">
                <a:solidFill>
                  <a:srgbClr val="783214"/>
                </a:solidFill>
                <a:latin typeface="微软雅黑"/>
                <a:ea typeface="微软雅黑"/>
                <a:cs typeface="微软雅黑"/>
                <a:sym typeface="微软雅黑"/>
              </a:rPr>
              <a:t>,</a:t>
            </a:r>
            <a:r>
              <a:rPr lang="zh-CN" altLang="en-US" sz="1250" b="0" i="0" u="none" strike="noStrike" dirty="0">
                <a:solidFill>
                  <a:srgbClr val="783214"/>
                </a:solidFill>
                <a:latin typeface="微软雅黑"/>
                <a:ea typeface="微软雅黑"/>
                <a:cs typeface="微软雅黑"/>
                <a:sym typeface="微软雅黑"/>
              </a:rPr>
              <a:t>后续会补充</a:t>
            </a:r>
            <a:r>
              <a:rPr lang="en-US" altLang="zh-CN" sz="1250" b="0" i="0" u="none" strike="noStrike" dirty="0">
                <a:solidFill>
                  <a:srgbClr val="783214"/>
                </a:solidFill>
                <a:latin typeface="微软雅黑"/>
                <a:ea typeface="微软雅黑"/>
                <a:cs typeface="微软雅黑"/>
                <a:sym typeface="微软雅黑"/>
              </a:rPr>
              <a:t>append</a:t>
            </a:r>
            <a:r>
              <a:rPr lang="zh-CN" altLang="en-US" sz="1250" dirty="0">
                <a:solidFill>
                  <a:srgbClr val="783214"/>
                </a:solidFill>
                <a:latin typeface="微软雅黑"/>
                <a:ea typeface="微软雅黑"/>
                <a:sym typeface="微软雅黑"/>
              </a:rPr>
              <a:t>部分（</a:t>
            </a:r>
            <a:r>
              <a:rPr lang="en-US" altLang="ja-JP" sz="1250" dirty="0">
                <a:solidFill>
                  <a:srgbClr val="783214"/>
                </a:solidFill>
                <a:latin typeface="微软雅黑"/>
                <a:ea typeface="微软雅黑"/>
                <a:sym typeface="微软雅黑"/>
              </a:rPr>
              <a:t>E2B-400+IoF0.3</a:t>
            </a:r>
            <a:r>
              <a:rPr lang="zh-CN" altLang="en-US" sz="1250" dirty="0">
                <a:solidFill>
                  <a:srgbClr val="783214"/>
                </a:solidFill>
                <a:latin typeface="微软雅黑"/>
                <a:ea typeface="微软雅黑"/>
                <a:sym typeface="微软雅黑"/>
              </a:rPr>
              <a:t>）多随机种子稳定性复验</a:t>
            </a:r>
            <a:endParaRPr lang="en-US" sz="1250" dirty="0">
              <a:solidFill>
                <a:srgbClr val="783214"/>
              </a:solidFill>
              <a:latin typeface="微软雅黑"/>
              <a:ea typeface="微软雅黑"/>
            </a:endParaRPr>
          </a:p>
        </p:txBody>
      </p:sp>
      <p:grpSp>
        <p:nvGrpSpPr>
          <p:cNvPr id="44" name="组合 43">
            <a:extLst>
              <a:ext uri="{FF2B5EF4-FFF2-40B4-BE49-F238E27FC236}">
                <a16:creationId xmlns:a16="http://schemas.microsoft.com/office/drawing/2014/main" id="{6E69483C-0655-21DD-69EE-F0E2F633BD39}"/>
              </a:ext>
            </a:extLst>
          </p:cNvPr>
          <p:cNvGrpSpPr/>
          <p:nvPr/>
        </p:nvGrpSpPr>
        <p:grpSpPr>
          <a:xfrm>
            <a:off x="0" y="132080"/>
            <a:ext cx="4760595" cy="617855"/>
            <a:chOff x="0" y="132080"/>
            <a:chExt cx="4760595" cy="617855"/>
          </a:xfrm>
        </p:grpSpPr>
        <p:sp>
          <p:nvSpPr>
            <p:cNvPr id="45" name="Freeform 2">
              <a:extLst>
                <a:ext uri="{FF2B5EF4-FFF2-40B4-BE49-F238E27FC236}">
                  <a16:creationId xmlns:a16="http://schemas.microsoft.com/office/drawing/2014/main" id="{B0BAE5FC-15A9-8246-3636-B90C15F29BE2}"/>
                </a:ext>
              </a:extLst>
            </p:cNvPr>
            <p:cNvSpPr/>
            <p:nvPr/>
          </p:nvSpPr>
          <p:spPr>
            <a:xfrm>
              <a:off x="0" y="132080"/>
              <a:ext cx="4009390" cy="574040"/>
            </a:xfrm>
            <a:custGeom>
              <a:avLst/>
              <a:gdLst/>
              <a:ahLst/>
              <a:cxnLst/>
              <a:rect l="l" t="t" r="r" b="b"/>
              <a:pathLst>
                <a:path w="4009390" h="574040">
                  <a:moveTo>
                    <a:pt x="431770" y="0"/>
                  </a:moveTo>
                  <a:lnTo>
                    <a:pt x="431776" y="0"/>
                  </a:lnTo>
                  <a:lnTo>
                    <a:pt x="3559305" y="0"/>
                  </a:lnTo>
                  <a:lnTo>
                    <a:pt x="3559305" y="1228"/>
                  </a:lnTo>
                  <a:lnTo>
                    <a:pt x="3577620" y="0"/>
                  </a:lnTo>
                  <a:cubicBezTo>
                    <a:pt x="3816081" y="0"/>
                    <a:pt x="4009390" y="128504"/>
                    <a:pt x="4009390" y="287020"/>
                  </a:cubicBezTo>
                  <a:cubicBezTo>
                    <a:pt x="4009390" y="445536"/>
                    <a:pt x="3816081" y="574040"/>
                    <a:pt x="3577620" y="574040"/>
                  </a:cubicBezTo>
                  <a:lnTo>
                    <a:pt x="3559305" y="572813"/>
                  </a:lnTo>
                  <a:lnTo>
                    <a:pt x="3559305" y="574040"/>
                  </a:lnTo>
                  <a:lnTo>
                    <a:pt x="431770" y="574040"/>
                  </a:lnTo>
                  <a:cubicBezTo>
                    <a:pt x="193309" y="574040"/>
                    <a:pt x="0" y="445536"/>
                    <a:pt x="0" y="287020"/>
                  </a:cubicBezTo>
                  <a:cubicBezTo>
                    <a:pt x="0" y="128504"/>
                    <a:pt x="193309" y="0"/>
                    <a:pt x="431770"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46" name="Picture 3">
              <a:extLst>
                <a:ext uri="{FF2B5EF4-FFF2-40B4-BE49-F238E27FC236}">
                  <a16:creationId xmlns:a16="http://schemas.microsoft.com/office/drawing/2014/main" id="{C2BEE75C-41DB-332F-4520-38C143585E42}"/>
                </a:ext>
              </a:extLst>
            </p:cNvPr>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sp>
          <p:nvSpPr>
            <p:cNvPr id="47" name="AutoShape 4">
              <a:extLst>
                <a:ext uri="{FF2B5EF4-FFF2-40B4-BE49-F238E27FC236}">
                  <a16:creationId xmlns:a16="http://schemas.microsoft.com/office/drawing/2014/main" id="{886F04E9-9F61-42BA-480B-F1430F911AAD}"/>
                </a:ext>
              </a:extLst>
            </p:cNvPr>
            <p:cNvSpPr/>
            <p:nvPr/>
          </p:nvSpPr>
          <p:spPr>
            <a:xfrm>
              <a:off x="901700" y="245745"/>
              <a:ext cx="3858895"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en-US" sz="2400" b="1" i="0" u="none" strike="noStrike" dirty="0" err="1">
                  <a:solidFill>
                    <a:srgbClr val="FFFFFF"/>
                  </a:solidFill>
                  <a:latin typeface="微软雅黑"/>
                  <a:ea typeface="微软雅黑"/>
                  <a:cs typeface="微软雅黑"/>
                  <a:sym typeface="微软雅黑"/>
                </a:rPr>
                <a:t>阶段性实验结果</a:t>
              </a:r>
              <a:endParaRPr lang="en-US" sz="1100" dirty="0"/>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a:extLst>
            <a:ext uri="{FF2B5EF4-FFF2-40B4-BE49-F238E27FC236}">
              <a16:creationId xmlns:a16="http://schemas.microsoft.com/office/drawing/2014/main" id="{7C415A5B-6C59-EBF6-077D-26615D058ADA}"/>
            </a:ext>
          </a:extLst>
        </p:cNvPr>
        <p:cNvGrpSpPr/>
        <p:nvPr/>
      </p:nvGrpSpPr>
      <p:grpSpPr>
        <a:xfrm>
          <a:off x="0" y="0"/>
          <a:ext cx="0" cy="0"/>
          <a:chOff x="0" y="0"/>
          <a:chExt cx="0" cy="0"/>
        </a:xfrm>
      </p:grpSpPr>
      <p:grpSp>
        <p:nvGrpSpPr>
          <p:cNvPr id="36" name="组合 35">
            <a:extLst>
              <a:ext uri="{FF2B5EF4-FFF2-40B4-BE49-F238E27FC236}">
                <a16:creationId xmlns:a16="http://schemas.microsoft.com/office/drawing/2014/main" id="{03DC42E8-3065-B52A-C327-A73A82FA5CB4}"/>
              </a:ext>
            </a:extLst>
          </p:cNvPr>
          <p:cNvGrpSpPr/>
          <p:nvPr/>
        </p:nvGrpSpPr>
        <p:grpSpPr>
          <a:xfrm>
            <a:off x="0" y="132080"/>
            <a:ext cx="4760595" cy="617855"/>
            <a:chOff x="0" y="132080"/>
            <a:chExt cx="4760595" cy="617855"/>
          </a:xfrm>
        </p:grpSpPr>
        <p:sp>
          <p:nvSpPr>
            <p:cNvPr id="2" name="Freeform 2">
              <a:extLst>
                <a:ext uri="{FF2B5EF4-FFF2-40B4-BE49-F238E27FC236}">
                  <a16:creationId xmlns:a16="http://schemas.microsoft.com/office/drawing/2014/main" id="{7FD754D9-E66B-7D1E-A36F-CC6DE7C30AEC}"/>
                </a:ext>
              </a:extLst>
            </p:cNvPr>
            <p:cNvSpPr/>
            <p:nvPr/>
          </p:nvSpPr>
          <p:spPr>
            <a:xfrm>
              <a:off x="0" y="132080"/>
              <a:ext cx="4009390" cy="574040"/>
            </a:xfrm>
            <a:custGeom>
              <a:avLst/>
              <a:gdLst/>
              <a:ahLst/>
              <a:cxnLst/>
              <a:rect l="l" t="t" r="r" b="b"/>
              <a:pathLst>
                <a:path w="4009390" h="574040">
                  <a:moveTo>
                    <a:pt x="431770" y="0"/>
                  </a:moveTo>
                  <a:lnTo>
                    <a:pt x="431776" y="0"/>
                  </a:lnTo>
                  <a:lnTo>
                    <a:pt x="3559305" y="0"/>
                  </a:lnTo>
                  <a:lnTo>
                    <a:pt x="3559305" y="1228"/>
                  </a:lnTo>
                  <a:lnTo>
                    <a:pt x="3577620" y="0"/>
                  </a:lnTo>
                  <a:cubicBezTo>
                    <a:pt x="3816081" y="0"/>
                    <a:pt x="4009390" y="128504"/>
                    <a:pt x="4009390" y="287020"/>
                  </a:cubicBezTo>
                  <a:cubicBezTo>
                    <a:pt x="4009390" y="445536"/>
                    <a:pt x="3816081" y="574040"/>
                    <a:pt x="3577620" y="574040"/>
                  </a:cubicBezTo>
                  <a:lnTo>
                    <a:pt x="3559305" y="572813"/>
                  </a:lnTo>
                  <a:lnTo>
                    <a:pt x="3559305" y="574040"/>
                  </a:lnTo>
                  <a:lnTo>
                    <a:pt x="431770" y="574040"/>
                  </a:lnTo>
                  <a:cubicBezTo>
                    <a:pt x="193309" y="574040"/>
                    <a:pt x="0" y="445536"/>
                    <a:pt x="0" y="287020"/>
                  </a:cubicBezTo>
                  <a:cubicBezTo>
                    <a:pt x="0" y="128504"/>
                    <a:pt x="193309" y="0"/>
                    <a:pt x="431770"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3" name="Picture 3">
              <a:extLst>
                <a:ext uri="{FF2B5EF4-FFF2-40B4-BE49-F238E27FC236}">
                  <a16:creationId xmlns:a16="http://schemas.microsoft.com/office/drawing/2014/main" id="{0C60C90E-CAB4-726C-C418-8139C12612A3}"/>
                </a:ext>
              </a:extLst>
            </p:cNvPr>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sp>
          <p:nvSpPr>
            <p:cNvPr id="4" name="AutoShape 4">
              <a:extLst>
                <a:ext uri="{FF2B5EF4-FFF2-40B4-BE49-F238E27FC236}">
                  <a16:creationId xmlns:a16="http://schemas.microsoft.com/office/drawing/2014/main" id="{1913DFF7-91CB-AEF2-26F1-9F617A60C0EA}"/>
                </a:ext>
              </a:extLst>
            </p:cNvPr>
            <p:cNvSpPr/>
            <p:nvPr/>
          </p:nvSpPr>
          <p:spPr>
            <a:xfrm>
              <a:off x="901700" y="245745"/>
              <a:ext cx="3858895"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en-US" sz="2400" b="1" i="0" u="none" strike="noStrike" dirty="0" err="1">
                  <a:solidFill>
                    <a:srgbClr val="FFFFFF"/>
                  </a:solidFill>
                  <a:latin typeface="微软雅黑"/>
                  <a:ea typeface="微软雅黑"/>
                  <a:cs typeface="微软雅黑"/>
                  <a:sym typeface="微软雅黑"/>
                </a:rPr>
                <a:t>阶段性实验结果</a:t>
              </a:r>
              <a:endParaRPr lang="en-US" sz="1100" dirty="0"/>
            </a:p>
          </p:txBody>
        </p:sp>
      </p:grpSp>
      <p:sp>
        <p:nvSpPr>
          <p:cNvPr id="5" name="AutoShape 5">
            <a:extLst>
              <a:ext uri="{FF2B5EF4-FFF2-40B4-BE49-F238E27FC236}">
                <a16:creationId xmlns:a16="http://schemas.microsoft.com/office/drawing/2014/main" id="{E1F6BC55-198C-75C7-95E8-D124AD4DF62E}"/>
              </a:ext>
            </a:extLst>
          </p:cNvPr>
          <p:cNvSpPr/>
          <p:nvPr/>
        </p:nvSpPr>
        <p:spPr>
          <a:xfrm>
            <a:off x="472122" y="819785"/>
            <a:ext cx="9806270" cy="425402"/>
          </a:xfrm>
          <a:prstGeom prst="roundRect">
            <a:avLst>
              <a:gd name="adj" fmla="val 0"/>
            </a:avLst>
          </a:prstGeom>
          <a:solidFill>
            <a:srgbClr val="0A3760">
              <a:alpha val="100000"/>
            </a:srgbClr>
          </a:solidFill>
          <a:ln w="25400" cap="flat" cmpd="sng">
            <a:noFill/>
            <a:prstDash val="solid"/>
            <a:round/>
          </a:ln>
        </p:spPr>
        <p:txBody>
          <a:bodyPr vert="horz" wrap="square" lIns="0" tIns="25400" rIns="0" bIns="25400" rtlCol="0" anchor="ctr" anchorCtr="0"/>
          <a:lstStyle/>
          <a:p>
            <a:pPr marL="0" indent="0" algn="ctr" defTabSz="914400">
              <a:lnSpc>
                <a:spcPct val="125000"/>
              </a:lnSpc>
              <a:defRPr/>
            </a:pPr>
            <a:r>
              <a:rPr lang="zh-CN" altLang="en-US" sz="1500" b="1" dirty="0">
                <a:solidFill>
                  <a:srgbClr val="FFFFFF"/>
                </a:solidFill>
                <a:latin typeface="微软雅黑"/>
                <a:ea typeface="微软雅黑"/>
                <a:sym typeface="微软雅黑"/>
              </a:rPr>
              <a:t>效果</a:t>
            </a:r>
            <a:endParaRPr lang="en-US" sz="1100" dirty="0"/>
          </a:p>
        </p:txBody>
      </p:sp>
      <p:pic>
        <p:nvPicPr>
          <p:cNvPr id="7" name="图片 6">
            <a:extLst>
              <a:ext uri="{FF2B5EF4-FFF2-40B4-BE49-F238E27FC236}">
                <a16:creationId xmlns:a16="http://schemas.microsoft.com/office/drawing/2014/main" id="{1C5BE485-595C-2CC6-326C-22E4FEC024EF}"/>
              </a:ext>
            </a:extLst>
          </p:cNvPr>
          <p:cNvPicPr>
            <a:picLocks noChangeAspect="1"/>
          </p:cNvPicPr>
          <p:nvPr/>
        </p:nvPicPr>
        <p:blipFill>
          <a:blip r:embed="rId5"/>
          <a:stretch>
            <a:fillRect/>
          </a:stretch>
        </p:blipFill>
        <p:spPr>
          <a:xfrm>
            <a:off x="472122" y="1239824"/>
            <a:ext cx="9806270" cy="5618176"/>
          </a:xfrm>
          <a:prstGeom prst="rect">
            <a:avLst/>
          </a:prstGeom>
        </p:spPr>
      </p:pic>
    </p:spTree>
    <p:extLst>
      <p:ext uri="{BB962C8B-B14F-4D97-AF65-F5344CB8AC3E}">
        <p14:creationId xmlns:p14="http://schemas.microsoft.com/office/powerpoint/2010/main" val="33238341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a:extLst>
            <a:ext uri="{FF2B5EF4-FFF2-40B4-BE49-F238E27FC236}">
              <a16:creationId xmlns:a16="http://schemas.microsoft.com/office/drawing/2014/main" id="{03435853-871C-8FAA-7A6B-F4E6E912D5BD}"/>
            </a:ext>
          </a:extLst>
        </p:cNvPr>
        <p:cNvGrpSpPr/>
        <p:nvPr/>
      </p:nvGrpSpPr>
      <p:grpSpPr>
        <a:xfrm>
          <a:off x="0" y="0"/>
          <a:ext cx="0" cy="0"/>
          <a:chOff x="0" y="0"/>
          <a:chExt cx="0" cy="0"/>
        </a:xfrm>
      </p:grpSpPr>
      <p:grpSp>
        <p:nvGrpSpPr>
          <p:cNvPr id="36" name="组合 35">
            <a:extLst>
              <a:ext uri="{FF2B5EF4-FFF2-40B4-BE49-F238E27FC236}">
                <a16:creationId xmlns:a16="http://schemas.microsoft.com/office/drawing/2014/main" id="{8999B1BF-4648-2926-FAC9-5B2C6DFCC9C3}"/>
              </a:ext>
            </a:extLst>
          </p:cNvPr>
          <p:cNvGrpSpPr/>
          <p:nvPr/>
        </p:nvGrpSpPr>
        <p:grpSpPr>
          <a:xfrm>
            <a:off x="0" y="132080"/>
            <a:ext cx="4760595" cy="617855"/>
            <a:chOff x="0" y="132080"/>
            <a:chExt cx="4760595" cy="617855"/>
          </a:xfrm>
        </p:grpSpPr>
        <p:sp>
          <p:nvSpPr>
            <p:cNvPr id="2" name="Freeform 2">
              <a:extLst>
                <a:ext uri="{FF2B5EF4-FFF2-40B4-BE49-F238E27FC236}">
                  <a16:creationId xmlns:a16="http://schemas.microsoft.com/office/drawing/2014/main" id="{3CDB8356-4108-C45D-5B35-A6FE902B5C69}"/>
                </a:ext>
              </a:extLst>
            </p:cNvPr>
            <p:cNvSpPr/>
            <p:nvPr/>
          </p:nvSpPr>
          <p:spPr>
            <a:xfrm>
              <a:off x="0" y="132080"/>
              <a:ext cx="4009390" cy="574040"/>
            </a:xfrm>
            <a:custGeom>
              <a:avLst/>
              <a:gdLst/>
              <a:ahLst/>
              <a:cxnLst/>
              <a:rect l="l" t="t" r="r" b="b"/>
              <a:pathLst>
                <a:path w="4009390" h="574040">
                  <a:moveTo>
                    <a:pt x="431770" y="0"/>
                  </a:moveTo>
                  <a:lnTo>
                    <a:pt x="431776" y="0"/>
                  </a:lnTo>
                  <a:lnTo>
                    <a:pt x="3559305" y="0"/>
                  </a:lnTo>
                  <a:lnTo>
                    <a:pt x="3559305" y="1228"/>
                  </a:lnTo>
                  <a:lnTo>
                    <a:pt x="3577620" y="0"/>
                  </a:lnTo>
                  <a:cubicBezTo>
                    <a:pt x="3816081" y="0"/>
                    <a:pt x="4009390" y="128504"/>
                    <a:pt x="4009390" y="287020"/>
                  </a:cubicBezTo>
                  <a:cubicBezTo>
                    <a:pt x="4009390" y="445536"/>
                    <a:pt x="3816081" y="574040"/>
                    <a:pt x="3577620" y="574040"/>
                  </a:cubicBezTo>
                  <a:lnTo>
                    <a:pt x="3559305" y="572813"/>
                  </a:lnTo>
                  <a:lnTo>
                    <a:pt x="3559305" y="574040"/>
                  </a:lnTo>
                  <a:lnTo>
                    <a:pt x="431770" y="574040"/>
                  </a:lnTo>
                  <a:cubicBezTo>
                    <a:pt x="193309" y="574040"/>
                    <a:pt x="0" y="445536"/>
                    <a:pt x="0" y="287020"/>
                  </a:cubicBezTo>
                  <a:cubicBezTo>
                    <a:pt x="0" y="128504"/>
                    <a:pt x="193309" y="0"/>
                    <a:pt x="431770"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3" name="Picture 3">
              <a:extLst>
                <a:ext uri="{FF2B5EF4-FFF2-40B4-BE49-F238E27FC236}">
                  <a16:creationId xmlns:a16="http://schemas.microsoft.com/office/drawing/2014/main" id="{5E7F7200-0031-043B-AAE9-49DE775C31B2}"/>
                </a:ext>
              </a:extLst>
            </p:cNvPr>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sp>
          <p:nvSpPr>
            <p:cNvPr id="4" name="AutoShape 4">
              <a:extLst>
                <a:ext uri="{FF2B5EF4-FFF2-40B4-BE49-F238E27FC236}">
                  <a16:creationId xmlns:a16="http://schemas.microsoft.com/office/drawing/2014/main" id="{998A354F-D9D8-6C66-C298-6987FEDE2E02}"/>
                </a:ext>
              </a:extLst>
            </p:cNvPr>
            <p:cNvSpPr/>
            <p:nvPr/>
          </p:nvSpPr>
          <p:spPr>
            <a:xfrm>
              <a:off x="901700" y="245745"/>
              <a:ext cx="3858895"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en-US" sz="2400" b="1" i="0" u="none" strike="noStrike" dirty="0" err="1">
                  <a:solidFill>
                    <a:srgbClr val="FFFFFF"/>
                  </a:solidFill>
                  <a:latin typeface="微软雅黑"/>
                  <a:ea typeface="微软雅黑"/>
                  <a:cs typeface="微软雅黑"/>
                  <a:sym typeface="微软雅黑"/>
                </a:rPr>
                <a:t>阶段性实验结果</a:t>
              </a:r>
              <a:endParaRPr lang="en-US" sz="1100" dirty="0"/>
            </a:p>
          </p:txBody>
        </p:sp>
      </p:grpSp>
      <p:sp>
        <p:nvSpPr>
          <p:cNvPr id="5" name="AutoShape 5">
            <a:extLst>
              <a:ext uri="{FF2B5EF4-FFF2-40B4-BE49-F238E27FC236}">
                <a16:creationId xmlns:a16="http://schemas.microsoft.com/office/drawing/2014/main" id="{F3B0E5CF-A6CB-8026-E0FB-C360A611D89E}"/>
              </a:ext>
            </a:extLst>
          </p:cNvPr>
          <p:cNvSpPr/>
          <p:nvPr/>
        </p:nvSpPr>
        <p:spPr>
          <a:xfrm>
            <a:off x="382643" y="858237"/>
            <a:ext cx="9765297" cy="381000"/>
          </a:xfrm>
          <a:prstGeom prst="roundRect">
            <a:avLst>
              <a:gd name="adj" fmla="val 0"/>
            </a:avLst>
          </a:prstGeom>
          <a:solidFill>
            <a:srgbClr val="0A3760">
              <a:alpha val="100000"/>
            </a:srgbClr>
          </a:solidFill>
          <a:ln w="25400" cap="flat" cmpd="sng">
            <a:noFill/>
            <a:prstDash val="solid"/>
            <a:round/>
          </a:ln>
        </p:spPr>
        <p:txBody>
          <a:bodyPr vert="horz" wrap="square" lIns="0" tIns="25400" rIns="0" bIns="25400" rtlCol="0" anchor="ctr" anchorCtr="0"/>
          <a:lstStyle/>
          <a:p>
            <a:pPr marL="0" indent="0" algn="ctr" defTabSz="914400">
              <a:lnSpc>
                <a:spcPct val="125000"/>
              </a:lnSpc>
              <a:defRPr/>
            </a:pPr>
            <a:r>
              <a:rPr lang="zh-CN" altLang="en-US" sz="1500" b="1" dirty="0">
                <a:solidFill>
                  <a:srgbClr val="FFFFFF"/>
                </a:solidFill>
                <a:latin typeface="微软雅黑"/>
                <a:ea typeface="微软雅黑"/>
                <a:sym typeface="微软雅黑"/>
              </a:rPr>
              <a:t>效果</a:t>
            </a:r>
            <a:endParaRPr lang="en-US" sz="1100" dirty="0"/>
          </a:p>
        </p:txBody>
      </p:sp>
      <p:pic>
        <p:nvPicPr>
          <p:cNvPr id="16" name="图片 15">
            <a:extLst>
              <a:ext uri="{FF2B5EF4-FFF2-40B4-BE49-F238E27FC236}">
                <a16:creationId xmlns:a16="http://schemas.microsoft.com/office/drawing/2014/main" id="{2DEC63BD-378C-D216-ADF8-77FA19BE565C}"/>
              </a:ext>
            </a:extLst>
          </p:cNvPr>
          <p:cNvPicPr>
            <a:picLocks noChangeAspect="1"/>
          </p:cNvPicPr>
          <p:nvPr/>
        </p:nvPicPr>
        <p:blipFill>
          <a:blip r:embed="rId5"/>
          <a:stretch>
            <a:fillRect/>
          </a:stretch>
        </p:blipFill>
        <p:spPr>
          <a:xfrm>
            <a:off x="382643" y="1263298"/>
            <a:ext cx="9765297" cy="5594702"/>
          </a:xfrm>
          <a:prstGeom prst="rect">
            <a:avLst/>
          </a:prstGeom>
        </p:spPr>
      </p:pic>
    </p:spTree>
    <p:extLst>
      <p:ext uri="{BB962C8B-B14F-4D97-AF65-F5344CB8AC3E}">
        <p14:creationId xmlns:p14="http://schemas.microsoft.com/office/powerpoint/2010/main" val="17218667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a:extLst>
            <a:ext uri="{FF2B5EF4-FFF2-40B4-BE49-F238E27FC236}">
              <a16:creationId xmlns:a16="http://schemas.microsoft.com/office/drawing/2014/main" id="{4558F970-06B3-E071-C272-5C791481FFEA}"/>
            </a:ext>
          </a:extLst>
        </p:cNvPr>
        <p:cNvGrpSpPr/>
        <p:nvPr/>
      </p:nvGrpSpPr>
      <p:grpSpPr>
        <a:xfrm>
          <a:off x="0" y="0"/>
          <a:ext cx="0" cy="0"/>
          <a:chOff x="0" y="0"/>
          <a:chExt cx="0" cy="0"/>
        </a:xfrm>
      </p:grpSpPr>
      <p:grpSp>
        <p:nvGrpSpPr>
          <p:cNvPr id="36" name="组合 35">
            <a:extLst>
              <a:ext uri="{FF2B5EF4-FFF2-40B4-BE49-F238E27FC236}">
                <a16:creationId xmlns:a16="http://schemas.microsoft.com/office/drawing/2014/main" id="{73CA70DC-90B0-9736-36B9-501BD08E06FE}"/>
              </a:ext>
            </a:extLst>
          </p:cNvPr>
          <p:cNvGrpSpPr/>
          <p:nvPr/>
        </p:nvGrpSpPr>
        <p:grpSpPr>
          <a:xfrm>
            <a:off x="0" y="132080"/>
            <a:ext cx="4760595" cy="617855"/>
            <a:chOff x="0" y="132080"/>
            <a:chExt cx="4760595" cy="617855"/>
          </a:xfrm>
        </p:grpSpPr>
        <p:sp>
          <p:nvSpPr>
            <p:cNvPr id="2" name="Freeform 2">
              <a:extLst>
                <a:ext uri="{FF2B5EF4-FFF2-40B4-BE49-F238E27FC236}">
                  <a16:creationId xmlns:a16="http://schemas.microsoft.com/office/drawing/2014/main" id="{292D84DE-66D2-DDC6-1655-19408DB4D5DE}"/>
                </a:ext>
              </a:extLst>
            </p:cNvPr>
            <p:cNvSpPr/>
            <p:nvPr/>
          </p:nvSpPr>
          <p:spPr>
            <a:xfrm>
              <a:off x="0" y="132080"/>
              <a:ext cx="4009390" cy="574040"/>
            </a:xfrm>
            <a:custGeom>
              <a:avLst/>
              <a:gdLst/>
              <a:ahLst/>
              <a:cxnLst/>
              <a:rect l="l" t="t" r="r" b="b"/>
              <a:pathLst>
                <a:path w="4009390" h="574040">
                  <a:moveTo>
                    <a:pt x="431770" y="0"/>
                  </a:moveTo>
                  <a:lnTo>
                    <a:pt x="431776" y="0"/>
                  </a:lnTo>
                  <a:lnTo>
                    <a:pt x="3559305" y="0"/>
                  </a:lnTo>
                  <a:lnTo>
                    <a:pt x="3559305" y="1228"/>
                  </a:lnTo>
                  <a:lnTo>
                    <a:pt x="3577620" y="0"/>
                  </a:lnTo>
                  <a:cubicBezTo>
                    <a:pt x="3816081" y="0"/>
                    <a:pt x="4009390" y="128504"/>
                    <a:pt x="4009390" y="287020"/>
                  </a:cubicBezTo>
                  <a:cubicBezTo>
                    <a:pt x="4009390" y="445536"/>
                    <a:pt x="3816081" y="574040"/>
                    <a:pt x="3577620" y="574040"/>
                  </a:cubicBezTo>
                  <a:lnTo>
                    <a:pt x="3559305" y="572813"/>
                  </a:lnTo>
                  <a:lnTo>
                    <a:pt x="3559305" y="574040"/>
                  </a:lnTo>
                  <a:lnTo>
                    <a:pt x="431770" y="574040"/>
                  </a:lnTo>
                  <a:cubicBezTo>
                    <a:pt x="193309" y="574040"/>
                    <a:pt x="0" y="445536"/>
                    <a:pt x="0" y="287020"/>
                  </a:cubicBezTo>
                  <a:cubicBezTo>
                    <a:pt x="0" y="128504"/>
                    <a:pt x="193309" y="0"/>
                    <a:pt x="431770"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3" name="Picture 3">
              <a:extLst>
                <a:ext uri="{FF2B5EF4-FFF2-40B4-BE49-F238E27FC236}">
                  <a16:creationId xmlns:a16="http://schemas.microsoft.com/office/drawing/2014/main" id="{7532D70A-3C21-BE80-1630-BD8195504F02}"/>
                </a:ext>
              </a:extLst>
            </p:cNvPr>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sp>
          <p:nvSpPr>
            <p:cNvPr id="4" name="AutoShape 4">
              <a:extLst>
                <a:ext uri="{FF2B5EF4-FFF2-40B4-BE49-F238E27FC236}">
                  <a16:creationId xmlns:a16="http://schemas.microsoft.com/office/drawing/2014/main" id="{FD5C5017-D603-2899-0939-C5B7A6CC2080}"/>
                </a:ext>
              </a:extLst>
            </p:cNvPr>
            <p:cNvSpPr/>
            <p:nvPr/>
          </p:nvSpPr>
          <p:spPr>
            <a:xfrm>
              <a:off x="901700" y="245745"/>
              <a:ext cx="3858895"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en-US" sz="2400" b="1" i="0" u="none" strike="noStrike" dirty="0" err="1">
                  <a:solidFill>
                    <a:srgbClr val="FFFFFF"/>
                  </a:solidFill>
                  <a:latin typeface="微软雅黑"/>
                  <a:ea typeface="微软雅黑"/>
                  <a:cs typeface="微软雅黑"/>
                  <a:sym typeface="微软雅黑"/>
                </a:rPr>
                <a:t>阶段性实验结果</a:t>
              </a:r>
              <a:endParaRPr lang="en-US" sz="1100" dirty="0"/>
            </a:p>
          </p:txBody>
        </p:sp>
      </p:grpSp>
      <p:sp>
        <p:nvSpPr>
          <p:cNvPr id="5" name="AutoShape 5">
            <a:extLst>
              <a:ext uri="{FF2B5EF4-FFF2-40B4-BE49-F238E27FC236}">
                <a16:creationId xmlns:a16="http://schemas.microsoft.com/office/drawing/2014/main" id="{305299B0-AA45-6A44-3DB5-8F3EADCB69DA}"/>
              </a:ext>
            </a:extLst>
          </p:cNvPr>
          <p:cNvSpPr/>
          <p:nvPr/>
        </p:nvSpPr>
        <p:spPr>
          <a:xfrm>
            <a:off x="382643" y="858237"/>
            <a:ext cx="9807295" cy="381000"/>
          </a:xfrm>
          <a:prstGeom prst="roundRect">
            <a:avLst>
              <a:gd name="adj" fmla="val 0"/>
            </a:avLst>
          </a:prstGeom>
          <a:solidFill>
            <a:srgbClr val="0A3760">
              <a:alpha val="100000"/>
            </a:srgbClr>
          </a:solidFill>
          <a:ln w="25400" cap="flat" cmpd="sng">
            <a:noFill/>
            <a:prstDash val="solid"/>
            <a:round/>
          </a:ln>
        </p:spPr>
        <p:txBody>
          <a:bodyPr vert="horz" wrap="square" lIns="0" tIns="25400" rIns="0" bIns="25400" rtlCol="0" anchor="ctr" anchorCtr="0"/>
          <a:lstStyle/>
          <a:p>
            <a:pPr marL="0" indent="0" algn="ctr" defTabSz="914400">
              <a:lnSpc>
                <a:spcPct val="125000"/>
              </a:lnSpc>
              <a:defRPr/>
            </a:pPr>
            <a:r>
              <a:rPr lang="zh-CN" altLang="en-US" sz="1500" b="1" dirty="0">
                <a:solidFill>
                  <a:schemeClr val="bg1"/>
                </a:solidFill>
                <a:latin typeface="微软雅黑" panose="020B0503020204020204" pitchFamily="34" charset="-122"/>
                <a:ea typeface="微软雅黑" panose="020B0503020204020204" pitchFamily="34" charset="-122"/>
              </a:rPr>
              <a:t>效果</a:t>
            </a:r>
            <a:endParaRPr lang="en-US" sz="1500" b="1" dirty="0">
              <a:solidFill>
                <a:schemeClr val="bg1"/>
              </a:solidFill>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0662E80B-62D9-A24B-63EF-55C96B5387F2}"/>
              </a:ext>
            </a:extLst>
          </p:cNvPr>
          <p:cNvPicPr>
            <a:picLocks noChangeAspect="1"/>
          </p:cNvPicPr>
          <p:nvPr/>
        </p:nvPicPr>
        <p:blipFill>
          <a:blip r:embed="rId5"/>
          <a:stretch>
            <a:fillRect/>
          </a:stretch>
        </p:blipFill>
        <p:spPr>
          <a:xfrm>
            <a:off x="382643" y="1239237"/>
            <a:ext cx="9807295" cy="5618763"/>
          </a:xfrm>
          <a:prstGeom prst="rect">
            <a:avLst/>
          </a:prstGeom>
        </p:spPr>
      </p:pic>
    </p:spTree>
    <p:extLst>
      <p:ext uri="{BB962C8B-B14F-4D97-AF65-F5344CB8AC3E}">
        <p14:creationId xmlns:p14="http://schemas.microsoft.com/office/powerpoint/2010/main" val="6440056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463627" y="3572453"/>
            <a:ext cx="1632373" cy="330315"/>
          </a:xfrm>
          <a:prstGeom prst="chevron">
            <a:avLst>
              <a:gd name="adj" fmla="val 50000"/>
            </a:avLst>
          </a:prstGeom>
          <a:solidFill>
            <a:srgbClr val="A5A5A5">
              <a:alpha val="100000"/>
            </a:srgbClr>
          </a:solidFill>
          <a:ln w="12700" cap="flat">
            <a:noFill/>
            <a:prstDash val="solid"/>
          </a:ln>
        </p:spPr>
        <p:txBody>
          <a:bodyPr wrap="square" lIns="91440" tIns="45720" rIns="91440" bIns="45720" rtlCol="0" anchor="ctr">
            <a:noAutofit/>
          </a:bodyPr>
          <a:lstStyle/>
          <a:p>
            <a:pPr marL="0" indent="0" algn="ctr" defTabSz="608965">
              <a:lnSpc>
                <a:spcPct val="100000"/>
              </a:lnSpc>
              <a:defRPr/>
            </a:pPr>
            <a:r>
              <a:rPr lang="en-US" sz="1464" b="1" i="0" u="none" strike="noStrike">
                <a:solidFill>
                  <a:srgbClr val="FFFFFF"/>
                </a:solidFill>
                <a:latin typeface="微软雅黑"/>
                <a:ea typeface="微软雅黑"/>
                <a:cs typeface="微软雅黑"/>
                <a:sym typeface="微软雅黑"/>
              </a:rPr>
              <a:t>2026</a:t>
            </a:r>
            <a:endParaRPr lang="en-US" sz="1100"/>
          </a:p>
        </p:txBody>
      </p:sp>
      <p:sp>
        <p:nvSpPr>
          <p:cNvPr id="3" name="AutoShape 3"/>
          <p:cNvSpPr/>
          <p:nvPr/>
        </p:nvSpPr>
        <p:spPr>
          <a:xfrm>
            <a:off x="6096000" y="3572453"/>
            <a:ext cx="1632373" cy="330315"/>
          </a:xfrm>
          <a:prstGeom prst="chevron">
            <a:avLst>
              <a:gd name="adj" fmla="val 50000"/>
            </a:avLst>
          </a:prstGeom>
          <a:solidFill>
            <a:srgbClr val="44546A">
              <a:alpha val="100000"/>
            </a:srgbClr>
          </a:solidFill>
          <a:ln w="12700" cap="flat">
            <a:solidFill>
              <a:srgbClr val="44546A">
                <a:alpha val="100000"/>
              </a:srgbClr>
            </a:solidFill>
            <a:prstDash val="solid"/>
          </a:ln>
        </p:spPr>
        <p:txBody>
          <a:bodyPr wrap="square" lIns="91440" tIns="45720" rIns="91440" bIns="45720" rtlCol="0" anchor="ctr">
            <a:noAutofit/>
          </a:bodyPr>
          <a:lstStyle/>
          <a:p>
            <a:pPr marL="0" indent="0" algn="ctr" defTabSz="608965">
              <a:lnSpc>
                <a:spcPct val="100000"/>
              </a:lnSpc>
              <a:defRPr/>
            </a:pPr>
            <a:r>
              <a:rPr lang="en-US" sz="1464" b="1" i="0" u="none" strike="noStrike">
                <a:solidFill>
                  <a:srgbClr val="FFFFFF"/>
                </a:solidFill>
                <a:latin typeface="微软雅黑"/>
                <a:ea typeface="微软雅黑"/>
                <a:cs typeface="微软雅黑"/>
                <a:sym typeface="微软雅黑"/>
              </a:rPr>
              <a:t>2027</a:t>
            </a:r>
            <a:endParaRPr lang="en-US" sz="1100"/>
          </a:p>
        </p:txBody>
      </p:sp>
      <p:sp>
        <p:nvSpPr>
          <p:cNvPr id="4" name="AutoShape 4"/>
          <p:cNvSpPr/>
          <p:nvPr/>
        </p:nvSpPr>
        <p:spPr>
          <a:xfrm>
            <a:off x="764540" y="4950460"/>
            <a:ext cx="2181860" cy="461665"/>
          </a:xfrm>
          <a:prstGeom prst="rect">
            <a:avLst/>
          </a:prstGeom>
          <a:noFill/>
          <a:ln w="12700">
            <a:noFill/>
            <a:prstDash val="solid"/>
          </a:ln>
        </p:spPr>
        <p:txBody>
          <a:bodyPr wrap="square" lIns="91440" tIns="45720" rIns="91440" bIns="45720" rtlCol="0" anchor="t">
            <a:spAutoFit/>
          </a:bodyPr>
          <a:lstStyle/>
          <a:p>
            <a:pPr marL="0" indent="0" algn="ctr" defTabSz="608965">
              <a:lnSpc>
                <a:spcPct val="100000"/>
              </a:lnSpc>
              <a:defRPr/>
            </a:pPr>
            <a:r>
              <a:rPr lang="en-US" sz="1200" b="0" i="0" u="none" strike="noStrike" dirty="0" err="1">
                <a:solidFill>
                  <a:srgbClr val="0A3760"/>
                </a:solidFill>
                <a:latin typeface="微软雅黑"/>
                <a:ea typeface="微软雅黑"/>
                <a:cs typeface="微软雅黑"/>
                <a:sym typeface="微软雅黑"/>
              </a:rPr>
              <a:t>文献综述与</a:t>
            </a:r>
            <a:r>
              <a:rPr lang="zh-CN" altLang="en-US" sz="1200" b="0" i="0" u="none" strike="noStrike" dirty="0">
                <a:solidFill>
                  <a:srgbClr val="0A3760"/>
                </a:solidFill>
                <a:latin typeface="微软雅黑"/>
                <a:ea typeface="微软雅黑"/>
                <a:cs typeface="微软雅黑"/>
                <a:sym typeface="微软雅黑"/>
              </a:rPr>
              <a:t>预实验</a:t>
            </a:r>
            <a:endParaRPr lang="en-US" altLang="zh-CN" sz="1200" b="0" i="0" u="none" strike="noStrike" dirty="0">
              <a:solidFill>
                <a:srgbClr val="0A3760"/>
              </a:solidFill>
              <a:latin typeface="微软雅黑"/>
              <a:ea typeface="微软雅黑"/>
              <a:cs typeface="微软雅黑"/>
              <a:sym typeface="微软雅黑"/>
            </a:endParaRPr>
          </a:p>
          <a:p>
            <a:pPr marL="0" indent="0" algn="ctr" defTabSz="608965">
              <a:lnSpc>
                <a:spcPct val="100000"/>
              </a:lnSpc>
              <a:defRPr/>
            </a:pPr>
            <a:r>
              <a:rPr lang="en-US" sz="1200" b="0" i="0" u="none" strike="noStrike" dirty="0" err="1">
                <a:solidFill>
                  <a:srgbClr val="0A3760"/>
                </a:solidFill>
                <a:latin typeface="微软雅黑"/>
                <a:ea typeface="微软雅黑"/>
                <a:cs typeface="微软雅黑"/>
                <a:sym typeface="微软雅黑"/>
              </a:rPr>
              <a:t>开题报告撰写</a:t>
            </a:r>
            <a:endParaRPr lang="en-US" sz="1100" dirty="0"/>
          </a:p>
        </p:txBody>
      </p:sp>
      <p:sp>
        <p:nvSpPr>
          <p:cNvPr id="5" name="AutoShape 5"/>
          <p:cNvSpPr/>
          <p:nvPr/>
        </p:nvSpPr>
        <p:spPr>
          <a:xfrm>
            <a:off x="2635749" y="1904580"/>
            <a:ext cx="1632373" cy="922020"/>
          </a:xfrm>
          <a:prstGeom prst="rect">
            <a:avLst/>
          </a:prstGeom>
          <a:noFill/>
          <a:ln w="12700">
            <a:noFill/>
            <a:prstDash val="solid"/>
          </a:ln>
        </p:spPr>
        <p:txBody>
          <a:bodyPr wrap="square" lIns="91440" tIns="45720" rIns="91440" bIns="45720" rtlCol="0" anchor="t">
            <a:spAutoFit/>
          </a:bodyPr>
          <a:lstStyle/>
          <a:p>
            <a:pPr marL="0" indent="0" algn="l" defTabSz="608965">
              <a:lnSpc>
                <a:spcPct val="150000"/>
              </a:lnSpc>
              <a:defRPr/>
            </a:pPr>
            <a:r>
              <a:rPr lang="en-US" sz="1200" b="0" i="0" u="none" strike="noStrike" dirty="0" err="1">
                <a:solidFill>
                  <a:srgbClr val="0A3760"/>
                </a:solidFill>
                <a:latin typeface="微软雅黑" panose="020B0503020204020204" pitchFamily="34" charset="-122"/>
                <a:ea typeface="微软雅黑" panose="020B0503020204020204" pitchFamily="34" charset="-122"/>
                <a:cs typeface="微软雅黑"/>
                <a:sym typeface="微软雅黑"/>
              </a:rPr>
              <a:t>实践中发现问题</a:t>
            </a:r>
            <a:r>
              <a:rPr lang="en-US" sz="1200" b="0" i="0" u="none" strike="noStrike" dirty="0">
                <a:solidFill>
                  <a:srgbClr val="0A3760"/>
                </a:solidFill>
                <a:latin typeface="微软雅黑" panose="020B0503020204020204" pitchFamily="34" charset="-122"/>
                <a:ea typeface="微软雅黑" panose="020B0503020204020204" pitchFamily="34" charset="-122"/>
                <a:cs typeface="微软雅黑"/>
                <a:sym typeface="微软雅黑"/>
              </a:rPr>
              <a:t>；</a:t>
            </a:r>
            <a:endParaRPr lang="en-US" sz="1100" dirty="0">
              <a:latin typeface="微软雅黑" panose="020B0503020204020204" pitchFamily="34" charset="-122"/>
              <a:ea typeface="微软雅黑" panose="020B0503020204020204" pitchFamily="34" charset="-122"/>
            </a:endParaRPr>
          </a:p>
          <a:p>
            <a:pPr marL="0" indent="0" algn="l" defTabSz="608965">
              <a:lnSpc>
                <a:spcPct val="150000"/>
              </a:lnSpc>
            </a:pPr>
            <a:r>
              <a:rPr lang="en-US" sz="1200" b="0" i="0" u="none" strike="noStrike" dirty="0" err="1">
                <a:solidFill>
                  <a:srgbClr val="0A3760"/>
                </a:solidFill>
                <a:latin typeface="微软雅黑" panose="020B0503020204020204" pitchFamily="34" charset="-122"/>
                <a:ea typeface="微软雅黑" panose="020B0503020204020204" pitchFamily="34" charset="-122"/>
                <a:cs typeface="微软雅黑"/>
                <a:sym typeface="微软雅黑"/>
              </a:rPr>
              <a:t>相关资料的学习</a:t>
            </a:r>
            <a:r>
              <a:rPr lang="en-US" sz="1200" b="0" i="0" u="none" strike="noStrike" dirty="0">
                <a:solidFill>
                  <a:srgbClr val="0A3760"/>
                </a:solidFill>
                <a:latin typeface="微软雅黑" panose="020B0503020204020204" pitchFamily="34" charset="-122"/>
                <a:ea typeface="微软雅黑" panose="020B0503020204020204" pitchFamily="34" charset="-122"/>
                <a:cs typeface="微软雅黑"/>
                <a:sym typeface="微软雅黑"/>
              </a:rPr>
              <a:t>；</a:t>
            </a:r>
          </a:p>
          <a:p>
            <a:pPr marL="0" indent="0" algn="l" defTabSz="608965">
              <a:lnSpc>
                <a:spcPct val="150000"/>
              </a:lnSpc>
            </a:pPr>
            <a:r>
              <a:rPr lang="en-US" sz="1200" b="0" i="0" u="none" strike="noStrike" dirty="0" err="1">
                <a:solidFill>
                  <a:srgbClr val="0A3760"/>
                </a:solidFill>
                <a:latin typeface="微软雅黑" panose="020B0503020204020204" pitchFamily="34" charset="-122"/>
                <a:ea typeface="微软雅黑" panose="020B0503020204020204" pitchFamily="34" charset="-122"/>
                <a:cs typeface="微软雅黑"/>
                <a:sym typeface="微软雅黑"/>
              </a:rPr>
              <a:t>数据的收集</a:t>
            </a:r>
            <a:r>
              <a:rPr lang="en-US" sz="1200" b="0" i="0" u="none" strike="noStrike" dirty="0">
                <a:solidFill>
                  <a:srgbClr val="0A3760"/>
                </a:solidFill>
                <a:latin typeface="微软雅黑" panose="020B0503020204020204" pitchFamily="34" charset="-122"/>
                <a:ea typeface="微软雅黑" panose="020B0503020204020204" pitchFamily="34" charset="-122"/>
                <a:cs typeface="微软雅黑"/>
                <a:sym typeface="微软雅黑"/>
              </a:rPr>
              <a:t>；</a:t>
            </a:r>
          </a:p>
        </p:txBody>
      </p:sp>
      <p:sp>
        <p:nvSpPr>
          <p:cNvPr id="7" name="AutoShape 7"/>
          <p:cNvSpPr/>
          <p:nvPr/>
        </p:nvSpPr>
        <p:spPr>
          <a:xfrm>
            <a:off x="5873115" y="2095500"/>
            <a:ext cx="1878965" cy="1145891"/>
          </a:xfrm>
          <a:prstGeom prst="rect">
            <a:avLst/>
          </a:prstGeom>
          <a:noFill/>
          <a:ln w="12700">
            <a:noFill/>
            <a:prstDash val="solid"/>
          </a:ln>
        </p:spPr>
        <p:txBody>
          <a:bodyPr wrap="square" lIns="91440" tIns="45720" rIns="91440" bIns="45720" rtlCol="0" anchor="t">
            <a:spAutoFit/>
          </a:bodyPr>
          <a:lstStyle/>
          <a:p>
            <a:pPr defTabSz="608965">
              <a:lnSpc>
                <a:spcPct val="150000"/>
              </a:lnSpc>
              <a:defRPr/>
            </a:pPr>
            <a:r>
              <a:rPr lang="en-US" altLang="zh-CN" sz="1200" dirty="0">
                <a:solidFill>
                  <a:srgbClr val="0A3760"/>
                </a:solidFill>
                <a:latin typeface="微软雅黑"/>
                <a:ea typeface="微软雅黑"/>
                <a:cs typeface="微软雅黑"/>
                <a:sym typeface="微软雅黑"/>
              </a:rPr>
              <a:t>SAM3</a:t>
            </a:r>
            <a:r>
              <a:rPr lang="zh-CN" altLang="en-US" sz="1200" dirty="0">
                <a:solidFill>
                  <a:srgbClr val="0A3760"/>
                </a:solidFill>
                <a:latin typeface="微软雅黑"/>
                <a:ea typeface="微软雅黑"/>
                <a:cs typeface="微软雅黑"/>
                <a:sym typeface="微软雅黑"/>
              </a:rPr>
              <a:t>角色选定与稳定性实验；伪标签验证体系搭建与验证</a:t>
            </a:r>
          </a:p>
          <a:p>
            <a:pPr defTabSz="608965">
              <a:lnSpc>
                <a:spcPct val="150000"/>
              </a:lnSpc>
              <a:defRPr/>
            </a:pPr>
            <a:endParaRPr lang="en-US" sz="1100" dirty="0"/>
          </a:p>
        </p:txBody>
      </p:sp>
      <p:sp>
        <p:nvSpPr>
          <p:cNvPr id="8" name="AutoShape 8"/>
          <p:cNvSpPr/>
          <p:nvPr/>
        </p:nvSpPr>
        <p:spPr>
          <a:xfrm>
            <a:off x="1472782" y="1840136"/>
            <a:ext cx="1088571" cy="1088571"/>
          </a:xfrm>
          <a:prstGeom prst="ellipse">
            <a:avLst/>
          </a:prstGeom>
          <a:gradFill rotWithShape="1">
            <a:gsLst>
              <a:gs pos="0">
                <a:srgbClr val="FFFFFF">
                  <a:alpha val="100000"/>
                </a:srgbClr>
              </a:gs>
              <a:gs pos="100000">
                <a:srgbClr val="C8C8C8">
                  <a:alpha val="100000"/>
                </a:srgbClr>
              </a:gs>
            </a:gsLst>
            <a:lin ang="19800000"/>
          </a:gradFill>
          <a:ln w="25400" cap="flat">
            <a:gradFill rotWithShape="1">
              <a:gsLst>
                <a:gs pos="52999">
                  <a:srgbClr val="FFFFFF">
                    <a:alpha val="90000"/>
                  </a:srgbClr>
                </a:gs>
                <a:gs pos="100000">
                  <a:srgbClr val="808080">
                    <a:alpha val="100000"/>
                  </a:srgbClr>
                </a:gs>
              </a:gsLst>
              <a:lin ang="7200000"/>
            </a:gradFill>
            <a:prstDash val="solid"/>
          </a:ln>
          <a:effectLst>
            <a:outerShdw blurRad="482600" dist="279400" dir="8100000" algn="tr" rotWithShape="0">
              <a:srgbClr val="000000">
                <a:alpha val="40000"/>
              </a:srgbClr>
            </a:outerShdw>
          </a:effectLst>
        </p:spPr>
        <p:txBody>
          <a:bodyPr vert="horz" wrap="square" lIns="91440" tIns="45720" rIns="91440" bIns="45720" rtlCol="0" anchor="ctr">
            <a:noAutofit/>
          </a:bodyPr>
          <a:lstStyle/>
          <a:p>
            <a:pPr marL="0" indent="0" algn="ctr" defTabSz="914400">
              <a:lnSpc>
                <a:spcPct val="100000"/>
              </a:lnSpc>
              <a:defRPr/>
            </a:pPr>
            <a:r>
              <a:rPr lang="en-US" sz="1400" b="1" i="0" u="none" strike="noStrike">
                <a:solidFill>
                  <a:srgbClr val="234983"/>
                </a:solidFill>
                <a:latin typeface="微软雅黑"/>
                <a:ea typeface="微软雅黑"/>
                <a:cs typeface="微软雅黑"/>
                <a:sym typeface="微软雅黑"/>
              </a:rPr>
              <a:t>3-6月</a:t>
            </a:r>
            <a:endParaRPr lang="en-US" sz="1100"/>
          </a:p>
        </p:txBody>
      </p:sp>
      <p:sp>
        <p:nvSpPr>
          <p:cNvPr id="9" name="AutoShape 9"/>
          <p:cNvSpPr/>
          <p:nvPr/>
        </p:nvSpPr>
        <p:spPr>
          <a:xfrm>
            <a:off x="4614545" y="1784985"/>
            <a:ext cx="1117600" cy="1088390"/>
          </a:xfrm>
          <a:prstGeom prst="ellipse">
            <a:avLst/>
          </a:prstGeom>
          <a:gradFill rotWithShape="1">
            <a:gsLst>
              <a:gs pos="0">
                <a:srgbClr val="FFFFFF">
                  <a:alpha val="100000"/>
                </a:srgbClr>
              </a:gs>
              <a:gs pos="100000">
                <a:srgbClr val="C8C8C8">
                  <a:alpha val="100000"/>
                </a:srgbClr>
              </a:gs>
            </a:gsLst>
            <a:lin ang="19800000"/>
          </a:gradFill>
          <a:ln w="25400" cap="flat">
            <a:gradFill rotWithShape="1">
              <a:gsLst>
                <a:gs pos="52999">
                  <a:srgbClr val="FFFFFF">
                    <a:alpha val="90000"/>
                  </a:srgbClr>
                </a:gs>
                <a:gs pos="100000">
                  <a:srgbClr val="808080">
                    <a:alpha val="100000"/>
                  </a:srgbClr>
                </a:gs>
              </a:gsLst>
              <a:lin ang="7200000"/>
            </a:gradFill>
            <a:prstDash val="solid"/>
          </a:ln>
          <a:effectLst>
            <a:outerShdw blurRad="482600" dist="279400" dir="8100000" algn="tr" rotWithShape="0">
              <a:srgbClr val="000000">
                <a:alpha val="40000"/>
              </a:srgbClr>
            </a:outerShdw>
          </a:effectLst>
        </p:spPr>
        <p:txBody>
          <a:bodyPr vert="horz" wrap="square" lIns="91440" tIns="45720" rIns="91440" bIns="45720" rtlCol="0" anchor="ctr">
            <a:noAutofit/>
          </a:bodyPr>
          <a:lstStyle/>
          <a:p>
            <a:pPr marL="0" indent="0" algn="ctr" defTabSz="914400">
              <a:lnSpc>
                <a:spcPct val="100000"/>
              </a:lnSpc>
              <a:defRPr/>
            </a:pPr>
            <a:r>
              <a:rPr lang="en-US" sz="1400" b="1" i="0" u="none" strike="noStrike" dirty="0">
                <a:solidFill>
                  <a:srgbClr val="234983"/>
                </a:solidFill>
                <a:latin typeface="微软雅黑"/>
                <a:ea typeface="微软雅黑"/>
                <a:cs typeface="微软雅黑"/>
                <a:sym typeface="微软雅黑"/>
              </a:rPr>
              <a:t>9-12月</a:t>
            </a:r>
            <a:endParaRPr lang="en-US" sz="1100" dirty="0"/>
          </a:p>
        </p:txBody>
      </p:sp>
      <p:sp>
        <p:nvSpPr>
          <p:cNvPr id="10" name="AutoShape 10"/>
          <p:cNvSpPr/>
          <p:nvPr/>
        </p:nvSpPr>
        <p:spPr>
          <a:xfrm>
            <a:off x="7941527" y="1781081"/>
            <a:ext cx="1088571" cy="1088571"/>
          </a:xfrm>
          <a:prstGeom prst="ellipse">
            <a:avLst/>
          </a:prstGeom>
          <a:gradFill rotWithShape="1">
            <a:gsLst>
              <a:gs pos="0">
                <a:srgbClr val="FFFFFF">
                  <a:alpha val="100000"/>
                </a:srgbClr>
              </a:gs>
              <a:gs pos="100000">
                <a:srgbClr val="C8C8C8">
                  <a:alpha val="100000"/>
                </a:srgbClr>
              </a:gs>
            </a:gsLst>
            <a:lin ang="19800000"/>
          </a:gradFill>
          <a:ln w="25400" cap="flat">
            <a:gradFill rotWithShape="1">
              <a:gsLst>
                <a:gs pos="52999">
                  <a:srgbClr val="FFFFFF">
                    <a:alpha val="90000"/>
                  </a:srgbClr>
                </a:gs>
                <a:gs pos="100000">
                  <a:srgbClr val="808080">
                    <a:alpha val="100000"/>
                  </a:srgbClr>
                </a:gs>
              </a:gsLst>
              <a:lin ang="7200000"/>
            </a:gradFill>
            <a:prstDash val="solid"/>
          </a:ln>
          <a:effectLst>
            <a:outerShdw blurRad="482600" dist="279400" dir="8100000" algn="tr" rotWithShape="0">
              <a:srgbClr val="000000">
                <a:alpha val="40000"/>
              </a:srgbClr>
            </a:outerShdw>
          </a:effectLst>
        </p:spPr>
        <p:txBody>
          <a:bodyPr vert="horz" wrap="square" lIns="91440" tIns="45720" rIns="91440" bIns="45720" rtlCol="0" anchor="ctr">
            <a:noAutofit/>
          </a:bodyPr>
          <a:lstStyle/>
          <a:p>
            <a:pPr marL="0" indent="0" algn="ctr" defTabSz="914400">
              <a:lnSpc>
                <a:spcPct val="100000"/>
              </a:lnSpc>
              <a:defRPr/>
            </a:pPr>
            <a:r>
              <a:rPr lang="en-US" sz="1400" b="1" i="0" u="none" strike="noStrike">
                <a:solidFill>
                  <a:srgbClr val="234983"/>
                </a:solidFill>
                <a:latin typeface="微软雅黑"/>
                <a:ea typeface="微软雅黑"/>
                <a:cs typeface="微软雅黑"/>
                <a:sym typeface="微软雅黑"/>
              </a:rPr>
              <a:t>3月</a:t>
            </a:r>
            <a:endParaRPr lang="en-US" sz="1100"/>
          </a:p>
        </p:txBody>
      </p:sp>
      <p:sp>
        <p:nvSpPr>
          <p:cNvPr id="11" name="AutoShape 11"/>
          <p:cNvSpPr/>
          <p:nvPr/>
        </p:nvSpPr>
        <p:spPr>
          <a:xfrm>
            <a:off x="3104097" y="4543966"/>
            <a:ext cx="1088571" cy="1088571"/>
          </a:xfrm>
          <a:prstGeom prst="ellipse">
            <a:avLst/>
          </a:prstGeom>
          <a:gradFill rotWithShape="1">
            <a:gsLst>
              <a:gs pos="0">
                <a:srgbClr val="FFFFFF">
                  <a:alpha val="100000"/>
                </a:srgbClr>
              </a:gs>
              <a:gs pos="100000">
                <a:srgbClr val="C8C8C8">
                  <a:alpha val="100000"/>
                </a:srgbClr>
              </a:gs>
            </a:gsLst>
            <a:lin ang="19800000"/>
          </a:gradFill>
          <a:ln w="25400" cap="flat">
            <a:gradFill rotWithShape="1">
              <a:gsLst>
                <a:gs pos="52999">
                  <a:srgbClr val="FFFFFF">
                    <a:alpha val="90000"/>
                  </a:srgbClr>
                </a:gs>
                <a:gs pos="100000">
                  <a:srgbClr val="808080">
                    <a:alpha val="100000"/>
                  </a:srgbClr>
                </a:gs>
              </a:gsLst>
              <a:lin ang="7200000"/>
            </a:gradFill>
            <a:prstDash val="solid"/>
          </a:ln>
          <a:effectLst>
            <a:outerShdw blurRad="482600" dist="279400" dir="8100000" algn="tr" rotWithShape="0">
              <a:srgbClr val="000000">
                <a:alpha val="40000"/>
              </a:srgbClr>
            </a:outerShdw>
          </a:effectLst>
        </p:spPr>
        <p:txBody>
          <a:bodyPr vert="horz" wrap="square" lIns="91440" tIns="45720" rIns="91440" bIns="45720" rtlCol="0" anchor="ctr">
            <a:noAutofit/>
          </a:bodyPr>
          <a:lstStyle/>
          <a:p>
            <a:pPr marL="0" indent="0" algn="ctr" defTabSz="914400">
              <a:lnSpc>
                <a:spcPct val="100000"/>
              </a:lnSpc>
              <a:defRPr/>
            </a:pPr>
            <a:r>
              <a:rPr lang="en-US" sz="1400" b="1" i="0" u="none" strike="noStrike">
                <a:solidFill>
                  <a:srgbClr val="234983"/>
                </a:solidFill>
                <a:latin typeface="微软雅黑"/>
                <a:ea typeface="微软雅黑"/>
                <a:cs typeface="微软雅黑"/>
                <a:sym typeface="微软雅黑"/>
              </a:rPr>
              <a:t>7-8月</a:t>
            </a:r>
            <a:endParaRPr lang="en-US" sz="1100"/>
          </a:p>
        </p:txBody>
      </p:sp>
      <p:sp>
        <p:nvSpPr>
          <p:cNvPr id="12" name="AutoShape 12"/>
          <p:cNvSpPr/>
          <p:nvPr/>
        </p:nvSpPr>
        <p:spPr>
          <a:xfrm>
            <a:off x="6321642" y="4543966"/>
            <a:ext cx="1088571" cy="1088571"/>
          </a:xfrm>
          <a:prstGeom prst="ellipse">
            <a:avLst/>
          </a:prstGeom>
          <a:gradFill rotWithShape="1">
            <a:gsLst>
              <a:gs pos="0">
                <a:srgbClr val="FFFFFF">
                  <a:alpha val="100000"/>
                </a:srgbClr>
              </a:gs>
              <a:gs pos="100000">
                <a:srgbClr val="C8C8C8">
                  <a:alpha val="100000"/>
                </a:srgbClr>
              </a:gs>
            </a:gsLst>
            <a:lin ang="19800000"/>
          </a:gradFill>
          <a:ln w="25400" cap="flat">
            <a:gradFill rotWithShape="1">
              <a:gsLst>
                <a:gs pos="52999">
                  <a:srgbClr val="FFFFFF">
                    <a:alpha val="90000"/>
                  </a:srgbClr>
                </a:gs>
                <a:gs pos="100000">
                  <a:srgbClr val="808080">
                    <a:alpha val="100000"/>
                  </a:srgbClr>
                </a:gs>
              </a:gsLst>
              <a:lin ang="7200000"/>
            </a:gradFill>
            <a:prstDash val="solid"/>
          </a:ln>
          <a:effectLst>
            <a:outerShdw blurRad="482600" dist="279400" dir="8100000" algn="tr" rotWithShape="0">
              <a:srgbClr val="000000">
                <a:alpha val="40000"/>
              </a:srgbClr>
            </a:outerShdw>
          </a:effectLst>
        </p:spPr>
        <p:txBody>
          <a:bodyPr vert="horz" wrap="square" lIns="91440" tIns="45720" rIns="91440" bIns="45720" rtlCol="0" anchor="ctr">
            <a:noAutofit/>
          </a:bodyPr>
          <a:lstStyle/>
          <a:p>
            <a:pPr marL="0" indent="0" algn="ctr" defTabSz="914400">
              <a:lnSpc>
                <a:spcPct val="100000"/>
              </a:lnSpc>
              <a:defRPr/>
            </a:pPr>
            <a:r>
              <a:rPr lang="en-US" sz="1400" b="1" i="0" u="none" strike="noStrike">
                <a:solidFill>
                  <a:srgbClr val="234983"/>
                </a:solidFill>
                <a:latin typeface="微软雅黑"/>
                <a:ea typeface="微软雅黑"/>
                <a:cs typeface="微软雅黑"/>
                <a:sym typeface="微软雅黑"/>
              </a:rPr>
              <a:t>1-2月</a:t>
            </a:r>
            <a:endParaRPr lang="en-US" sz="1100"/>
          </a:p>
        </p:txBody>
      </p:sp>
      <p:sp>
        <p:nvSpPr>
          <p:cNvPr id="13" name="AutoShape 13"/>
          <p:cNvSpPr/>
          <p:nvPr/>
        </p:nvSpPr>
        <p:spPr>
          <a:xfrm>
            <a:off x="9632532" y="4558571"/>
            <a:ext cx="1088571" cy="1088571"/>
          </a:xfrm>
          <a:prstGeom prst="ellipse">
            <a:avLst/>
          </a:prstGeom>
          <a:gradFill rotWithShape="1">
            <a:gsLst>
              <a:gs pos="0">
                <a:srgbClr val="FFFFFF">
                  <a:alpha val="100000"/>
                </a:srgbClr>
              </a:gs>
              <a:gs pos="100000">
                <a:srgbClr val="C8C8C8">
                  <a:alpha val="100000"/>
                </a:srgbClr>
              </a:gs>
            </a:gsLst>
            <a:lin ang="19800000"/>
          </a:gradFill>
          <a:ln w="25400" cap="flat">
            <a:gradFill rotWithShape="1">
              <a:gsLst>
                <a:gs pos="52999">
                  <a:srgbClr val="FFFFFF">
                    <a:alpha val="90000"/>
                  </a:srgbClr>
                </a:gs>
                <a:gs pos="100000">
                  <a:srgbClr val="808080">
                    <a:alpha val="100000"/>
                  </a:srgbClr>
                </a:gs>
              </a:gsLst>
              <a:lin ang="7200000"/>
            </a:gradFill>
            <a:prstDash val="solid"/>
          </a:ln>
          <a:effectLst>
            <a:outerShdw blurRad="482600" dist="279400" dir="8100000" algn="tr" rotWithShape="0">
              <a:srgbClr val="000000">
                <a:alpha val="40000"/>
              </a:srgbClr>
            </a:outerShdw>
          </a:effectLst>
        </p:spPr>
        <p:txBody>
          <a:bodyPr vert="horz" wrap="square" lIns="91440" tIns="45720" rIns="91440" bIns="45720" rtlCol="0" anchor="ctr">
            <a:noAutofit/>
          </a:bodyPr>
          <a:lstStyle/>
          <a:p>
            <a:pPr marL="0" indent="0" algn="ctr" defTabSz="914400">
              <a:lnSpc>
                <a:spcPct val="100000"/>
              </a:lnSpc>
              <a:defRPr/>
            </a:pPr>
            <a:r>
              <a:rPr lang="en-US" sz="1400" b="1" i="0" u="none" strike="noStrike">
                <a:solidFill>
                  <a:srgbClr val="234983"/>
                </a:solidFill>
                <a:latin typeface="微软雅黑"/>
                <a:ea typeface="微软雅黑"/>
                <a:cs typeface="微软雅黑"/>
                <a:sym typeface="微软雅黑"/>
              </a:rPr>
              <a:t>4月</a:t>
            </a:r>
            <a:endParaRPr lang="en-US" sz="1100"/>
          </a:p>
        </p:txBody>
      </p:sp>
      <p:sp>
        <p:nvSpPr>
          <p:cNvPr id="14" name="AutoShape 14"/>
          <p:cNvSpPr/>
          <p:nvPr/>
        </p:nvSpPr>
        <p:spPr>
          <a:xfrm>
            <a:off x="2871047" y="3572453"/>
            <a:ext cx="1632373" cy="330315"/>
          </a:xfrm>
          <a:prstGeom prst="chevron">
            <a:avLst>
              <a:gd name="adj" fmla="val 50000"/>
            </a:avLst>
          </a:prstGeom>
          <a:solidFill>
            <a:srgbClr val="A5A5A5">
              <a:alpha val="100000"/>
            </a:srgbClr>
          </a:solidFill>
          <a:ln w="12700" cap="flat">
            <a:noFill/>
            <a:prstDash val="solid"/>
          </a:ln>
        </p:spPr>
        <p:txBody>
          <a:bodyPr wrap="square" lIns="91440" tIns="45720" rIns="91440" bIns="45720" rtlCol="0" anchor="ctr">
            <a:noAutofit/>
          </a:bodyPr>
          <a:lstStyle/>
          <a:p>
            <a:pPr marL="0" indent="0" algn="ctr" defTabSz="608965">
              <a:lnSpc>
                <a:spcPct val="100000"/>
              </a:lnSpc>
              <a:defRPr/>
            </a:pPr>
            <a:r>
              <a:rPr lang="en-US" sz="1464" b="1" i="0" u="none" strike="noStrike">
                <a:solidFill>
                  <a:srgbClr val="FFFFFF"/>
                </a:solidFill>
                <a:latin typeface="微软雅黑"/>
                <a:ea typeface="微软雅黑"/>
                <a:cs typeface="微软雅黑"/>
                <a:sym typeface="微软雅黑"/>
              </a:rPr>
              <a:t>2026</a:t>
            </a:r>
            <a:endParaRPr lang="en-US" sz="1100"/>
          </a:p>
        </p:txBody>
      </p:sp>
      <p:sp>
        <p:nvSpPr>
          <p:cNvPr id="15" name="AutoShape 15"/>
          <p:cNvSpPr/>
          <p:nvPr/>
        </p:nvSpPr>
        <p:spPr>
          <a:xfrm>
            <a:off x="1238462" y="3572453"/>
            <a:ext cx="1632373" cy="330315"/>
          </a:xfrm>
          <a:prstGeom prst="chevron">
            <a:avLst>
              <a:gd name="adj" fmla="val 50000"/>
            </a:avLst>
          </a:prstGeom>
          <a:solidFill>
            <a:srgbClr val="A5A5A5">
              <a:alpha val="100000"/>
            </a:srgbClr>
          </a:solidFill>
          <a:ln w="12700" cap="flat">
            <a:noFill/>
            <a:prstDash val="solid"/>
          </a:ln>
        </p:spPr>
        <p:txBody>
          <a:bodyPr wrap="square" lIns="91440" tIns="45720" rIns="91440" bIns="45720" rtlCol="0" anchor="ctr">
            <a:noAutofit/>
          </a:bodyPr>
          <a:lstStyle/>
          <a:p>
            <a:pPr marL="0" indent="0" algn="ctr" defTabSz="608965">
              <a:lnSpc>
                <a:spcPct val="100000"/>
              </a:lnSpc>
              <a:defRPr/>
            </a:pPr>
            <a:r>
              <a:rPr lang="en-US" sz="1464" b="1" i="0" u="none" strike="noStrike">
                <a:solidFill>
                  <a:srgbClr val="FFFFFF"/>
                </a:solidFill>
                <a:latin typeface="微软雅黑"/>
                <a:ea typeface="微软雅黑"/>
                <a:cs typeface="微软雅黑"/>
                <a:sym typeface="微软雅黑"/>
              </a:rPr>
              <a:t>2026</a:t>
            </a:r>
            <a:endParaRPr lang="en-US" sz="1100"/>
          </a:p>
        </p:txBody>
      </p:sp>
      <p:sp>
        <p:nvSpPr>
          <p:cNvPr id="16" name="AutoShape 16"/>
          <p:cNvSpPr/>
          <p:nvPr/>
        </p:nvSpPr>
        <p:spPr>
          <a:xfrm>
            <a:off x="7727950" y="3572453"/>
            <a:ext cx="1632373" cy="330315"/>
          </a:xfrm>
          <a:prstGeom prst="chevron">
            <a:avLst>
              <a:gd name="adj" fmla="val 50000"/>
            </a:avLst>
          </a:prstGeom>
          <a:solidFill>
            <a:srgbClr val="44546A">
              <a:alpha val="100000"/>
            </a:srgbClr>
          </a:solidFill>
          <a:ln w="12700" cap="flat">
            <a:solidFill>
              <a:srgbClr val="44546A">
                <a:alpha val="100000"/>
              </a:srgbClr>
            </a:solidFill>
            <a:prstDash val="solid"/>
          </a:ln>
        </p:spPr>
        <p:txBody>
          <a:bodyPr wrap="square" lIns="91440" tIns="45720" rIns="91440" bIns="45720" rtlCol="0" anchor="ctr">
            <a:noAutofit/>
          </a:bodyPr>
          <a:lstStyle/>
          <a:p>
            <a:pPr marL="0" indent="0" algn="ctr" defTabSz="608965">
              <a:lnSpc>
                <a:spcPct val="100000"/>
              </a:lnSpc>
              <a:defRPr/>
            </a:pPr>
            <a:r>
              <a:rPr lang="en-US" sz="1464" b="1" i="0" u="none" strike="noStrike">
                <a:solidFill>
                  <a:srgbClr val="FFFFFF"/>
                </a:solidFill>
                <a:latin typeface="微软雅黑"/>
                <a:ea typeface="微软雅黑"/>
                <a:cs typeface="微软雅黑"/>
                <a:sym typeface="微软雅黑"/>
              </a:rPr>
              <a:t>2027</a:t>
            </a:r>
            <a:endParaRPr lang="en-US" sz="1100"/>
          </a:p>
        </p:txBody>
      </p:sp>
      <p:sp>
        <p:nvSpPr>
          <p:cNvPr id="17" name="AutoShape 17"/>
          <p:cNvSpPr/>
          <p:nvPr/>
        </p:nvSpPr>
        <p:spPr>
          <a:xfrm>
            <a:off x="9360535" y="3572453"/>
            <a:ext cx="1632373" cy="330315"/>
          </a:xfrm>
          <a:prstGeom prst="chevron">
            <a:avLst>
              <a:gd name="adj" fmla="val 50000"/>
            </a:avLst>
          </a:prstGeom>
          <a:solidFill>
            <a:srgbClr val="44546A">
              <a:alpha val="100000"/>
            </a:srgbClr>
          </a:solidFill>
          <a:ln w="12700" cap="flat">
            <a:solidFill>
              <a:srgbClr val="44546A">
                <a:alpha val="100000"/>
              </a:srgbClr>
            </a:solidFill>
            <a:prstDash val="solid"/>
          </a:ln>
        </p:spPr>
        <p:txBody>
          <a:bodyPr wrap="square" lIns="91440" tIns="45720" rIns="91440" bIns="45720" rtlCol="0" anchor="ctr">
            <a:noAutofit/>
          </a:bodyPr>
          <a:lstStyle/>
          <a:p>
            <a:pPr marL="0" indent="0" algn="ctr" defTabSz="608965">
              <a:lnSpc>
                <a:spcPct val="100000"/>
              </a:lnSpc>
              <a:defRPr/>
            </a:pPr>
            <a:r>
              <a:rPr lang="en-US" sz="1464" b="1" i="0" u="none" strike="noStrike">
                <a:solidFill>
                  <a:srgbClr val="FFFFFF"/>
                </a:solidFill>
                <a:latin typeface="微软雅黑"/>
                <a:ea typeface="微软雅黑"/>
                <a:cs typeface="微软雅黑"/>
                <a:sym typeface="微软雅黑"/>
              </a:rPr>
              <a:t>2027</a:t>
            </a:r>
            <a:endParaRPr lang="en-US" sz="1100"/>
          </a:p>
        </p:txBody>
      </p:sp>
      <p:sp>
        <p:nvSpPr>
          <p:cNvPr id="18" name="AutoShape 18"/>
          <p:cNvSpPr/>
          <p:nvPr/>
        </p:nvSpPr>
        <p:spPr>
          <a:xfrm>
            <a:off x="9359900" y="2145030"/>
            <a:ext cx="2182495" cy="336695"/>
          </a:xfrm>
          <a:prstGeom prst="rect">
            <a:avLst/>
          </a:prstGeom>
          <a:noFill/>
          <a:ln w="12700">
            <a:noFill/>
            <a:prstDash val="solid"/>
          </a:ln>
        </p:spPr>
        <p:txBody>
          <a:bodyPr wrap="square" lIns="91440" tIns="45720" rIns="91440" bIns="45720" rtlCol="0" anchor="t">
            <a:spAutoFit/>
          </a:bodyPr>
          <a:lstStyle/>
          <a:p>
            <a:pPr marL="0" indent="0" algn="l" defTabSz="608965">
              <a:lnSpc>
                <a:spcPct val="150000"/>
              </a:lnSpc>
              <a:defRPr/>
            </a:pPr>
            <a:r>
              <a:rPr lang="en-US" sz="1200" b="0" i="0" u="none" strike="noStrike">
                <a:solidFill>
                  <a:srgbClr val="0A3760"/>
                </a:solidFill>
                <a:latin typeface="微软雅黑"/>
                <a:ea typeface="微软雅黑"/>
                <a:cs typeface="微软雅黑"/>
                <a:sym typeface="微软雅黑"/>
              </a:rPr>
              <a:t>论文初稿撰写</a:t>
            </a:r>
            <a:endParaRPr lang="en-US" sz="1100"/>
          </a:p>
        </p:txBody>
      </p:sp>
      <p:sp>
        <p:nvSpPr>
          <p:cNvPr id="19" name="AutoShape 19"/>
          <p:cNvSpPr/>
          <p:nvPr/>
        </p:nvSpPr>
        <p:spPr>
          <a:xfrm>
            <a:off x="8321040" y="4858385"/>
            <a:ext cx="1393825" cy="645160"/>
          </a:xfrm>
          <a:prstGeom prst="rect">
            <a:avLst/>
          </a:prstGeom>
          <a:noFill/>
          <a:ln w="12700">
            <a:noFill/>
            <a:prstDash val="solid"/>
          </a:ln>
        </p:spPr>
        <p:txBody>
          <a:bodyPr wrap="square" lIns="91440" tIns="45720" rIns="91440" bIns="45720" rtlCol="0" anchor="t">
            <a:spAutoFit/>
          </a:bodyPr>
          <a:lstStyle/>
          <a:p>
            <a:pPr marL="0" indent="0" algn="l" defTabSz="608965">
              <a:lnSpc>
                <a:spcPct val="150000"/>
              </a:lnSpc>
              <a:defRPr/>
            </a:pPr>
            <a:r>
              <a:rPr lang="en-US" sz="1200" b="0" i="0" u="none" strike="noStrike" dirty="0" err="1">
                <a:solidFill>
                  <a:srgbClr val="0A3760"/>
                </a:solidFill>
                <a:latin typeface="微软雅黑"/>
                <a:ea typeface="微软雅黑"/>
                <a:cs typeface="微软雅黑"/>
                <a:sym typeface="微软雅黑"/>
              </a:rPr>
              <a:t>完善论文</a:t>
            </a:r>
            <a:r>
              <a:rPr lang="en-US" sz="1200" b="0" i="0" u="none" strike="noStrike" dirty="0">
                <a:solidFill>
                  <a:srgbClr val="0A3760"/>
                </a:solidFill>
                <a:latin typeface="微软雅黑"/>
                <a:ea typeface="微软雅黑"/>
                <a:cs typeface="微软雅黑"/>
                <a:sym typeface="微软雅黑"/>
              </a:rPr>
              <a:t>；</a:t>
            </a:r>
            <a:endParaRPr lang="en-US" sz="1100" dirty="0"/>
          </a:p>
          <a:p>
            <a:pPr marL="0" indent="0" algn="l" defTabSz="608965">
              <a:lnSpc>
                <a:spcPct val="150000"/>
              </a:lnSpc>
            </a:pPr>
            <a:r>
              <a:rPr lang="en-US" sz="1200" b="0" i="0" u="none" strike="noStrike" dirty="0" err="1">
                <a:solidFill>
                  <a:srgbClr val="0A3760"/>
                </a:solidFill>
                <a:latin typeface="微软雅黑"/>
                <a:ea typeface="微软雅黑"/>
                <a:cs typeface="微软雅黑"/>
                <a:sym typeface="微软雅黑"/>
              </a:rPr>
              <a:t>准备论文预答辩</a:t>
            </a:r>
            <a:endParaRPr lang="en-US" sz="1200" b="0" i="0" u="none" strike="noStrike" dirty="0">
              <a:solidFill>
                <a:srgbClr val="0A3760"/>
              </a:solidFill>
              <a:latin typeface="微软雅黑"/>
              <a:ea typeface="微软雅黑"/>
              <a:cs typeface="微软雅黑"/>
              <a:sym typeface="微软雅黑"/>
            </a:endParaRPr>
          </a:p>
        </p:txBody>
      </p:sp>
      <p:cxnSp>
        <p:nvCxnSpPr>
          <p:cNvPr id="20" name="Connector 20"/>
          <p:cNvCxnSpPr/>
          <p:nvPr/>
        </p:nvCxnSpPr>
        <p:spPr>
          <a:xfrm>
            <a:off x="2013585" y="2979420"/>
            <a:ext cx="5715" cy="542290"/>
          </a:xfrm>
          <a:prstGeom prst="line">
            <a:avLst/>
          </a:prstGeom>
          <a:noFill/>
          <a:ln w="12700" cap="flat">
            <a:solidFill>
              <a:srgbClr val="0A3760">
                <a:alpha val="100000"/>
              </a:srgbClr>
            </a:solidFill>
            <a:prstDash val="solid"/>
            <a:headEnd type="none" w="med" len="med"/>
            <a:tailEnd type="none" w="med" len="med"/>
          </a:ln>
        </p:spPr>
      </p:cxnSp>
      <p:cxnSp>
        <p:nvCxnSpPr>
          <p:cNvPr id="21" name="Connector 21"/>
          <p:cNvCxnSpPr/>
          <p:nvPr/>
        </p:nvCxnSpPr>
        <p:spPr>
          <a:xfrm>
            <a:off x="3645535" y="3952240"/>
            <a:ext cx="5715" cy="542290"/>
          </a:xfrm>
          <a:prstGeom prst="line">
            <a:avLst/>
          </a:prstGeom>
          <a:noFill/>
          <a:ln w="12700" cap="flat">
            <a:solidFill>
              <a:srgbClr val="0A3760">
                <a:alpha val="100000"/>
              </a:srgbClr>
            </a:solidFill>
            <a:prstDash val="solid"/>
            <a:headEnd type="none" w="med" len="med"/>
            <a:tailEnd type="none" w="med" len="med"/>
          </a:ln>
        </p:spPr>
      </p:cxnSp>
      <p:cxnSp>
        <p:nvCxnSpPr>
          <p:cNvPr id="22" name="Connector 22"/>
          <p:cNvCxnSpPr/>
          <p:nvPr/>
        </p:nvCxnSpPr>
        <p:spPr>
          <a:xfrm>
            <a:off x="5156200" y="2979420"/>
            <a:ext cx="5715" cy="542290"/>
          </a:xfrm>
          <a:prstGeom prst="line">
            <a:avLst/>
          </a:prstGeom>
          <a:noFill/>
          <a:ln w="12700" cap="flat">
            <a:solidFill>
              <a:srgbClr val="0A3760">
                <a:alpha val="100000"/>
              </a:srgbClr>
            </a:solidFill>
            <a:prstDash val="solid"/>
            <a:headEnd type="none" w="med" len="med"/>
            <a:tailEnd type="none" w="med" len="med"/>
          </a:ln>
        </p:spPr>
      </p:cxnSp>
      <p:cxnSp>
        <p:nvCxnSpPr>
          <p:cNvPr id="23" name="Connector 23"/>
          <p:cNvCxnSpPr/>
          <p:nvPr/>
        </p:nvCxnSpPr>
        <p:spPr>
          <a:xfrm>
            <a:off x="6862445" y="3952240"/>
            <a:ext cx="5715" cy="542290"/>
          </a:xfrm>
          <a:prstGeom prst="line">
            <a:avLst/>
          </a:prstGeom>
          <a:noFill/>
          <a:ln w="12700" cap="flat">
            <a:solidFill>
              <a:srgbClr val="0A3760">
                <a:alpha val="100000"/>
              </a:srgbClr>
            </a:solidFill>
            <a:prstDash val="solid"/>
            <a:headEnd type="none" w="med" len="med"/>
            <a:tailEnd type="none" w="med" len="med"/>
          </a:ln>
        </p:spPr>
      </p:cxnSp>
      <p:cxnSp>
        <p:nvCxnSpPr>
          <p:cNvPr id="24" name="Connector 24"/>
          <p:cNvCxnSpPr/>
          <p:nvPr/>
        </p:nvCxnSpPr>
        <p:spPr>
          <a:xfrm>
            <a:off x="8482965" y="2979420"/>
            <a:ext cx="5715" cy="542290"/>
          </a:xfrm>
          <a:prstGeom prst="line">
            <a:avLst/>
          </a:prstGeom>
          <a:noFill/>
          <a:ln w="12700" cap="flat">
            <a:solidFill>
              <a:srgbClr val="0A3760">
                <a:alpha val="100000"/>
              </a:srgbClr>
            </a:solidFill>
            <a:prstDash val="solid"/>
            <a:headEnd type="none" w="med" len="med"/>
            <a:tailEnd type="none" w="med" len="med"/>
          </a:ln>
        </p:spPr>
      </p:cxnSp>
      <p:cxnSp>
        <p:nvCxnSpPr>
          <p:cNvPr id="25" name="Connector 25"/>
          <p:cNvCxnSpPr/>
          <p:nvPr/>
        </p:nvCxnSpPr>
        <p:spPr>
          <a:xfrm>
            <a:off x="10173335" y="4001770"/>
            <a:ext cx="5715" cy="542290"/>
          </a:xfrm>
          <a:prstGeom prst="line">
            <a:avLst/>
          </a:prstGeom>
          <a:noFill/>
          <a:ln w="12700" cap="flat">
            <a:solidFill>
              <a:srgbClr val="0A3760">
                <a:alpha val="100000"/>
              </a:srgbClr>
            </a:solidFill>
            <a:prstDash val="solid"/>
            <a:headEnd type="none" w="med" len="med"/>
            <a:tailEnd type="none" w="med" len="med"/>
          </a:ln>
        </p:spPr>
      </p:cxnSp>
      <p:pic>
        <p:nvPicPr>
          <p:cNvPr id="26" name="Picture 26"/>
          <p:cNvPicPr>
            <a:picLocks noChangeAspect="1"/>
          </p:cNvPicPr>
          <p:nvPr/>
        </p:nvPicPr>
        <p:blipFill>
          <a:blip r:embed="rId3"/>
          <a:srcRect/>
          <a:stretch>
            <a:fillRect/>
          </a:stretch>
        </p:blipFill>
        <p:spPr>
          <a:xfrm>
            <a:off x="423001" y="325641"/>
            <a:ext cx="618131" cy="618131"/>
          </a:xfrm>
          <a:prstGeom prst="rect">
            <a:avLst/>
          </a:prstGeom>
          <a:ln w="12700">
            <a:noFill/>
            <a:prstDash val="solid"/>
          </a:ln>
        </p:spPr>
      </p:pic>
      <p:sp>
        <p:nvSpPr>
          <p:cNvPr id="27" name="AutoShape 27"/>
          <p:cNvSpPr/>
          <p:nvPr/>
        </p:nvSpPr>
        <p:spPr>
          <a:xfrm>
            <a:off x="1041500" y="414033"/>
            <a:ext cx="2329180" cy="460375"/>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2400" b="1" i="0" u="none" strike="noStrike">
                <a:solidFill>
                  <a:srgbClr val="FFFFFF"/>
                </a:solidFill>
                <a:latin typeface="字魂105号-简雅黑"/>
                <a:ea typeface="字魂105号-简雅黑"/>
                <a:cs typeface="字魂105号-简雅黑"/>
                <a:sym typeface="字魂105号-简雅黑"/>
              </a:rPr>
              <a:t> 5.2  写作计划</a:t>
            </a:r>
            <a:endParaRPr lang="en-US" sz="1100"/>
          </a:p>
        </p:txBody>
      </p:sp>
      <p:sp>
        <p:nvSpPr>
          <p:cNvPr id="28" name="AutoShape 28"/>
          <p:cNvSpPr/>
          <p:nvPr/>
        </p:nvSpPr>
        <p:spPr>
          <a:xfrm>
            <a:off x="0" y="0"/>
            <a:ext cx="12192000" cy="905256"/>
          </a:xfrm>
          <a:prstGeom prst="rect">
            <a:avLst/>
          </a:prstGeom>
          <a:solidFill>
            <a:srgbClr val="0A3760">
              <a:alpha val="100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29" name="AutoShape 29"/>
          <p:cNvSpPr/>
          <p:nvPr/>
        </p:nvSpPr>
        <p:spPr>
          <a:xfrm>
            <a:off x="457155" y="152400"/>
            <a:ext cx="11277689" cy="609600"/>
          </a:xfrm>
          <a:prstGeom prst="rect">
            <a:avLst/>
          </a:prstGeom>
          <a:noFill/>
          <a:ln w="12700">
            <a:noFill/>
            <a:prstDash val="solid"/>
          </a:ln>
        </p:spPr>
        <p:txBody>
          <a:bodyPr wrap="square" lIns="63500" tIns="25400" rIns="63500" bIns="25400" rtlCol="0" anchor="ctr">
            <a:normAutofit/>
          </a:bodyPr>
          <a:lstStyle/>
          <a:p>
            <a:pPr marL="0" indent="0" algn="l" defTabSz="914400">
              <a:lnSpc>
                <a:spcPct val="100000"/>
              </a:lnSpc>
              <a:defRPr/>
            </a:pPr>
            <a:r>
              <a:rPr lang="en-US" sz="3400" b="1" i="0" u="none" strike="noStrike" spc="180">
                <a:solidFill>
                  <a:srgbClr val="FFFFFF"/>
                </a:solidFill>
                <a:latin typeface="微软雅黑"/>
                <a:ea typeface="微软雅黑"/>
                <a:cs typeface="微软雅黑"/>
                <a:sym typeface="微软雅黑"/>
              </a:rPr>
              <a:t>5. 写作计划</a:t>
            </a:r>
            <a:endParaRPr lang="en-US" sz="1100"/>
          </a:p>
        </p:txBody>
      </p:sp>
      <p:sp>
        <p:nvSpPr>
          <p:cNvPr id="30" name="AutoShape 7">
            <a:extLst>
              <a:ext uri="{FF2B5EF4-FFF2-40B4-BE49-F238E27FC236}">
                <a16:creationId xmlns:a16="http://schemas.microsoft.com/office/drawing/2014/main" id="{CBA3D239-84DF-425F-05CB-90907841B45D}"/>
              </a:ext>
            </a:extLst>
          </p:cNvPr>
          <p:cNvSpPr/>
          <p:nvPr/>
        </p:nvSpPr>
        <p:spPr>
          <a:xfrm>
            <a:off x="4503420" y="4558571"/>
            <a:ext cx="1878965" cy="868892"/>
          </a:xfrm>
          <a:prstGeom prst="rect">
            <a:avLst/>
          </a:prstGeom>
          <a:noFill/>
          <a:ln w="12700">
            <a:noFill/>
            <a:prstDash val="solid"/>
          </a:ln>
        </p:spPr>
        <p:txBody>
          <a:bodyPr wrap="square" lIns="91440" tIns="45720" rIns="91440" bIns="45720" rtlCol="0" anchor="t">
            <a:spAutoFit/>
          </a:bodyPr>
          <a:lstStyle/>
          <a:p>
            <a:pPr defTabSz="608965">
              <a:lnSpc>
                <a:spcPct val="150000"/>
              </a:lnSpc>
              <a:defRPr/>
            </a:pPr>
            <a:r>
              <a:rPr lang="zh-CN" altLang="en-US" sz="1200" dirty="0">
                <a:solidFill>
                  <a:srgbClr val="0A3760"/>
                </a:solidFill>
                <a:latin typeface="微软雅黑"/>
                <a:ea typeface="微软雅黑"/>
                <a:cs typeface="微软雅黑"/>
                <a:sym typeface="微软雅黑"/>
              </a:rPr>
              <a:t>多目标优化算法探索落地</a:t>
            </a:r>
            <a:r>
              <a:rPr lang="en-US" altLang="zh-CN" sz="1200" dirty="0">
                <a:solidFill>
                  <a:srgbClr val="0A3760"/>
                </a:solidFill>
                <a:latin typeface="微软雅黑"/>
                <a:ea typeface="微软雅黑"/>
                <a:cs typeface="微软雅黑"/>
                <a:sym typeface="微软雅黑"/>
              </a:rPr>
              <a:t>;pareto</a:t>
            </a:r>
            <a:r>
              <a:rPr lang="zh-CN" altLang="en-US" sz="1200" dirty="0">
                <a:solidFill>
                  <a:srgbClr val="0A3760"/>
                </a:solidFill>
                <a:latin typeface="微软雅黑"/>
                <a:ea typeface="微软雅黑"/>
                <a:cs typeface="微软雅黑"/>
                <a:sym typeface="微软雅黑"/>
              </a:rPr>
              <a:t>方案落地</a:t>
            </a:r>
          </a:p>
          <a:p>
            <a:pPr defTabSz="608965">
              <a:lnSpc>
                <a:spcPct val="150000"/>
              </a:lnSpc>
              <a:defRPr/>
            </a:pP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5000"/>
          </a:blip>
          <a:srcRect/>
          <a:stretch>
            <a:fillRect l="-6000" r="-6000"/>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ect">
            <a:avLst/>
          </a:prstGeom>
          <a:solidFill>
            <a:srgbClr val="FFFFFF">
              <a:alpha val="24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pic>
        <p:nvPicPr>
          <p:cNvPr id="3" name="Picture 3"/>
          <p:cNvPicPr>
            <a:picLocks noChangeAspect="1"/>
          </p:cNvPicPr>
          <p:nvPr/>
        </p:nvPicPr>
        <p:blipFill>
          <a:blip r:embed="rId4"/>
          <a:srcRect/>
          <a:stretch>
            <a:fillRect/>
          </a:stretch>
        </p:blipFill>
        <p:spPr>
          <a:xfrm>
            <a:off x="4888230" y="362753"/>
            <a:ext cx="2552700" cy="2552700"/>
          </a:xfrm>
          <a:prstGeom prst="rect">
            <a:avLst/>
          </a:prstGeom>
          <a:ln w="12700">
            <a:noFill/>
            <a:prstDash val="solid"/>
          </a:ln>
        </p:spPr>
      </p:pic>
      <p:sp>
        <p:nvSpPr>
          <p:cNvPr id="4" name="AutoShape 4"/>
          <p:cNvSpPr/>
          <p:nvPr/>
        </p:nvSpPr>
        <p:spPr>
          <a:xfrm>
            <a:off x="0" y="3042650"/>
            <a:ext cx="12192000" cy="2857500"/>
          </a:xfrm>
          <a:prstGeom prst="rect">
            <a:avLst/>
          </a:prstGeom>
          <a:solidFill>
            <a:srgbClr val="0A3760">
              <a:alpha val="81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5" name="AutoShape 5"/>
          <p:cNvSpPr/>
          <p:nvPr/>
        </p:nvSpPr>
        <p:spPr>
          <a:xfrm>
            <a:off x="2967583" y="3429000"/>
            <a:ext cx="6256834" cy="923330"/>
          </a:xfrm>
          <a:prstGeom prst="rect">
            <a:avLst/>
          </a:prstGeom>
          <a:noFill/>
          <a:ln w="12700">
            <a:noFill/>
            <a:prstDash val="solid"/>
          </a:ln>
        </p:spPr>
        <p:txBody>
          <a:bodyPr wrap="square" lIns="91440" tIns="45720" rIns="91440" bIns="45720" rtlCol="0" anchor="t">
            <a:spAutoFit/>
          </a:bodyPr>
          <a:lstStyle/>
          <a:p>
            <a:pPr marL="0" indent="0" algn="dist" defTabSz="914400">
              <a:lnSpc>
                <a:spcPct val="100000"/>
              </a:lnSpc>
              <a:defRPr/>
            </a:pPr>
            <a:r>
              <a:rPr lang="en-US" sz="5400" b="1" i="0" u="none" strike="noStrike" dirty="0" err="1">
                <a:solidFill>
                  <a:srgbClr val="FFFFFF"/>
                </a:solidFill>
                <a:latin typeface="字魂105号-简雅黑"/>
                <a:ea typeface="字魂105号-简雅黑"/>
                <a:cs typeface="字魂105号-简雅黑"/>
                <a:sym typeface="字魂105号-简雅黑"/>
              </a:rPr>
              <a:t>请老师批评指正</a:t>
            </a:r>
            <a:r>
              <a:rPr lang="en-US" sz="5400" b="1" i="0" u="none" strike="noStrike" dirty="0">
                <a:solidFill>
                  <a:srgbClr val="FFFFFF"/>
                </a:solidFill>
                <a:latin typeface="字魂105号-简雅黑"/>
                <a:ea typeface="字魂105号-简雅黑"/>
                <a:cs typeface="字魂105号-简雅黑"/>
                <a:sym typeface="字魂105号-简雅黑"/>
              </a:rPr>
              <a:t>！</a:t>
            </a:r>
            <a:endParaRPr lang="en-US" sz="1050" dirty="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自定义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_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8074</TotalTime>
  <Words>2816</Words>
  <Application>Microsoft Office PowerPoint</Application>
  <PresentationFormat>ワイド画面</PresentationFormat>
  <Paragraphs>695</Paragraphs>
  <Slides>33</Slides>
  <Notes>33</Notes>
  <HiddenSlides>0</HiddenSlides>
  <MMClips>0</MMClips>
  <ScaleCrop>false</ScaleCrop>
  <HeadingPairs>
    <vt:vector size="6" baseType="variant">
      <vt:variant>
        <vt:lpstr>使用されているフォント</vt:lpstr>
      </vt:variant>
      <vt:variant>
        <vt:i4>13</vt:i4>
      </vt:variant>
      <vt:variant>
        <vt:lpstr>テーマ</vt:lpstr>
      </vt:variant>
      <vt:variant>
        <vt:i4>5</vt:i4>
      </vt:variant>
      <vt:variant>
        <vt:lpstr>スライド タイトル</vt:lpstr>
      </vt:variant>
      <vt:variant>
        <vt:i4>33</vt:i4>
      </vt:variant>
    </vt:vector>
  </HeadingPairs>
  <TitlesOfParts>
    <vt:vector size="51" baseType="lpstr">
      <vt:lpstr>等线</vt:lpstr>
      <vt:lpstr>等线 Light</vt:lpstr>
      <vt:lpstr>微软雅黑</vt:lpstr>
      <vt:lpstr>微软雅黑</vt:lpstr>
      <vt:lpstr>MiSans</vt:lpstr>
      <vt:lpstr>ＭＳ Ｐゴシック</vt:lpstr>
      <vt:lpstr>Noto Sans SC</vt:lpstr>
      <vt:lpstr>宋体</vt:lpstr>
      <vt:lpstr>Songti SC</vt:lpstr>
      <vt:lpstr>字魂105号-简雅黑</vt:lpstr>
      <vt:lpstr>Arial</vt:lpstr>
      <vt:lpstr>Segoe UI</vt:lpstr>
      <vt:lpstr>Times New Roman</vt:lpstr>
      <vt:lpstr>Office 主题​​</vt:lpstr>
      <vt:lpstr>自定义主题</vt:lpstr>
      <vt:lpstr>Office 主题​​</vt:lpstr>
      <vt:lpstr>Office 主题​​</vt:lpstr>
      <vt:lpstr>1_Office 主题​​</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Xiuli Dong</dc:creator>
  <cp:lastModifiedBy>Xiuli Dong</cp:lastModifiedBy>
  <cp:revision>305</cp:revision>
  <dcterms:modified xsi:type="dcterms:W3CDTF">2026-09-29T05:18:26Z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{"Label":"1","ContentProducer":"001191110102MACQD9K64010000","ProduceID":"7687259234391935974","ReservedCode1":"","ContentPropagator":"","PropagateID":"","ReservedCode2":""}</vt:lpwstr>
  </property>
</Properties>
</file>